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6"/>
  </p:notesMasterIdLst>
  <p:sldIdLst>
    <p:sldId id="256" r:id="rId5"/>
    <p:sldId id="395" r:id="rId6"/>
    <p:sldId id="396" r:id="rId7"/>
    <p:sldId id="570" r:id="rId8"/>
    <p:sldId id="397" r:id="rId9"/>
    <p:sldId id="492" r:id="rId10"/>
    <p:sldId id="398" r:id="rId11"/>
    <p:sldId id="462" r:id="rId12"/>
    <p:sldId id="498" r:id="rId13"/>
    <p:sldId id="472" r:id="rId14"/>
    <p:sldId id="473" r:id="rId15"/>
    <p:sldId id="497" r:id="rId16"/>
    <p:sldId id="562" r:id="rId17"/>
    <p:sldId id="563" r:id="rId18"/>
    <p:sldId id="568" r:id="rId19"/>
    <p:sldId id="571" r:id="rId20"/>
    <p:sldId id="463" r:id="rId21"/>
    <p:sldId id="464" r:id="rId22"/>
    <p:sldId id="439" r:id="rId23"/>
    <p:sldId id="440" r:id="rId24"/>
    <p:sldId id="467" r:id="rId25"/>
    <p:sldId id="468" r:id="rId26"/>
    <p:sldId id="441" r:id="rId27"/>
    <p:sldId id="460" r:id="rId28"/>
    <p:sldId id="461" r:id="rId29"/>
    <p:sldId id="474" r:id="rId30"/>
    <p:sldId id="491" r:id="rId31"/>
    <p:sldId id="502" r:id="rId32"/>
    <p:sldId id="503" r:id="rId33"/>
    <p:sldId id="469" r:id="rId34"/>
    <p:sldId id="470" r:id="rId35"/>
    <p:sldId id="475" r:id="rId36"/>
    <p:sldId id="476" r:id="rId37"/>
    <p:sldId id="490" r:id="rId38"/>
    <p:sldId id="481" r:id="rId39"/>
    <p:sldId id="482" r:id="rId40"/>
    <p:sldId id="483" r:id="rId41"/>
    <p:sldId id="484" r:id="rId42"/>
    <p:sldId id="485" r:id="rId43"/>
    <p:sldId id="555" r:id="rId44"/>
    <p:sldId id="486" r:id="rId45"/>
    <p:sldId id="487" r:id="rId46"/>
    <p:sldId id="488" r:id="rId47"/>
    <p:sldId id="556" r:id="rId48"/>
    <p:sldId id="489" r:id="rId49"/>
    <p:sldId id="585" r:id="rId50"/>
    <p:sldId id="584" r:id="rId51"/>
    <p:sldId id="582" r:id="rId52"/>
    <p:sldId id="581" r:id="rId53"/>
    <p:sldId id="580" r:id="rId54"/>
    <p:sldId id="586" r:id="rId55"/>
    <p:sldId id="587" r:id="rId56"/>
    <p:sldId id="588" r:id="rId57"/>
    <p:sldId id="579" r:id="rId58"/>
    <p:sldId id="578" r:id="rId59"/>
    <p:sldId id="577" r:id="rId60"/>
    <p:sldId id="576" r:id="rId61"/>
    <p:sldId id="575" r:id="rId62"/>
    <p:sldId id="574" r:id="rId63"/>
    <p:sldId id="573" r:id="rId64"/>
    <p:sldId id="572" r:id="rId65"/>
    <p:sldId id="400" r:id="rId66"/>
    <p:sldId id="450" r:id="rId67"/>
    <p:sldId id="447" r:id="rId68"/>
    <p:sldId id="567" r:id="rId69"/>
    <p:sldId id="448" r:id="rId70"/>
    <p:sldId id="429" r:id="rId71"/>
    <p:sldId id="414" r:id="rId72"/>
    <p:sldId id="415" r:id="rId73"/>
    <p:sldId id="290" r:id="rId74"/>
    <p:sldId id="416" r:id="rId75"/>
    <p:sldId id="417" r:id="rId76"/>
    <p:sldId id="418" r:id="rId77"/>
    <p:sldId id="419" r:id="rId78"/>
    <p:sldId id="494" r:id="rId79"/>
    <p:sldId id="420" r:id="rId80"/>
    <p:sldId id="421" r:id="rId81"/>
    <p:sldId id="496" r:id="rId82"/>
    <p:sldId id="423" r:id="rId83"/>
    <p:sldId id="493" r:id="rId84"/>
    <p:sldId id="430" r:id="rId85"/>
    <p:sldId id="442" r:id="rId86"/>
    <p:sldId id="434" r:id="rId87"/>
    <p:sldId id="435" r:id="rId88"/>
    <p:sldId id="458" r:id="rId89"/>
    <p:sldId id="459" r:id="rId90"/>
    <p:sldId id="422" r:id="rId91"/>
    <p:sldId id="451" r:id="rId92"/>
    <p:sldId id="569" r:id="rId93"/>
    <p:sldId id="453" r:id="rId94"/>
    <p:sldId id="279" r:id="rId9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[ALL] General" id="{2BDF224D-6C42-42F9-A171-76276590220A}">
          <p14:sldIdLst>
            <p14:sldId id="256"/>
            <p14:sldId id="395"/>
            <p14:sldId id="396"/>
            <p14:sldId id="570"/>
            <p14:sldId id="397"/>
          </p14:sldIdLst>
        </p14:section>
        <p14:section name="[ALL] Prosedur Pelaksaan TM" id="{43953168-7F9D-48A9-A116-07E70F4700A3}">
          <p14:sldIdLst>
            <p14:sldId id="492"/>
            <p14:sldId id="398"/>
            <p14:sldId id="462"/>
            <p14:sldId id="498"/>
            <p14:sldId id="472"/>
            <p14:sldId id="473"/>
            <p14:sldId id="497"/>
            <p14:sldId id="562"/>
            <p14:sldId id="563"/>
            <p14:sldId id="568"/>
            <p14:sldId id="571"/>
            <p14:sldId id="463"/>
            <p14:sldId id="464"/>
          </p14:sldIdLst>
        </p14:section>
        <p14:section name="[ALL] General" id="{B0E29D42-1570-4EDA-A142-1113950239CE}">
          <p14:sldIdLst>
            <p14:sldId id="439"/>
            <p14:sldId id="440"/>
            <p14:sldId id="467"/>
            <p14:sldId id="468"/>
            <p14:sldId id="441"/>
            <p14:sldId id="460"/>
            <p14:sldId id="461"/>
            <p14:sldId id="474"/>
            <p14:sldId id="491"/>
            <p14:sldId id="502"/>
            <p14:sldId id="503"/>
            <p14:sldId id="469"/>
            <p14:sldId id="470"/>
          </p14:sldIdLst>
        </p14:section>
        <p14:section name="[Individu] Prosedur Web Uploader" id="{4F608467-D544-4CFD-8120-1C147F6044AD}">
          <p14:sldIdLst>
            <p14:sldId id="475"/>
            <p14:sldId id="476"/>
            <p14:sldId id="490"/>
            <p14:sldId id="481"/>
            <p14:sldId id="482"/>
            <p14:sldId id="483"/>
            <p14:sldId id="484"/>
            <p14:sldId id="485"/>
            <p14:sldId id="555"/>
            <p14:sldId id="486"/>
            <p14:sldId id="487"/>
            <p14:sldId id="488"/>
            <p14:sldId id="556"/>
            <p14:sldId id="489"/>
          </p14:sldIdLst>
        </p14:section>
        <p14:section name="[Kuis Berkelompok] Prosedur Web Uploader" id="{3B8DDEB9-B207-4014-A19F-9F6152CDB23F}">
          <p14:sldIdLst>
            <p14:sldId id="585"/>
            <p14:sldId id="584"/>
            <p14:sldId id="582"/>
            <p14:sldId id="581"/>
            <p14:sldId id="580"/>
            <p14:sldId id="586"/>
            <p14:sldId id="587"/>
            <p14:sldId id="588"/>
            <p14:sldId id="579"/>
            <p14:sldId id="578"/>
            <p14:sldId id="577"/>
            <p14:sldId id="576"/>
            <p14:sldId id="575"/>
            <p14:sldId id="574"/>
            <p14:sldId id="573"/>
            <p14:sldId id="572"/>
          </p14:sldIdLst>
        </p14:section>
        <p14:section name="[ALL] Kuis Bawa Pulang" id="{BF3DBF76-C810-4A76-84A3-6442B0D57EEB}">
          <p14:sldIdLst>
            <p14:sldId id="400"/>
            <p14:sldId id="450"/>
            <p14:sldId id="447"/>
            <p14:sldId id="567"/>
            <p14:sldId id="448"/>
          </p14:sldIdLst>
        </p14:section>
        <p14:section name="[ONLINE] Pengumpulan Backup Jawaban" id="{29BE1829-9D59-42FA-A0C4-55B82DC2BFC4}">
          <p14:sldIdLst>
            <p14:sldId id="429"/>
            <p14:sldId id="414"/>
            <p14:sldId id="415"/>
            <p14:sldId id="290"/>
            <p14:sldId id="416"/>
            <p14:sldId id="417"/>
            <p14:sldId id="418"/>
            <p14:sldId id="419"/>
          </p14:sldIdLst>
        </p14:section>
        <p14:section name="[ONLINE] Pengumpulan Recording" id="{95C3E59B-4F72-46E6-9378-0A07DBE46761}">
          <p14:sldIdLst>
            <p14:sldId id="494"/>
            <p14:sldId id="420"/>
            <p14:sldId id="421"/>
            <p14:sldId id="496"/>
            <p14:sldId id="423"/>
          </p14:sldIdLst>
        </p14:section>
        <p14:section name="[ALL] General" id="{78AEE045-CDDA-4B9B-8EF7-A33FEB6BE769}">
          <p14:sldIdLst>
            <p14:sldId id="493"/>
            <p14:sldId id="430"/>
            <p14:sldId id="442"/>
            <p14:sldId id="434"/>
            <p14:sldId id="435"/>
            <p14:sldId id="458"/>
            <p14:sldId id="459"/>
            <p14:sldId id="422"/>
            <p14:sldId id="451"/>
            <p14:sldId id="569"/>
            <p14:sldId id="453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92B728-B44A-68F5-4C2E-5F6164B87E65}" name="Josua Golden Umboh" initials="JGU" userId="S::josua.umboh@binus.edu::a99a5d6c-fc91-4a58-a027-f9811fe5f4d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L" initials="P" lastIdx="1" clrIdx="0">
    <p:extLst>
      <p:ext uri="{19B8F6BF-5375-455C-9EA6-DF929625EA0E}">
        <p15:presenceInfo xmlns:p15="http://schemas.microsoft.com/office/powerpoint/2012/main" userId="PL" providerId="None"/>
      </p:ext>
    </p:extLst>
  </p:cmAuthor>
  <p:cmAuthor id="2" name="NP" initials="N" lastIdx="6" clrIdx="1">
    <p:extLst>
      <p:ext uri="{19B8F6BF-5375-455C-9EA6-DF929625EA0E}">
        <p15:presenceInfo xmlns:p15="http://schemas.microsoft.com/office/powerpoint/2012/main" userId="NP" providerId="None"/>
      </p:ext>
    </p:extLst>
  </p:cmAuthor>
  <p:cmAuthor id="3" name="ERICK MARCHELINO SUYANTO" initials="EMS" lastIdx="1" clrIdx="2">
    <p:extLst>
      <p:ext uri="{19B8F6BF-5375-455C-9EA6-DF929625EA0E}">
        <p15:presenceInfo xmlns:p15="http://schemas.microsoft.com/office/powerpoint/2012/main" userId="ERICK MARCHELINO SUYANT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8DCF"/>
    <a:srgbClr val="0079B8"/>
    <a:srgbClr val="A6A6A6"/>
    <a:srgbClr val="0D0D0D"/>
    <a:srgbClr val="595959"/>
    <a:srgbClr val="7F7F7F"/>
    <a:srgbClr val="BFBFBF"/>
    <a:srgbClr val="E6F2EA"/>
    <a:srgbClr val="D9D9D9"/>
    <a:srgbClr val="23BA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BF8586-36FC-3F99-BB21-9290CCA25FE6}" v="2" dt="2026-09-22T11:25:55.1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microsoft.com/office/2015/10/relationships/revisionInfo" Target="revisionInfo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commentAuthors" Target="commentAuthor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presProps" Target="presProps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7258D-F0EF-486A-9EC2-3432FF0CFBEA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EAE57-A476-45F6-B40D-B97FF463F9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18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52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4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73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936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22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15057-BD72-8E78-075F-FCDB3F80A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FC222-8399-8E8A-19F3-D2B64184C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2D8A1-069F-1412-443F-AC9FA2777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0063E-C06D-A117-9716-9B9700AF9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92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91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10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3254375"/>
            <a:ext cx="7010400" cy="1470025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259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143" y="0"/>
            <a:ext cx="912585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09800"/>
            <a:ext cx="76200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</p:spPr>
        <p:txBody>
          <a:bodyPr>
            <a:normAutofit/>
          </a:bodyPr>
          <a:lstStyle>
            <a:lvl1pPr algn="l">
              <a:defRPr lang="en-US" sz="3000" b="1" kern="120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1066800" y="1676400"/>
            <a:ext cx="7620000" cy="457200"/>
          </a:xfrm>
        </p:spPr>
        <p:txBody>
          <a:bodyPr anchor="b">
            <a:noAutofit/>
          </a:bodyPr>
          <a:lstStyle>
            <a:lvl1pPr marL="0" indent="0">
              <a:buNone/>
              <a:defRPr lang="en-US" sz="2200" b="1" kern="1200" smtClean="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530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124200"/>
            <a:ext cx="6858000" cy="1362075"/>
          </a:xfrm>
        </p:spPr>
        <p:txBody>
          <a:bodyPr anchor="ctr">
            <a:normAutofit/>
          </a:bodyPr>
          <a:lstStyle>
            <a:lvl1pPr algn="ctr">
              <a:defRPr sz="3200" b="1" cap="all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0" y="4267200"/>
            <a:ext cx="6858000" cy="9667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09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Background 01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69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</p:spPr>
        <p:txBody>
          <a:bodyPr>
            <a:normAutofit/>
          </a:bodyPr>
          <a:lstStyle>
            <a:lvl1pPr algn="l">
              <a:defRPr lang="en-US" sz="3000" b="1" kern="120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7620000" cy="457200"/>
          </a:xfrm>
        </p:spPr>
        <p:txBody>
          <a:bodyPr anchor="b">
            <a:noAutofit/>
          </a:bodyPr>
          <a:lstStyle>
            <a:lvl1pPr marL="0" indent="0">
              <a:buNone/>
              <a:defRPr lang="en-US" sz="2200" b="1" kern="1200" smtClean="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1"/>
          </p:nvPr>
        </p:nvSpPr>
        <p:spPr>
          <a:xfrm>
            <a:off x="1066800" y="2209800"/>
            <a:ext cx="28956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2"/>
          </p:nvPr>
        </p:nvSpPr>
        <p:spPr>
          <a:xfrm>
            <a:off x="4038600" y="2209800"/>
            <a:ext cx="46482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896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Background 01-04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083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5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69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95400" y="1295400"/>
            <a:ext cx="7866290" cy="5562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3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79388" y="6481763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Bina Nusantara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81763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81763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EC61741-52CD-4647-B3E1-B299B0A28C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 descr="Background 01-02.jpg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143" y="0"/>
            <a:ext cx="912585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76200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542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7" r:id="rId7"/>
    <p:sldLayoutId id="2147483659" r:id="rId8"/>
  </p:sldLayoutIdLst>
  <p:txStyles>
    <p:titleStyle>
      <a:lvl1pPr algn="l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cs1.binus.ac.id/dbprk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luejack.binus.ac.id/prk/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bluejack.binus.ac.id/prk/" TargetMode="External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op-slc.apps.binus.ac.id/recording-slc/" TargetMode="External"/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hyperlink" Target="https://linktr.ee/contactlsc" TargetMode="External"/><Relationship Id="rId7" Type="http://schemas.openxmlformats.org/officeDocument/2006/relationships/image" Target="../media/image43.png"/><Relationship Id="rId2" Type="http://schemas.openxmlformats.org/officeDocument/2006/relationships/hyperlink" Target="https://linktr.ee/OfficialAccountSLC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linktr.ee/slcbinusuniv" TargetMode="External"/><Relationship Id="rId5" Type="http://schemas.openxmlformats.org/officeDocument/2006/relationships/hyperlink" Target="http://labfacility.apps.binus.ac.id/" TargetMode="External"/><Relationship Id="rId4" Type="http://schemas.openxmlformats.org/officeDocument/2006/relationships/hyperlink" Target="https://bluejack.binus.ac.id/prk/" TargetMode="Externa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981200" y="2133600"/>
            <a:ext cx="7010400" cy="4572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Arial"/>
                <a:cs typeface="Arial"/>
              </a:rPr>
              <a:t>Briefing Pelaksanaan TM</a:t>
            </a:r>
            <a:br>
              <a:rPr lang="id-ID" sz="28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d-ID" sz="2800">
                <a:latin typeface="Arial"/>
                <a:cs typeface="Arial"/>
              </a:rPr>
              <a:t> </a:t>
            </a:r>
            <a:br>
              <a:rPr lang="id-ID" sz="28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id-ID" sz="2400">
                <a:cs typeface="Arial" panose="020B0604020202020204" pitchFamily="34" charset="0"/>
              </a:rPr>
            </a:br>
            <a:br>
              <a:rPr lang="id-ID" sz="2400">
                <a:cs typeface="Arial" panose="020B0604020202020204" pitchFamily="34" charset="0"/>
              </a:rPr>
            </a:br>
            <a:br>
              <a:rPr lang="id-ID" sz="2400">
                <a:cs typeface="Arial" panose="020B0604020202020204" pitchFamily="34" charset="0"/>
              </a:rPr>
            </a:br>
            <a:br>
              <a:rPr lang="id-ID" sz="2400">
                <a:cs typeface="Arial" panose="020B0604020202020204" pitchFamily="34" charset="0"/>
              </a:rPr>
            </a:br>
            <a:r>
              <a:rPr lang="id-ID" sz="1800" err="1">
                <a:cs typeface="Arial"/>
              </a:rPr>
              <a:t>Software</a:t>
            </a:r>
            <a:r>
              <a:rPr lang="id-ID" sz="1800">
                <a:cs typeface="Arial"/>
              </a:rPr>
              <a:t> </a:t>
            </a:r>
            <a:r>
              <a:rPr lang="id-ID" sz="1800" err="1">
                <a:cs typeface="Arial"/>
              </a:rPr>
              <a:t>Laboratory</a:t>
            </a:r>
            <a:r>
              <a:rPr lang="id-ID" sz="1800">
                <a:cs typeface="Arial"/>
              </a:rPr>
              <a:t> Center Ganjil </a:t>
            </a:r>
            <a:r>
              <a:rPr lang="en-US" sz="1800">
                <a:cs typeface="Arial"/>
              </a:rPr>
              <a:t>2627</a:t>
            </a:r>
          </a:p>
        </p:txBody>
      </p:sp>
    </p:spTree>
    <p:extLst>
      <p:ext uri="{BB962C8B-B14F-4D97-AF65-F5344CB8AC3E}">
        <p14:creationId xmlns:p14="http://schemas.microsoft.com/office/powerpoint/2010/main" val="339439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9BADE9-7995-E3B6-1ED0-666E2357A497}"/>
              </a:ext>
            </a:extLst>
          </p:cNvPr>
          <p:cNvSpPr txBox="1">
            <a:spLocks/>
          </p:cNvSpPr>
          <p:nvPr/>
        </p:nvSpPr>
        <p:spPr>
          <a:xfrm>
            <a:off x="1054099" y="1930064"/>
            <a:ext cx="7696201" cy="763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Mahasiswa wajib join group LINE untuk koordinasi terkait mata kuliah praktikum.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554EC3-94AC-D67A-12AF-F53A59D33A57}"/>
              </a:ext>
            </a:extLst>
          </p:cNvPr>
          <p:cNvSpPr txBox="1"/>
          <p:nvPr/>
        </p:nvSpPr>
        <p:spPr>
          <a:xfrm>
            <a:off x="1066799" y="914400"/>
            <a:ext cx="76962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Group LINE </a:t>
            </a:r>
            <a:r>
              <a:rPr lang="id-ID" sz="3200" dirty="0">
                <a:latin typeface="Arial"/>
                <a:cs typeface="Arial"/>
              </a:rPr>
              <a:t>COMP6822001</a:t>
            </a:r>
            <a:r>
              <a:rPr lang="en-US" sz="3200" dirty="0">
                <a:latin typeface="Arial"/>
                <a:cs typeface="Arial"/>
              </a:rPr>
              <a:t> </a:t>
            </a:r>
            <a:r>
              <a:rPr lang="id-ID" sz="3200" dirty="0">
                <a:latin typeface="Arial"/>
                <a:cs typeface="Arial"/>
              </a:rPr>
              <a:t>– </a:t>
            </a:r>
            <a:r>
              <a:rPr lang="en-US" sz="3200" dirty="0">
                <a:latin typeface="Arial"/>
                <a:cs typeface="Arial"/>
              </a:rPr>
              <a:t>Speech Recognition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3200" dirty="0">
                <a:latin typeface="Arial"/>
                <a:cs typeface="Arial"/>
              </a:rPr>
              <a:t>BM01</a:t>
            </a:r>
            <a:endParaRPr lang="en-US" sz="3000" b="1" dirty="0">
              <a:solidFill>
                <a:srgbClr val="0079B8"/>
              </a:solidFill>
              <a:highlight>
                <a:srgbClr val="FFFF00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A05372-B79D-737E-2348-D66A01B66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527" y="2694040"/>
            <a:ext cx="3707343" cy="372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0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B5BEE5-3FC6-64A3-0E5D-8B8623EE1140}"/>
              </a:ext>
            </a:extLst>
          </p:cNvPr>
          <p:cNvSpPr txBox="1"/>
          <p:nvPr/>
        </p:nvSpPr>
        <p:spPr>
          <a:xfrm>
            <a:off x="1066799" y="914400"/>
            <a:ext cx="76962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dirty="0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200" dirty="0">
                <a:highlight>
                  <a:srgbClr val="FFFF00"/>
                </a:highlight>
                <a:latin typeface="Arial"/>
                <a:cs typeface="Arial"/>
              </a:rPr>
              <a:t>COMP6822001</a:t>
            </a:r>
            <a:r>
              <a:rPr lang="en-US" sz="3200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lang="id-ID" sz="3200" dirty="0">
                <a:highlight>
                  <a:srgbClr val="FFFF00"/>
                </a:highlight>
                <a:latin typeface="Arial"/>
                <a:cs typeface="Arial"/>
              </a:rPr>
              <a:t>– </a:t>
            </a:r>
            <a:r>
              <a:rPr lang="en-US" sz="3200" dirty="0">
                <a:highlight>
                  <a:srgbClr val="FFFF00"/>
                </a:highlight>
                <a:latin typeface="Arial"/>
                <a:cs typeface="Arial"/>
              </a:rPr>
              <a:t>Speech Recognition</a:t>
            </a:r>
            <a:r>
              <a:rPr lang="en-US" sz="32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3200" dirty="0">
                <a:highlight>
                  <a:srgbClr val="FFFF00"/>
                </a:highlight>
                <a:latin typeface="Arial"/>
                <a:cs typeface="Arial"/>
              </a:rPr>
              <a:t>BM01</a:t>
            </a:r>
            <a:endParaRPr lang="en-US" sz="3000" b="1" dirty="0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D84237FE-FF86-386F-7777-85C01008A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707333"/>
              </p:ext>
            </p:extLst>
          </p:nvPr>
        </p:nvGraphicFramePr>
        <p:xfrm>
          <a:off x="838201" y="2133600"/>
          <a:ext cx="7924793" cy="199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734">
                  <a:extLst>
                    <a:ext uri="{9D8B030D-6E8A-4147-A177-3AD203B41FA5}">
                      <a16:colId xmlns:a16="http://schemas.microsoft.com/office/drawing/2014/main" val="3977408754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792179858"/>
                    </a:ext>
                  </a:extLst>
                </a:gridCol>
                <a:gridCol w="1151465">
                  <a:extLst>
                    <a:ext uri="{9D8B030D-6E8A-4147-A177-3AD203B41FA5}">
                      <a16:colId xmlns:a16="http://schemas.microsoft.com/office/drawing/2014/main" val="3958765812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3294215636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932436950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3487380642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2584528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err="1"/>
                        <a:t>Komponen</a:t>
                      </a:r>
                      <a:endParaRPr lang="en-US"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Bobot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Pertemuan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Peserta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Durasi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Help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Max File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259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TM/Quiz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40%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orang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100 </a:t>
                      </a:r>
                      <a:r>
                        <a:rPr lang="en-US" sz="1600" dirty="0" err="1"/>
                        <a:t>menit</a:t>
                      </a:r>
                      <a:r>
                        <a:rPr lang="en-US" sz="1600" dirty="0"/>
                        <a:t> full session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Tidak </a:t>
                      </a:r>
                      <a:r>
                        <a:rPr lang="en-US" sz="16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ada</a:t>
                      </a:r>
                      <a:endParaRPr lang="en-US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50 MB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6686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UAP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60%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orang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100 </a:t>
                      </a:r>
                      <a:r>
                        <a:rPr lang="en-US" sz="1600" dirty="0" err="1"/>
                        <a:t>menit</a:t>
                      </a:r>
                      <a:r>
                        <a:rPr lang="en-US" sz="1600" dirty="0"/>
                        <a:t> full session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Tidak </a:t>
                      </a:r>
                      <a:r>
                        <a:rPr lang="en-US" sz="1800" b="0" i="0" u="none" strike="noStrike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ada</a:t>
                      </a:r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50 MB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06790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993B285-72BF-22EE-6A38-BC4B9D53F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413065"/>
              </p:ext>
            </p:extLst>
          </p:nvPr>
        </p:nvGraphicFramePr>
        <p:xfrm>
          <a:off x="838201" y="5629275"/>
          <a:ext cx="4451429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447">
                  <a:extLst>
                    <a:ext uri="{9D8B030D-6E8A-4147-A177-3AD203B41FA5}">
                      <a16:colId xmlns:a16="http://schemas.microsoft.com/office/drawing/2014/main" val="3977408754"/>
                    </a:ext>
                  </a:extLst>
                </a:gridCol>
                <a:gridCol w="2476982">
                  <a:extLst>
                    <a:ext uri="{9D8B030D-6E8A-4147-A177-3AD203B41FA5}">
                      <a16:colId xmlns:a16="http://schemas.microsoft.com/office/drawing/2014/main" val="79217985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Software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Visual Studio Code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66860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Extension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  <a:r>
                        <a:rPr lang="en-US" dirty="0" err="1"/>
                        <a:t>py</a:t>
                      </a:r>
                      <a:r>
                        <a:rPr lang="en-US" dirty="0"/>
                        <a:t> dan .</a:t>
                      </a:r>
                      <a:r>
                        <a:rPr lang="en-US" dirty="0" err="1"/>
                        <a:t>ipynb</a:t>
                      </a:r>
                      <a:endParaRPr lang="en-US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06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07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Tanggal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8D182697-C818-CDE1-0779-4D7C50B21137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752600"/>
          <a:ext cx="7696200" cy="28041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42794">
                  <a:extLst>
                    <a:ext uri="{9D8B030D-6E8A-4147-A177-3AD203B41FA5}">
                      <a16:colId xmlns:a16="http://schemas.microsoft.com/office/drawing/2014/main" val="3065253309"/>
                    </a:ext>
                  </a:extLst>
                </a:gridCol>
                <a:gridCol w="4353406">
                  <a:extLst>
                    <a:ext uri="{9D8B030D-6E8A-4147-A177-3AD203B41FA5}">
                      <a16:colId xmlns:a16="http://schemas.microsoft.com/office/drawing/2014/main" val="1062619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Tanggal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Agenda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83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7 Sep 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Awal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Dimulai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432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7 Sep – 19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Okt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 2026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Pembentukan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Kelompok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Proyek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/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Kuis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6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20 – 22 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Okt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2026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Pembentukan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Kelompok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Proyek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/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Kuis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07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19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Okt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 2026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Praktikum Rutin Hari Sabtu (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Pertemuan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6)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965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10 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– 23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 Des 2026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Ujian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Akhir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(UAP)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48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29 Jan – 2 Feb 2027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Ujian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200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169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Tanggal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19C3F9D9-5A95-1440-0AFA-6BA4F4FA9525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737360"/>
          <a:ext cx="7531096" cy="363704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85568">
                  <a:extLst>
                    <a:ext uri="{9D8B030D-6E8A-4147-A177-3AD203B41FA5}">
                      <a16:colId xmlns:a16="http://schemas.microsoft.com/office/drawing/2014/main" val="3065253309"/>
                    </a:ext>
                  </a:extLst>
                </a:gridCol>
                <a:gridCol w="5445528">
                  <a:extLst>
                    <a:ext uri="{9D8B030D-6E8A-4147-A177-3AD203B41FA5}">
                      <a16:colId xmlns:a16="http://schemas.microsoft.com/office/drawing/2014/main" val="1062619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Tanggal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Agenda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83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4 Des 2026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1*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(Termasuk Pengumuman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Dinolkan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432781"/>
                  </a:ext>
                </a:extLst>
              </a:tr>
              <a:tr h="416324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4 – 7 Des 2026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6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12 Feb 2027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2 &amp;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</a:p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(Termasuk Pengumuman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Dinolkan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07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12 – 15 Feb 2027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2 &amp;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26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26 Feb 2027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Hasil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(Batch 1, 2,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84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26 Feb –  3 Mar 2027</a:t>
                      </a:r>
                      <a:endParaRPr 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Konfirmasi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Berkas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16 Mar 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Akhir Praktikum dan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(Final)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203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5B757-F393-9FC8-4F5B-AEDDC38BD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5286375"/>
            <a:ext cx="7696201" cy="55399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i="1"/>
              <a:t>* Nilai yang </a:t>
            </a:r>
            <a:r>
              <a:rPr lang="en-US" sz="1400" i="1" err="1"/>
              <a:t>keluar</a:t>
            </a:r>
            <a:r>
              <a:rPr lang="en-US" sz="1400" i="1"/>
              <a:t> pada batch 1 </a:t>
            </a:r>
            <a:r>
              <a:rPr lang="en-US" sz="1400" i="1" err="1"/>
              <a:t>adalah</a:t>
            </a:r>
            <a:r>
              <a:rPr lang="en-US" sz="1400" i="1"/>
              <a:t> </a:t>
            </a:r>
            <a:r>
              <a:rPr lang="en-US" sz="1400" i="1" err="1"/>
              <a:t>nilai</a:t>
            </a:r>
            <a:r>
              <a:rPr lang="en-US" sz="1400" i="1"/>
              <a:t> quiz </a:t>
            </a:r>
            <a:r>
              <a:rPr lang="en-US" sz="1400" i="1" err="1"/>
              <a:t>untuk</a:t>
            </a:r>
            <a:r>
              <a:rPr lang="en-US" sz="1400" i="1"/>
              <a:t> </a:t>
            </a:r>
            <a:r>
              <a:rPr lang="en-US" sz="1400" i="1" err="1"/>
              <a:t>mata</a:t>
            </a:r>
            <a:r>
              <a:rPr lang="en-US" sz="1400" i="1"/>
              <a:t> </a:t>
            </a:r>
            <a:r>
              <a:rPr lang="en-US" sz="1400" i="1" err="1"/>
              <a:t>kuliah</a:t>
            </a:r>
            <a:r>
              <a:rPr lang="en-US" sz="1400" i="1"/>
              <a:t> </a:t>
            </a:r>
            <a:r>
              <a:rPr lang="en-US" sz="1400" i="1" err="1"/>
              <a:t>praktikum</a:t>
            </a:r>
            <a:r>
              <a:rPr lang="en-US" sz="1400" i="1"/>
              <a:t> yang </a:t>
            </a:r>
            <a:r>
              <a:rPr lang="en-US" sz="1400" i="1" err="1"/>
              <a:t>hanya</a:t>
            </a:r>
            <a:r>
              <a:rPr lang="en-US" sz="1400" i="1"/>
              <a:t> </a:t>
            </a:r>
            <a:r>
              <a:rPr lang="en-US" sz="1400" i="1" err="1"/>
              <a:t>memiliki</a:t>
            </a:r>
            <a:r>
              <a:rPr lang="en-US" sz="1400" i="1"/>
              <a:t> </a:t>
            </a:r>
            <a:r>
              <a:rPr lang="en-US" sz="1400" b="1" i="1"/>
              <a:t>1 kali </a:t>
            </a:r>
            <a:r>
              <a:rPr lang="en-US" sz="1400" b="1" i="1" err="1"/>
              <a:t>penilaian</a:t>
            </a:r>
            <a:r>
              <a:rPr lang="en-US" sz="1400" b="1" i="1"/>
              <a:t> quiz </a:t>
            </a:r>
            <a:r>
              <a:rPr lang="en-US" sz="1400" i="1"/>
              <a:t>dan </a:t>
            </a:r>
            <a:r>
              <a:rPr lang="en-US" sz="1400" i="1" err="1"/>
              <a:t>sudah</a:t>
            </a:r>
            <a:r>
              <a:rPr lang="en-US" sz="1400" i="1"/>
              <a:t> </a:t>
            </a:r>
            <a:r>
              <a:rPr lang="en-US" sz="1400" i="1" err="1"/>
              <a:t>terlaksana</a:t>
            </a:r>
            <a:r>
              <a:rPr lang="en-US" sz="1400" i="1"/>
              <a:t> </a:t>
            </a:r>
            <a:r>
              <a:rPr lang="en-US" sz="1400" b="1" i="1" err="1"/>
              <a:t>sebelum</a:t>
            </a:r>
            <a:r>
              <a:rPr lang="en-US" sz="1400" b="1" i="1"/>
              <a:t> </a:t>
            </a:r>
            <a:r>
              <a:rPr lang="en-US" sz="1400" b="1" i="1" err="1"/>
              <a:t>tanggal</a:t>
            </a:r>
            <a:r>
              <a:rPr lang="en-US" sz="1400" b="1" i="1"/>
              <a:t> </a:t>
            </a:r>
            <a:r>
              <a:rPr lang="en-US" sz="1400" b="1" i="1" err="1"/>
              <a:t>keluar</a:t>
            </a:r>
            <a:r>
              <a:rPr lang="en-US" sz="1400" b="1" i="1"/>
              <a:t> </a:t>
            </a:r>
            <a:r>
              <a:rPr lang="en-US" sz="1400" b="1" i="1" err="1"/>
              <a:t>nilai</a:t>
            </a:r>
            <a:r>
              <a:rPr lang="en-US" sz="1400" b="1" i="1"/>
              <a:t> </a:t>
            </a:r>
            <a:r>
              <a:rPr lang="en-US" sz="1400" b="1" i="1" err="1"/>
              <a:t>praktikum</a:t>
            </a:r>
            <a:r>
              <a:rPr lang="en-US" sz="1400" b="1" i="1"/>
              <a:t> batch 1</a:t>
            </a:r>
            <a:r>
              <a:rPr lang="en-US" sz="1400" i="1"/>
              <a:t>.</a:t>
            </a:r>
            <a:endParaRPr lang="en-US" sz="1200" i="1"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73487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Prosedur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TM</a:t>
            </a:r>
          </a:p>
        </p:txBody>
      </p:sp>
    </p:spTree>
    <p:extLst>
      <p:ext uri="{BB962C8B-B14F-4D97-AF65-F5344CB8AC3E}">
        <p14:creationId xmlns:p14="http://schemas.microsoft.com/office/powerpoint/2010/main" val="1337080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76D916C-8D08-8485-CCA2-3365EEE23378}"/>
              </a:ext>
            </a:extLst>
          </p:cNvPr>
          <p:cNvSpPr/>
          <p:nvPr/>
        </p:nvSpPr>
        <p:spPr>
          <a:xfrm>
            <a:off x="4621426" y="5016505"/>
            <a:ext cx="3979152" cy="9270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43424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Menghadiri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waktu</a:t>
            </a:r>
            <a:r>
              <a:rPr lang="en-US" sz="1600"/>
              <a:t> </a:t>
            </a:r>
            <a:r>
              <a:rPr lang="en-US" sz="1600" err="1"/>
              <a:t>perkuliahan</a:t>
            </a:r>
            <a:r>
              <a:rPr lang="en-US" sz="1600"/>
              <a:t> yang </a:t>
            </a:r>
            <a:r>
              <a:rPr lang="en-US" sz="1600" err="1"/>
              <a:t>terjadwal</a:t>
            </a:r>
            <a:r>
              <a:rPr lang="en-US" sz="1600"/>
              <a:t>.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b="1"/>
              <a:t>onsite</a:t>
            </a:r>
            <a:r>
              <a:rPr lang="en-US" sz="1600"/>
              <a:t>, TM </a:t>
            </a:r>
            <a:r>
              <a:rPr lang="en-US" sz="1600" b="1" err="1"/>
              <a:t>dilaksanakan</a:t>
            </a:r>
            <a:r>
              <a:rPr lang="en-US" sz="1600" b="1"/>
              <a:t> di </a:t>
            </a:r>
            <a:r>
              <a:rPr lang="en-US" sz="1600" b="1" err="1"/>
              <a:t>ruangan</a:t>
            </a:r>
            <a:r>
              <a:rPr lang="en-US" sz="160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Apabila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err="1"/>
              <a:t>terlambat</a:t>
            </a:r>
            <a:r>
              <a:rPr lang="en-US" sz="1400"/>
              <a:t> (</a:t>
            </a:r>
            <a:r>
              <a:rPr lang="en-US" sz="1400" err="1"/>
              <a:t>datang</a:t>
            </a:r>
            <a:r>
              <a:rPr lang="en-US" sz="1400"/>
              <a:t> </a:t>
            </a:r>
            <a:r>
              <a:rPr lang="en-US" sz="1400" err="1"/>
              <a:t>setelah</a:t>
            </a:r>
            <a:r>
              <a:rPr lang="en-US" sz="1400"/>
              <a:t> </a:t>
            </a:r>
            <a:r>
              <a:rPr lang="en-US" sz="1400" b="1"/>
              <a:t>TM </a:t>
            </a:r>
            <a:r>
              <a:rPr lang="en-US" sz="1400" b="1" err="1"/>
              <a:t>sudah</a:t>
            </a:r>
            <a:r>
              <a:rPr lang="en-US" sz="1400" b="1"/>
              <a:t> </a:t>
            </a:r>
            <a:r>
              <a:rPr lang="en-US" sz="1400" b="1" err="1"/>
              <a:t>berlangsung</a:t>
            </a:r>
            <a:r>
              <a:rPr lang="en-US" sz="1400" b="1"/>
              <a:t> </a:t>
            </a:r>
            <a:r>
              <a:rPr lang="en-US" sz="1400" b="1" err="1"/>
              <a:t>selama</a:t>
            </a:r>
            <a:r>
              <a:rPr lang="en-US" sz="1400" b="1"/>
              <a:t> </a:t>
            </a:r>
            <a:r>
              <a:rPr lang="en-US" sz="1400" b="1" err="1"/>
              <a:t>atau</a:t>
            </a:r>
            <a:r>
              <a:rPr lang="en-US" sz="1400" b="1"/>
              <a:t> </a:t>
            </a:r>
            <a:r>
              <a:rPr lang="en-US" sz="1400" b="1" err="1"/>
              <a:t>lebih</a:t>
            </a:r>
            <a:r>
              <a:rPr lang="en-US" sz="1400" b="1"/>
              <a:t> </a:t>
            </a:r>
            <a:r>
              <a:rPr lang="en-US" sz="1400" b="1" err="1"/>
              <a:t>dari</a:t>
            </a:r>
            <a:r>
              <a:rPr lang="en-US" sz="1400" b="1"/>
              <a:t> 30 </a:t>
            </a:r>
            <a:r>
              <a:rPr lang="en-US" sz="1400" b="1" err="1"/>
              <a:t>menit</a:t>
            </a:r>
            <a:r>
              <a:rPr lang="en-US" sz="1400"/>
              <a:t>),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b="1" err="1">
                <a:solidFill>
                  <a:srgbClr val="C00000"/>
                </a:solidFill>
              </a:rPr>
              <a:t>tidak</a:t>
            </a:r>
            <a:r>
              <a:rPr lang="en-US" sz="1400" b="1">
                <a:solidFill>
                  <a:srgbClr val="C00000"/>
                </a:solidFill>
              </a:rPr>
              <a:t> </a:t>
            </a:r>
            <a:r>
              <a:rPr lang="en-US" sz="1400" b="1" err="1">
                <a:solidFill>
                  <a:srgbClr val="C00000"/>
                </a:solidFill>
              </a:rPr>
              <a:t>diperkenankan</a:t>
            </a:r>
            <a:r>
              <a:rPr lang="en-US" sz="1400" b="1">
                <a:solidFill>
                  <a:srgbClr val="C00000"/>
                </a:solidFill>
              </a:rPr>
              <a:t> </a:t>
            </a:r>
            <a:r>
              <a:rPr lang="en-US" sz="1400" b="1" err="1">
                <a:solidFill>
                  <a:srgbClr val="C00000"/>
                </a:solidFill>
              </a:rPr>
              <a:t>mengikuti</a:t>
            </a:r>
            <a:r>
              <a:rPr lang="en-US" sz="1400" b="1">
                <a:solidFill>
                  <a:srgbClr val="C00000"/>
                </a:solidFill>
              </a:rPr>
              <a:t> TM</a:t>
            </a:r>
            <a:r>
              <a:rPr lang="en-US" sz="140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Apabila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err="1"/>
              <a:t>menghadiri</a:t>
            </a:r>
            <a:r>
              <a:rPr lang="en-US" sz="1400"/>
              <a:t> </a:t>
            </a:r>
            <a:r>
              <a:rPr lang="en-US" sz="1400" err="1"/>
              <a:t>atau</a:t>
            </a:r>
            <a:r>
              <a:rPr lang="en-US" sz="1400"/>
              <a:t> </a:t>
            </a:r>
            <a:r>
              <a:rPr lang="en-US" sz="1400" err="1"/>
              <a:t>mengumpulkan</a:t>
            </a:r>
            <a:r>
              <a:rPr lang="en-US" sz="1400"/>
              <a:t> </a:t>
            </a:r>
            <a:r>
              <a:rPr lang="en-US" sz="1400" err="1"/>
              <a:t>jawaban</a:t>
            </a:r>
            <a:r>
              <a:rPr lang="en-US" sz="1400"/>
              <a:t> TM </a:t>
            </a:r>
            <a:r>
              <a:rPr lang="en-US" sz="1400" b="1" err="1"/>
              <a:t>secara</a:t>
            </a:r>
            <a:r>
              <a:rPr lang="en-US" sz="1400" b="1"/>
              <a:t> </a:t>
            </a:r>
            <a:r>
              <a:rPr lang="en-US" sz="1400" b="1" err="1"/>
              <a:t>tidak</a:t>
            </a:r>
            <a:r>
              <a:rPr lang="en-US" sz="1400" b="1"/>
              <a:t> </a:t>
            </a:r>
            <a:r>
              <a:rPr lang="en-US" sz="1400" b="1" err="1"/>
              <a:t>sesuai</a:t>
            </a:r>
            <a:r>
              <a:rPr lang="en-US" sz="1400" b="1"/>
              <a:t> </a:t>
            </a:r>
            <a:r>
              <a:rPr lang="en-US" sz="1400" b="1" err="1"/>
              <a:t>dengan</a:t>
            </a:r>
            <a:r>
              <a:rPr lang="en-US" sz="1400" b="1"/>
              <a:t> mode </a:t>
            </a:r>
            <a:r>
              <a:rPr lang="en-US" sz="1400" b="1" err="1"/>
              <a:t>perkuliahannya</a:t>
            </a:r>
            <a:r>
              <a:rPr lang="en-US" sz="1400"/>
              <a:t>, </a:t>
            </a:r>
            <a:r>
              <a:rPr lang="en-US" sz="1400" err="1"/>
              <a:t>nilai</a:t>
            </a:r>
            <a:r>
              <a:rPr lang="en-US" sz="1400"/>
              <a:t> TM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err="1"/>
              <a:t>tersebut</a:t>
            </a:r>
            <a:r>
              <a:rPr lang="en-US" sz="1400"/>
              <a:t> </a:t>
            </a:r>
            <a:r>
              <a:rPr lang="en-US" sz="1400" err="1"/>
              <a:t>akan</a:t>
            </a:r>
            <a:r>
              <a:rPr lang="en-US" sz="1400"/>
              <a:t> </a:t>
            </a:r>
            <a:r>
              <a:rPr lang="en-US" sz="1400" b="1" err="1">
                <a:solidFill>
                  <a:srgbClr val="C00000"/>
                </a:solidFill>
              </a:rPr>
              <a:t>dinolkan</a:t>
            </a:r>
            <a:r>
              <a:rPr lang="en-US" sz="14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17D050C-E458-0B53-2E8B-54B814253AA4}"/>
              </a:ext>
            </a:extLst>
          </p:cNvPr>
          <p:cNvSpPr/>
          <p:nvPr/>
        </p:nvSpPr>
        <p:spPr>
          <a:xfrm>
            <a:off x="1393955" y="4818349"/>
            <a:ext cx="174171" cy="17417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304C2D-2249-F31A-E1A7-9A0424E850B8}"/>
              </a:ext>
            </a:extLst>
          </p:cNvPr>
          <p:cNvSpPr/>
          <p:nvPr/>
        </p:nvSpPr>
        <p:spPr>
          <a:xfrm>
            <a:off x="1500999" y="4888975"/>
            <a:ext cx="3120427" cy="56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4FF6E3-CE9F-8CDC-0FBB-B5A97C71347A}"/>
              </a:ext>
            </a:extLst>
          </p:cNvPr>
          <p:cNvSpPr/>
          <p:nvPr/>
        </p:nvSpPr>
        <p:spPr>
          <a:xfrm>
            <a:off x="4546882" y="4818349"/>
            <a:ext cx="174171" cy="17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E60086-141F-A705-83CA-59BBF727744D}"/>
              </a:ext>
            </a:extLst>
          </p:cNvPr>
          <p:cNvSpPr txBox="1">
            <a:spLocks/>
          </p:cNvSpPr>
          <p:nvPr/>
        </p:nvSpPr>
        <p:spPr>
          <a:xfrm>
            <a:off x="982415" y="4404666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20</a:t>
            </a:r>
            <a:endParaRPr lang="en-US" sz="1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B85E116-6ED8-C10F-339A-C875E1BE1736}"/>
              </a:ext>
            </a:extLst>
          </p:cNvPr>
          <p:cNvSpPr txBox="1">
            <a:spLocks/>
          </p:cNvSpPr>
          <p:nvPr/>
        </p:nvSpPr>
        <p:spPr>
          <a:xfrm>
            <a:off x="4115383" y="4378146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50</a:t>
            </a:r>
            <a:endParaRPr lang="en-US"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E7AB28-207D-58D0-5603-EAF39AB799AE}"/>
              </a:ext>
            </a:extLst>
          </p:cNvPr>
          <p:cNvSpPr/>
          <p:nvPr/>
        </p:nvSpPr>
        <p:spPr>
          <a:xfrm>
            <a:off x="4621427" y="4888975"/>
            <a:ext cx="3979151" cy="569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1B199F7-BF7A-9056-404F-E3CE38E22719}"/>
              </a:ext>
            </a:extLst>
          </p:cNvPr>
          <p:cNvSpPr txBox="1">
            <a:spLocks/>
          </p:cNvSpPr>
          <p:nvPr/>
        </p:nvSpPr>
        <p:spPr>
          <a:xfrm>
            <a:off x="4944094" y="5054761"/>
            <a:ext cx="3333815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baru</a:t>
            </a:r>
            <a:r>
              <a:rPr lang="en-US" sz="1600"/>
              <a:t> </a:t>
            </a:r>
            <a:r>
              <a:rPr lang="en-US" sz="1600" err="1"/>
              <a:t>hadir</a:t>
            </a:r>
            <a:r>
              <a:rPr lang="en-US" sz="1600"/>
              <a:t>,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b="1" err="1"/>
              <a:t>mengikuti</a:t>
            </a:r>
            <a:r>
              <a:rPr lang="en-US" sz="1600" b="1"/>
              <a:t> TM</a:t>
            </a:r>
            <a:endParaRPr lang="en-US" sz="1400" b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17C853-92A5-D60A-A26F-8077C96B6510}"/>
              </a:ext>
            </a:extLst>
          </p:cNvPr>
          <p:cNvSpPr/>
          <p:nvPr/>
        </p:nvSpPr>
        <p:spPr>
          <a:xfrm>
            <a:off x="1739590" y="5016504"/>
            <a:ext cx="2782985" cy="9270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2BC2AE5-7F2E-602B-85E1-4CB8FC1DE37B}"/>
              </a:ext>
            </a:extLst>
          </p:cNvPr>
          <p:cNvSpPr txBox="1">
            <a:spLocks/>
          </p:cNvSpPr>
          <p:nvPr/>
        </p:nvSpPr>
        <p:spPr>
          <a:xfrm>
            <a:off x="1739590" y="5063145"/>
            <a:ext cx="2750560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</a:t>
            </a:r>
            <a:r>
              <a:rPr lang="en-US" sz="1600" err="1"/>
              <a:t>masuk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TM</a:t>
            </a:r>
            <a:endParaRPr lang="en-US" sz="14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BE8831C-EC49-B36A-B17F-4C1D5D264696}"/>
              </a:ext>
            </a:extLst>
          </p:cNvPr>
          <p:cNvGrpSpPr/>
          <p:nvPr/>
        </p:nvGrpSpPr>
        <p:grpSpPr>
          <a:xfrm>
            <a:off x="2705924" y="4284569"/>
            <a:ext cx="534643" cy="592414"/>
            <a:chOff x="-117036" y="3760261"/>
            <a:chExt cx="534643" cy="592414"/>
          </a:xfrm>
        </p:grpSpPr>
        <p:sp>
          <p:nvSpPr>
            <p:cNvPr id="18" name="Triangle 17">
              <a:extLst>
                <a:ext uri="{FF2B5EF4-FFF2-40B4-BE49-F238E27FC236}">
                  <a16:creationId xmlns:a16="http://schemas.microsoft.com/office/drawing/2014/main" id="{66B32C61-543C-9092-AB96-CF2158CAA73A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52E5578-4ABC-0644-4AA1-02D8172E80D6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A4443D3-84AA-EDE0-703E-50857EB160F5}"/>
              </a:ext>
            </a:extLst>
          </p:cNvPr>
          <p:cNvGrpSpPr/>
          <p:nvPr/>
        </p:nvGrpSpPr>
        <p:grpSpPr>
          <a:xfrm>
            <a:off x="5492724" y="4258301"/>
            <a:ext cx="534643" cy="592414"/>
            <a:chOff x="-117036" y="3760261"/>
            <a:chExt cx="534643" cy="592414"/>
          </a:xfrm>
        </p:grpSpPr>
        <p:sp>
          <p:nvSpPr>
            <p:cNvPr id="21" name="Triangle 20">
              <a:extLst>
                <a:ext uri="{FF2B5EF4-FFF2-40B4-BE49-F238E27FC236}">
                  <a16:creationId xmlns:a16="http://schemas.microsoft.com/office/drawing/2014/main" id="{04531107-C481-A95C-EF03-60FB0066331B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D481E54-31F1-C7C1-2A74-5CFE4193C8B7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35A3AAF-C0EC-6CC8-A11E-A92BB93C268D}"/>
              </a:ext>
            </a:extLst>
          </p:cNvPr>
          <p:cNvSpPr txBox="1">
            <a:spLocks/>
          </p:cNvSpPr>
          <p:nvPr/>
        </p:nvSpPr>
        <p:spPr>
          <a:xfrm>
            <a:off x="245503" y="5156681"/>
            <a:ext cx="1322623" cy="4309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/>
              <a:t>TM </a:t>
            </a:r>
            <a:r>
              <a:rPr lang="en-US" sz="1600" err="1"/>
              <a:t>dimulai</a:t>
            </a:r>
            <a:endParaRPr lang="en-US" sz="14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596B25-B829-6117-9B13-D7501826273E}"/>
              </a:ext>
            </a:extLst>
          </p:cNvPr>
          <p:cNvCxnSpPr>
            <a:cxnSpLocks/>
          </p:cNvCxnSpPr>
          <p:nvPr/>
        </p:nvCxnSpPr>
        <p:spPr>
          <a:xfrm flipH="1">
            <a:off x="1237785" y="5016504"/>
            <a:ext cx="149108" cy="246872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477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07FDD-0ADF-37DC-4FDB-83F97B486D61}"/>
              </a:ext>
            </a:extLst>
          </p:cNvPr>
          <p:cNvSpPr/>
          <p:nvPr/>
        </p:nvSpPr>
        <p:spPr>
          <a:xfrm>
            <a:off x="1012958" y="2314611"/>
            <a:ext cx="7787012" cy="81419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Mengikuti</a:t>
            </a:r>
            <a:r>
              <a:rPr lang="en-US" sz="1600"/>
              <a:t>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absensi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mode </a:t>
            </a:r>
            <a:r>
              <a:rPr lang="en-US" sz="1600" err="1"/>
              <a:t>perkuliahan</a:t>
            </a:r>
            <a:r>
              <a:rPr lang="en-US" sz="1600"/>
              <a:t> yang </a:t>
            </a:r>
            <a:r>
              <a:rPr lang="en-US" sz="1600" err="1"/>
              <a:t>diikuti</a:t>
            </a:r>
            <a:r>
              <a:rPr lang="en-US" sz="1600"/>
              <a:t>, </a:t>
            </a:r>
            <a:r>
              <a:rPr lang="en-US" sz="1600" err="1"/>
              <a:t>yaitu</a:t>
            </a:r>
            <a:r>
              <a:rPr lang="en-US" sz="1600"/>
              <a:t> </a:t>
            </a:r>
            <a:r>
              <a:rPr lang="en-US" sz="1600" b="1" i="1"/>
              <a:t>classroom attendance </a:t>
            </a:r>
            <a:r>
              <a:rPr lang="en-US" sz="1600" err="1"/>
              <a:t>menggunakan</a:t>
            </a:r>
            <a:r>
              <a:rPr lang="en-US" sz="1600"/>
              <a:t> </a:t>
            </a:r>
            <a:r>
              <a:rPr lang="en-US" sz="1600" err="1"/>
              <a:t>wifi</a:t>
            </a:r>
            <a:r>
              <a:rPr lang="en-US" sz="1600"/>
              <a:t> Binus Access </a:t>
            </a:r>
            <a:r>
              <a:rPr lang="en-US" sz="1600" b="1" err="1"/>
              <a:t>untuk</a:t>
            </a:r>
            <a:r>
              <a:rPr lang="en-US" sz="1600" b="1"/>
              <a:t> onsite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online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err="1">
                <a:ea typeface="Open Sans"/>
                <a:cs typeface="Open Sans"/>
              </a:rPr>
              <a:t>tetap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wajib</a:t>
            </a:r>
            <a:r>
              <a:rPr lang="en-US" sz="1600" b="1">
                <a:ea typeface="Open Sans"/>
                <a:cs typeface="Open Sans"/>
              </a:rPr>
              <a:t> join Zoom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karena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pertemuan</a:t>
            </a:r>
            <a:r>
              <a:rPr lang="en-US" sz="1600">
                <a:ea typeface="Open Sans"/>
                <a:cs typeface="Open Sans"/>
              </a:rPr>
              <a:t> TM </a:t>
            </a:r>
            <a:r>
              <a:rPr lang="en-US" sz="1600" err="1">
                <a:ea typeface="Open Sans"/>
                <a:cs typeface="Open Sans"/>
              </a:rPr>
              <a:t>terhitung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dalam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absensi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dapat</a:t>
            </a:r>
            <a:r>
              <a:rPr lang="en-US" sz="1600" b="1"/>
              <a:t> </a:t>
            </a:r>
            <a:r>
              <a:rPr lang="en-US" sz="1600" b="1" err="1"/>
              <a:t>hadir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tempat</a:t>
            </a:r>
            <a:r>
              <a:rPr lang="en-US" sz="1600"/>
              <a:t> pada </a:t>
            </a:r>
            <a:r>
              <a:rPr lang="en-US" sz="1600" err="1"/>
              <a:t>pertemuan</a:t>
            </a:r>
            <a:r>
              <a:rPr lang="en-US" sz="1600"/>
              <a:t> TM,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b="1" err="1"/>
              <a:t>mengumpulkan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metode</a:t>
            </a:r>
            <a:r>
              <a:rPr lang="en-US" sz="1600"/>
              <a:t> </a:t>
            </a:r>
            <a:r>
              <a:rPr lang="en-US" sz="1600" err="1"/>
              <a:t>apapun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hadir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err="1"/>
              <a:t>nilainya</a:t>
            </a:r>
            <a:r>
              <a:rPr lang="en-US" sz="1600"/>
              <a:t> </a:t>
            </a:r>
            <a:r>
              <a:rPr lang="en-US" sz="1600" err="1"/>
              <a:t>dinolkan</a:t>
            </a:r>
            <a:r>
              <a:rPr lang="en-US" sz="1600"/>
              <a:t>) pada </a:t>
            </a:r>
            <a:r>
              <a:rPr lang="en-US" sz="1600" err="1"/>
              <a:t>pertemuan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, </a:t>
            </a:r>
            <a:r>
              <a:rPr lang="en-US" sz="1600" err="1"/>
              <a:t>namun</a:t>
            </a:r>
            <a:r>
              <a:rPr lang="en-US" sz="1600"/>
              <a:t> </a:t>
            </a:r>
            <a:r>
              <a:rPr lang="en-US" sz="1600" b="1" err="1"/>
              <a:t>pengajuan</a:t>
            </a:r>
            <a:r>
              <a:rPr lang="en-US" sz="1600" b="1"/>
              <a:t> </a:t>
            </a:r>
            <a:r>
              <a:rPr lang="en-US" sz="1600" b="1" err="1"/>
              <a:t>dispensasi</a:t>
            </a:r>
            <a:r>
              <a:rPr lang="en-US" sz="1600" b="1"/>
              <a:t> </a:t>
            </a:r>
            <a:r>
              <a:rPr lang="en-US" sz="1600" b="1" err="1"/>
              <a:t>diterima</a:t>
            </a:r>
            <a:r>
              <a:rPr lang="en-US" sz="1600" b="1"/>
              <a:t> LSC</a:t>
            </a:r>
            <a:r>
              <a:rPr lang="en-US" sz="1600"/>
              <a:t>:</a:t>
            </a:r>
            <a:endParaRPr lang="en-US" sz="16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/>
              <a:t>Jika </a:t>
            </a:r>
            <a:r>
              <a:rPr lang="en-US" sz="1400" err="1"/>
              <a:t>ada</a:t>
            </a:r>
            <a:r>
              <a:rPr lang="en-US" sz="1400"/>
              <a:t> TM </a:t>
            </a:r>
            <a:r>
              <a:rPr lang="en-US" sz="1400" err="1"/>
              <a:t>berikutnya</a:t>
            </a:r>
            <a:r>
              <a:rPr lang="en-US" sz="1400"/>
              <a:t>: Nilai TM </a:t>
            </a:r>
            <a:r>
              <a:rPr lang="en-US" sz="1400" err="1"/>
              <a:t>disamakan</a:t>
            </a:r>
            <a:r>
              <a:rPr lang="en-US" sz="1400"/>
              <a:t> </a:t>
            </a:r>
            <a:r>
              <a:rPr lang="en-US" sz="1400" err="1"/>
              <a:t>dengan</a:t>
            </a:r>
            <a:r>
              <a:rPr lang="en-US" sz="1400"/>
              <a:t> </a:t>
            </a:r>
            <a:r>
              <a:rPr lang="en-US" sz="1400" err="1"/>
              <a:t>nilai</a:t>
            </a:r>
            <a:r>
              <a:rPr lang="en-US" sz="1400"/>
              <a:t> TM </a:t>
            </a:r>
            <a:r>
              <a:rPr lang="en-US" sz="1400" err="1"/>
              <a:t>berikutnya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/>
              <a:t>Jika </a:t>
            </a:r>
            <a:r>
              <a:rPr lang="en-US" sz="1400" err="1"/>
              <a:t>tidak</a:t>
            </a:r>
            <a:r>
              <a:rPr lang="en-US" sz="1400"/>
              <a:t> </a:t>
            </a:r>
            <a:r>
              <a:rPr lang="en-US" sz="1400" err="1"/>
              <a:t>ada</a:t>
            </a:r>
            <a:r>
              <a:rPr lang="en-US" sz="1400"/>
              <a:t> TM </a:t>
            </a:r>
            <a:r>
              <a:rPr lang="en-US" sz="1400" err="1"/>
              <a:t>berikutnya</a:t>
            </a:r>
            <a:r>
              <a:rPr lang="en-US" sz="1400"/>
              <a:t>: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err="1"/>
              <a:t>mengikuti</a:t>
            </a:r>
            <a:r>
              <a:rPr lang="en-US" sz="1400"/>
              <a:t> TM </a:t>
            </a:r>
            <a:r>
              <a:rPr lang="en-US" sz="1400" err="1"/>
              <a:t>susulan</a:t>
            </a: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827533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Jika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hadir</a:t>
            </a:r>
            <a:r>
              <a:rPr lang="en-US" sz="1600" b="1"/>
              <a:t> </a:t>
            </a:r>
            <a:r>
              <a:rPr lang="en-US" sz="1600"/>
              <a:t>pada </a:t>
            </a:r>
            <a:r>
              <a:rPr lang="en-US" sz="1600" b="1"/>
              <a:t>TM </a:t>
            </a:r>
            <a:r>
              <a:rPr lang="en-US" sz="1600" b="1" err="1"/>
              <a:t>susulan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TM </a:t>
            </a:r>
            <a:r>
              <a:rPr lang="en-US" sz="1600" err="1"/>
              <a:t>susulan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 </a:t>
            </a:r>
            <a:r>
              <a:rPr lang="en-US" sz="1600" err="1"/>
              <a:t>dinyatakan</a:t>
            </a:r>
            <a:r>
              <a:rPr lang="en-US" sz="1600"/>
              <a:t> 0 (NOL), </a:t>
            </a:r>
            <a:r>
              <a:rPr lang="en-US" sz="1600" err="1"/>
              <a:t>tanpa</a:t>
            </a:r>
            <a:r>
              <a:rPr lang="en-US" sz="1600"/>
              <a:t> </a:t>
            </a:r>
            <a:r>
              <a:rPr lang="en-US" sz="1600" err="1"/>
              <a:t>terkecuali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570155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600" err="1"/>
              <a:t>Contoh</a:t>
            </a:r>
            <a:r>
              <a:rPr lang="en-US" sz="1600"/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A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(1 kali) dan UAP</a:t>
            </a:r>
            <a:r>
              <a:rPr lang="en-US" sz="1600"/>
              <a:t>. </a:t>
            </a:r>
            <a:r>
              <a:rPr lang="en-US" sz="1600" err="1"/>
              <a:t>Pengajuan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diterima</a:t>
            </a:r>
            <a:r>
              <a:rPr lang="en-US" sz="1600"/>
              <a:t> oleh LSC.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dijadwalkan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mengikuti</a:t>
            </a:r>
            <a:r>
              <a:rPr lang="en-US" sz="1600" b="1"/>
              <a:t> TM </a:t>
            </a:r>
            <a:r>
              <a:rPr lang="en-US" sz="1600" b="1" err="1"/>
              <a:t>susulan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B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(2 kali)</a:t>
            </a:r>
            <a:r>
              <a:rPr lang="en-US" sz="1600"/>
              <a:t>.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kuis</a:t>
            </a:r>
            <a:r>
              <a:rPr lang="en-US" sz="1600" b="1"/>
              <a:t> </a:t>
            </a:r>
            <a:r>
              <a:rPr lang="en-US" sz="1600" b="1" err="1"/>
              <a:t>pertama</a:t>
            </a:r>
            <a:r>
              <a:rPr lang="en-US" sz="1600" b="1"/>
              <a:t> </a:t>
            </a:r>
            <a:r>
              <a:rPr lang="en-US" sz="1600"/>
              <a:t>dan </a:t>
            </a:r>
            <a:r>
              <a:rPr lang="en-US" sz="1600" err="1"/>
              <a:t>pengajuan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diterima</a:t>
            </a:r>
            <a:r>
              <a:rPr lang="en-US" sz="1600"/>
              <a:t> oleh LSC. Nilai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pertama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disamakan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kedua</a:t>
            </a:r>
            <a:r>
              <a:rPr lang="en-US" sz="1600"/>
              <a:t> (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dijadwalkan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</a:t>
            </a:r>
            <a:r>
              <a:rPr lang="en-US" sz="1600" b="1" err="1"/>
              <a:t>susulan</a:t>
            </a:r>
            <a:r>
              <a:rPr lang="en-US" sz="160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C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(2 kali)</a:t>
            </a:r>
            <a:r>
              <a:rPr lang="en-US" sz="1600"/>
              <a:t>.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kuis</a:t>
            </a:r>
            <a:r>
              <a:rPr lang="en-US" sz="1600" b="1"/>
              <a:t> </a:t>
            </a:r>
            <a:r>
              <a:rPr lang="en-US" sz="1600" b="1" err="1"/>
              <a:t>kedua</a:t>
            </a:r>
            <a:r>
              <a:rPr lang="en-US" sz="1600" b="1"/>
              <a:t> </a:t>
            </a:r>
            <a:r>
              <a:rPr lang="en-US" sz="1600"/>
              <a:t>dan </a:t>
            </a:r>
            <a:r>
              <a:rPr lang="en-US" sz="1600" err="1"/>
              <a:t>pengajuan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diterima</a:t>
            </a:r>
            <a:r>
              <a:rPr lang="en-US" sz="1600"/>
              <a:t> oleh LSC.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dijadwalkan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mengikuti</a:t>
            </a:r>
            <a:r>
              <a:rPr lang="en-US" sz="1600" b="1"/>
              <a:t> TM </a:t>
            </a:r>
            <a:r>
              <a:rPr lang="en-US" sz="1600" b="1" err="1"/>
              <a:t>susulan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DAE5A4-03F7-AAA0-2264-1E7B3BE97808}"/>
              </a:ext>
            </a:extLst>
          </p:cNvPr>
          <p:cNvSpPr txBox="1">
            <a:spLocks/>
          </p:cNvSpPr>
          <p:nvPr/>
        </p:nvSpPr>
        <p:spPr>
          <a:xfrm>
            <a:off x="1066799" y="3857295"/>
            <a:ext cx="7696201" cy="39624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108711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36EF5C-7FE1-2AF7-6569-CC5E65063E11}"/>
              </a:ext>
            </a:extLst>
          </p:cNvPr>
          <p:cNvSpPr/>
          <p:nvPr/>
        </p:nvSpPr>
        <p:spPr>
          <a:xfrm>
            <a:off x="898135" y="3431516"/>
            <a:ext cx="7985341" cy="27974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b="1" err="1"/>
              <a:t>menunggu</a:t>
            </a:r>
            <a:r>
              <a:rPr lang="en-US" sz="1600" b="1"/>
              <a:t> di </a:t>
            </a:r>
            <a:r>
              <a:rPr lang="en-US" sz="1600" b="1" err="1"/>
              <a:t>luar</a:t>
            </a:r>
            <a:r>
              <a:rPr lang="en-US" sz="1600" b="1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err="1"/>
              <a:t>selama</a:t>
            </a:r>
            <a:r>
              <a:rPr lang="en-US" sz="1600"/>
              <a:t> </a:t>
            </a:r>
            <a:r>
              <a:rPr lang="en-US" sz="1600" err="1"/>
              <a:t>pengawas</a:t>
            </a:r>
            <a:r>
              <a:rPr lang="en-US" sz="1600"/>
              <a:t> </a:t>
            </a:r>
            <a:r>
              <a:rPr lang="en-US" sz="1600" err="1"/>
              <a:t>mempersiapkan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TM.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b="1" err="1"/>
              <a:t>meletakkan</a:t>
            </a:r>
            <a:r>
              <a:rPr lang="en-US" sz="1600" b="1"/>
              <a:t> </a:t>
            </a:r>
            <a:r>
              <a:rPr lang="en-US" sz="1600" b="1" err="1"/>
              <a:t>tas</a:t>
            </a:r>
            <a:r>
              <a:rPr lang="en-US" sz="1600" b="1"/>
              <a:t>, </a:t>
            </a:r>
            <a:r>
              <a:rPr lang="en-US" sz="1600" b="1" err="1"/>
              <a:t>ponsel</a:t>
            </a:r>
            <a:r>
              <a:rPr lang="en-US" sz="1600" b="1"/>
              <a:t>, dan </a:t>
            </a:r>
            <a:r>
              <a:rPr lang="en-US" sz="1600" b="1" err="1"/>
              <a:t>barang</a:t>
            </a:r>
            <a:r>
              <a:rPr lang="en-US" sz="1600" b="1"/>
              <a:t> </a:t>
            </a:r>
            <a:r>
              <a:rPr lang="en-US" sz="1600" b="1" err="1"/>
              <a:t>pribadi</a:t>
            </a:r>
            <a:r>
              <a:rPr lang="en-US" sz="1600" b="1"/>
              <a:t> </a:t>
            </a:r>
            <a:r>
              <a:rPr lang="en-US" sz="1600" b="1" err="1"/>
              <a:t>lainnya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loker</a:t>
            </a:r>
            <a:r>
              <a:rPr lang="en-US" sz="1600"/>
              <a:t> </a:t>
            </a:r>
            <a:r>
              <a:rPr lang="en-US" sz="1600" err="1"/>
              <a:t>atau</a:t>
            </a:r>
            <a:r>
              <a:rPr lang="en-US" sz="1600"/>
              <a:t> podium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, </a:t>
            </a:r>
            <a:r>
              <a:rPr lang="en-US" sz="1600" err="1"/>
              <a:t>termasuk</a:t>
            </a:r>
            <a:r>
              <a:rPr lang="en-US" sz="1600"/>
              <a:t> </a:t>
            </a:r>
            <a:r>
              <a:rPr lang="en-US" sz="1600" b="1" err="1"/>
              <a:t>alat</a:t>
            </a:r>
            <a:r>
              <a:rPr lang="en-US" sz="1600" b="1"/>
              <a:t> </a:t>
            </a:r>
            <a:r>
              <a:rPr lang="en-US" sz="1600" b="1" err="1"/>
              <a:t>elektronik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err="1"/>
              <a:t>diatur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mode </a:t>
            </a:r>
            <a:r>
              <a:rPr lang="en-US" sz="1600" i="1"/>
              <a:t>silent</a:t>
            </a:r>
            <a:r>
              <a:rPr lang="en-US" sz="160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online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b="1" err="1">
                <a:ea typeface="Open Sans"/>
                <a:cs typeface="Open Sans"/>
              </a:rPr>
              <a:t>wajib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i="1">
                <a:ea typeface="Open Sans"/>
                <a:cs typeface="Open Sans"/>
              </a:rPr>
              <a:t>start recording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pengerjaan</a:t>
            </a:r>
            <a:r>
              <a:rPr lang="en-US" sz="1600">
                <a:ea typeface="Open Sans"/>
                <a:cs typeface="Open Sans"/>
              </a:rPr>
              <a:t> TM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sebelum</a:t>
            </a:r>
            <a:r>
              <a:rPr lang="en-US" sz="1600" b="1">
                <a:ea typeface="Open Sans"/>
                <a:cs typeface="Open Sans"/>
              </a:rPr>
              <a:t> men-download </a:t>
            </a:r>
            <a:r>
              <a:rPr lang="en-US" sz="1600" b="1" err="1">
                <a:ea typeface="Open Sans"/>
                <a:cs typeface="Open Sans"/>
              </a:rPr>
              <a:t>soal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melalui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sistem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err="1">
                <a:ea typeface="Open Sans"/>
                <a:cs typeface="Open Sans"/>
              </a:rPr>
              <a:t>baru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diperbolehkan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i="1">
                <a:ea typeface="Open Sans"/>
                <a:cs typeface="Open Sans"/>
              </a:rPr>
              <a:t>stop recording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setelah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waktu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pengumpulan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berakhir</a:t>
            </a:r>
            <a:r>
              <a:rPr lang="en-US" sz="1600">
                <a:ea typeface="Open Sans"/>
                <a:cs typeface="Open Sans"/>
              </a:rPr>
              <a:t>. Yang </a:t>
            </a:r>
            <a:r>
              <a:rPr lang="en-US" sz="1600" err="1">
                <a:ea typeface="Open Sans"/>
                <a:cs typeface="Open Sans"/>
              </a:rPr>
              <a:t>perlu</a:t>
            </a:r>
            <a:r>
              <a:rPr lang="en-US" sz="1600">
                <a:ea typeface="Open Sans"/>
                <a:cs typeface="Open Sans"/>
              </a:rPr>
              <a:t> di-</a:t>
            </a:r>
            <a:r>
              <a:rPr lang="en-US" sz="1600" i="1">
                <a:ea typeface="Open Sans"/>
                <a:cs typeface="Open Sans"/>
              </a:rPr>
              <a:t>record </a:t>
            </a:r>
            <a:r>
              <a:rPr lang="en-US" sz="1600" err="1">
                <a:ea typeface="Open Sans"/>
                <a:cs typeface="Open Sans"/>
              </a:rPr>
              <a:t>adalah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i="1">
                <a:ea typeface="Open Sans"/>
                <a:cs typeface="Open Sans"/>
              </a:rPr>
              <a:t>video camera, audio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b="1" i="1">
                <a:ea typeface="Open Sans"/>
                <a:cs typeface="Open Sans"/>
              </a:rPr>
              <a:t>screen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online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err="1">
                <a:ea typeface="Open Sans"/>
                <a:cs typeface="Open Sans"/>
              </a:rPr>
              <a:t>Siapkan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folder OneDrive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backup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b="1" err="1">
                <a:ea typeface="Open Sans"/>
                <a:cs typeface="Open Sans"/>
              </a:rPr>
              <a:t>masukkan</a:t>
            </a:r>
            <a:r>
              <a:rPr lang="en-US" sz="1600" b="1">
                <a:ea typeface="Open Sans"/>
                <a:cs typeface="Open Sans"/>
              </a:rPr>
              <a:t> link folder </a:t>
            </a:r>
            <a:r>
              <a:rPr lang="en-US" sz="1600" b="1" err="1">
                <a:ea typeface="Open Sans"/>
                <a:cs typeface="Open Sans"/>
              </a:rPr>
              <a:t>ke</a:t>
            </a:r>
            <a:r>
              <a:rPr lang="en-US" sz="1600" b="1">
                <a:ea typeface="Open Sans"/>
                <a:cs typeface="Open Sans"/>
              </a:rPr>
              <a:t> form</a:t>
            </a:r>
            <a:r>
              <a:rPr lang="en-US" sz="1600">
                <a:ea typeface="Open Sans"/>
                <a:cs typeface="Open Sans"/>
              </a:rPr>
              <a:t> backup </a:t>
            </a:r>
            <a:r>
              <a:rPr lang="en-US" sz="1600" b="1">
                <a:ea typeface="Open Sans"/>
                <a:cs typeface="Open Sans"/>
              </a:rPr>
              <a:t>di </a:t>
            </a:r>
            <a:r>
              <a:rPr lang="en-US" sz="1600" b="1" err="1">
                <a:ea typeface="Open Sans"/>
                <a:cs typeface="Open Sans"/>
              </a:rPr>
              <a:t>awal</a:t>
            </a:r>
            <a:r>
              <a:rPr lang="en-US" sz="1600" b="1">
                <a:ea typeface="Open Sans"/>
                <a:cs typeface="Open Sans"/>
              </a:rPr>
              <a:t> quiz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err="1">
                <a:ea typeface="Open Sans"/>
                <a:cs typeface="Open Sans"/>
              </a:rPr>
              <a:t>terlepas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dari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ada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tidaknya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kendala</a:t>
            </a:r>
            <a:r>
              <a:rPr lang="en-US" sz="1600">
                <a:ea typeface="Open Sans"/>
                <a:cs typeface="Open Sans"/>
              </a:rPr>
              <a:t> pada </a:t>
            </a:r>
            <a:r>
              <a:rPr lang="en-US" sz="1600" err="1">
                <a:ea typeface="Open Sans"/>
                <a:cs typeface="Open Sans"/>
              </a:rPr>
              <a:t>sistem</a:t>
            </a:r>
            <a:r>
              <a:rPr lang="en-US" sz="160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168653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753" y="1470381"/>
            <a:ext cx="8064561" cy="50739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600"/>
              <a:t>Saat TM </a:t>
            </a:r>
            <a:r>
              <a:rPr lang="en-US" sz="1600" err="1"/>
              <a:t>dimulai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/>
              <a:t>WAJIB men-</a:t>
            </a:r>
            <a:r>
              <a:rPr lang="en-US" sz="1600" b="1" i="1"/>
              <a:t>download</a:t>
            </a:r>
            <a:r>
              <a:rPr lang="en-US" sz="1600" b="1"/>
              <a:t> </a:t>
            </a:r>
            <a:r>
              <a:rPr lang="en-US" sz="1600" b="1" err="1"/>
              <a:t>soal</a:t>
            </a:r>
            <a:r>
              <a:rPr lang="en-US" sz="1600" b="1"/>
              <a:t> </a:t>
            </a:r>
            <a:r>
              <a:rPr lang="en-US" sz="1600" b="1" err="1"/>
              <a:t>secara</a:t>
            </a:r>
            <a:r>
              <a:rPr lang="en-US" sz="1600" b="1"/>
              <a:t> </a:t>
            </a:r>
            <a:r>
              <a:rPr lang="en-US" sz="1600" b="1" err="1"/>
              <a:t>mandiri</a:t>
            </a:r>
            <a:r>
              <a:rPr lang="en-US" sz="1600" b="1"/>
              <a:t> </a:t>
            </a:r>
            <a:r>
              <a:rPr lang="en-US" sz="1600" err="1"/>
              <a:t>melalui</a:t>
            </a:r>
            <a:r>
              <a:rPr lang="en-US" sz="1600"/>
              <a:t> web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ditentukan</a:t>
            </a:r>
            <a:r>
              <a:rPr lang="en-US" sz="1600"/>
              <a:t> dan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b="1" err="1"/>
              <a:t>konfirmasi</a:t>
            </a:r>
            <a:r>
              <a:rPr lang="en-US" sz="1600" b="1"/>
              <a:t> </a:t>
            </a:r>
            <a:r>
              <a:rPr lang="en-US" sz="1600" b="1" err="1"/>
              <a:t>dengan</a:t>
            </a:r>
            <a:r>
              <a:rPr lang="en-US" sz="1600" b="1"/>
              <a:t> </a:t>
            </a:r>
            <a:r>
              <a:rPr lang="en-US" sz="1600" b="1" err="1"/>
              <a:t>pengawas</a:t>
            </a:r>
            <a:r>
              <a:rPr lang="en-US" sz="1600"/>
              <a:t>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yang </a:t>
            </a:r>
            <a:r>
              <a:rPr lang="en-US" sz="1600" err="1"/>
              <a:t>dikerjakan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b="1" err="1">
                <a:ea typeface="Open Sans"/>
                <a:cs typeface="Open Sans"/>
              </a:rPr>
              <a:t>Mahasiswa</a:t>
            </a:r>
            <a:r>
              <a:rPr lang="en-US" sz="1600" b="1">
                <a:ea typeface="Open Sans"/>
                <a:cs typeface="Open Sans"/>
              </a:rPr>
              <a:t> WAJIB  </a:t>
            </a:r>
            <a:r>
              <a:rPr lang="en-US" sz="1600" err="1">
                <a:ea typeface="Open Sans"/>
                <a:cs typeface="Open Sans"/>
              </a:rPr>
              <a:t>melakukan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i="1">
                <a:ea typeface="Open Sans"/>
                <a:cs typeface="Open Sans"/>
              </a:rPr>
              <a:t>save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secara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mandiri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b="1" i="1">
                <a:ea typeface="Open Sans"/>
                <a:cs typeface="Open Sans"/>
              </a:rPr>
              <a:t>Save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WAJIB  </a:t>
            </a:r>
            <a:r>
              <a:rPr lang="en-US" sz="1600" err="1">
                <a:ea typeface="Open Sans"/>
                <a:cs typeface="Open Sans"/>
              </a:rPr>
              <a:t>dilakukan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sebelum</a:t>
            </a:r>
            <a:r>
              <a:rPr lang="en-US" sz="1600" b="1">
                <a:ea typeface="Open Sans"/>
                <a:cs typeface="Open Sans"/>
              </a:rPr>
              <a:t> file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 b="1">
                <a:ea typeface="Open Sans"/>
                <a:cs typeface="Open Sans"/>
              </a:rPr>
              <a:t> di-</a:t>
            </a:r>
            <a:r>
              <a:rPr lang="en-US" sz="1600" b="1" i="1">
                <a:ea typeface="Open Sans"/>
                <a:cs typeface="Open Sans"/>
              </a:rPr>
              <a:t>compress </a:t>
            </a:r>
            <a:r>
              <a:rPr lang="en-US" sz="1600" b="1">
                <a:ea typeface="Open Sans"/>
                <a:cs typeface="Open Sans"/>
              </a:rPr>
              <a:t>(.zip)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dihimbau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melakukan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i="1">
                <a:ea typeface="Open Sans"/>
                <a:cs typeface="Open Sans"/>
              </a:rPr>
              <a:t>save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secara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berkala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mencegah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hal-hal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tidak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diinginkan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terjadi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Setelah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mengumpulkan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WAJIB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mendownload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kembali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sudah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terkumpul</a:t>
            </a:r>
            <a:r>
              <a:rPr lang="en-US" sz="1600">
                <a:ea typeface="Open Sans"/>
                <a:cs typeface="Open Sans"/>
              </a:rPr>
              <a:t>, </a:t>
            </a:r>
            <a:r>
              <a:rPr lang="en-US" sz="1600" err="1">
                <a:ea typeface="Open Sans"/>
                <a:cs typeface="Open Sans"/>
              </a:rPr>
              <a:t>lalu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membukanya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memastikan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isinya</a:t>
            </a:r>
            <a:r>
              <a:rPr lang="en-US" sz="1600">
                <a:ea typeface="Open Sans"/>
                <a:cs typeface="Open Sans"/>
              </a:rPr>
              <a:t>  </a:t>
            </a:r>
            <a:r>
              <a:rPr lang="en-US" sz="1600" err="1">
                <a:ea typeface="Open Sans"/>
                <a:cs typeface="Open Sans"/>
              </a:rPr>
              <a:t>tidak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hilang</a:t>
            </a:r>
            <a:r>
              <a:rPr lang="en-US" sz="1600">
                <a:ea typeface="Open Sans"/>
                <a:cs typeface="Open Sans"/>
              </a:rPr>
              <a:t>/ </a:t>
            </a:r>
            <a:r>
              <a:rPr lang="en-US" sz="1600" i="1">
                <a:ea typeface="Open Sans"/>
                <a:cs typeface="Open Sans"/>
              </a:rPr>
              <a:t>corrupt</a:t>
            </a:r>
            <a:r>
              <a:rPr lang="en-US" sz="160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3205935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531D5-A380-3702-1ED8-24D3889B7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1F340-120A-F897-53B2-A7287B42F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WAJIB </a:t>
            </a:r>
            <a:r>
              <a:rPr lang="en-US" sz="1600" b="1" err="1">
                <a:ea typeface="Open Sans"/>
                <a:cs typeface="Open Sans"/>
              </a:rPr>
              <a:t>mengecek</a:t>
            </a:r>
            <a:r>
              <a:rPr lang="en-US" sz="1600" b="1">
                <a:ea typeface="Open Sans"/>
                <a:cs typeface="Open Sans"/>
              </a:rPr>
              <a:t> file size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ujian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sudah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>
                <a:ea typeface="Open Sans"/>
                <a:cs typeface="Open Sans"/>
              </a:rPr>
              <a:t> di website.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saat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didownload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err="1">
                <a:ea typeface="Open Sans"/>
                <a:cs typeface="Open Sans"/>
              </a:rPr>
              <a:t>keterangan</a:t>
            </a:r>
            <a:r>
              <a:rPr lang="en-US" sz="1600">
                <a:ea typeface="Open Sans"/>
                <a:cs typeface="Open Sans"/>
              </a:rPr>
              <a:t> file size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terdata</a:t>
            </a:r>
            <a:r>
              <a:rPr lang="en-US" sz="1600" b="1">
                <a:ea typeface="Open Sans"/>
                <a:cs typeface="Open Sans"/>
              </a:rPr>
              <a:t> 0 kb </a:t>
            </a:r>
            <a:r>
              <a:rPr lang="en-US" sz="1600" b="1" err="1">
                <a:ea typeface="Open Sans"/>
                <a:cs typeface="Open Sans"/>
              </a:rPr>
              <a:t>atau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sesuai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seharusnya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b="1" err="1">
                <a:ea typeface="Open Sans"/>
                <a:cs typeface="Open Sans"/>
              </a:rPr>
              <a:t>segera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informasikan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kepada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asisten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pengajar</a:t>
            </a:r>
            <a:r>
              <a:rPr lang="en-US" sz="1600">
                <a:ea typeface="Open Sans"/>
                <a:cs typeface="Open Sans"/>
              </a:rPr>
              <a:t>.</a:t>
            </a:r>
            <a:endParaRPr lang="en-US"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</a:pPr>
            <a:r>
              <a:rPr lang="en-US" sz="1600" b="1">
                <a:ea typeface="Open Sans"/>
                <a:cs typeface="Open Sans"/>
              </a:rPr>
              <a:t>Segala </a:t>
            </a:r>
            <a:r>
              <a:rPr lang="en-US" sz="1600" b="1" err="1">
                <a:ea typeface="Open Sans"/>
                <a:cs typeface="Open Sans"/>
              </a:rPr>
              <a:t>bentuk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kehilangan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sebagian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atau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seluruh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dikarenakanmahasiswa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 save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adalah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tanggung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jawab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.</a:t>
            </a:r>
            <a:endParaRPr lang="en-US"/>
          </a:p>
          <a:p>
            <a:pPr marL="285750" indent="-285750"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Perlu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diperhatikan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bahwa</a:t>
            </a:r>
            <a:r>
              <a:rPr lang="en-US" sz="1600">
                <a:ea typeface="Open Sans"/>
                <a:cs typeface="Open Sans"/>
              </a:rPr>
              <a:t> di </a:t>
            </a:r>
            <a:r>
              <a:rPr lang="en-US" sz="1600" err="1">
                <a:ea typeface="Open Sans"/>
                <a:cs typeface="Open Sans"/>
              </a:rPr>
              <a:t>aplikasi</a:t>
            </a:r>
            <a:r>
              <a:rPr lang="en-US" sz="1600">
                <a:ea typeface="Open Sans"/>
                <a:cs typeface="Open Sans"/>
              </a:rPr>
              <a:t> Visual Studio Code, 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boleh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sembarang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mengganti</a:t>
            </a:r>
            <a:r>
              <a:rPr lang="en-US" sz="1600" b="1">
                <a:ea typeface="Open Sans"/>
                <a:cs typeface="Open Sans"/>
              </a:rPr>
              <a:t> extension yang </a:t>
            </a:r>
            <a:r>
              <a:rPr lang="en-US" sz="1600" b="1" err="1">
                <a:ea typeface="Open Sans"/>
                <a:cs typeface="Open Sans"/>
              </a:rPr>
              <a:t>digunakan</a:t>
            </a:r>
            <a:r>
              <a:rPr lang="en-US" sz="1600">
                <a:ea typeface="Open Sans"/>
                <a:cs typeface="Open Sans"/>
              </a:rPr>
              <a:t> (</a:t>
            </a:r>
            <a:r>
              <a:rPr lang="en-US" sz="1600" err="1">
                <a:ea typeface="Open Sans"/>
                <a:cs typeface="Open Sans"/>
              </a:rPr>
              <a:t>misal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dari</a:t>
            </a:r>
            <a:r>
              <a:rPr lang="en-US" sz="1600">
                <a:ea typeface="Open Sans"/>
                <a:cs typeface="Open Sans"/>
              </a:rPr>
              <a:t> .</a:t>
            </a:r>
            <a:r>
              <a:rPr lang="en-US" sz="1600" err="1">
                <a:ea typeface="Open Sans"/>
                <a:cs typeface="Open Sans"/>
              </a:rPr>
              <a:t>py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langsung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diubah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menjadi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ipynb</a:t>
            </a:r>
            <a:r>
              <a:rPr lang="en-US" sz="1600">
                <a:ea typeface="Open Sans"/>
                <a:cs typeface="Open Sans"/>
              </a:rPr>
              <a:t>). Aksi </a:t>
            </a:r>
            <a:r>
              <a:rPr lang="en-US" sz="1600" err="1">
                <a:ea typeface="Open Sans"/>
                <a:cs typeface="Open Sans"/>
              </a:rPr>
              <a:t>ini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dapat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menyebabkan</a:t>
            </a:r>
            <a:r>
              <a:rPr lang="en-US" sz="1600" b="1">
                <a:ea typeface="Open Sans"/>
                <a:cs typeface="Open Sans"/>
              </a:rPr>
              <a:t> code </a:t>
            </a:r>
            <a:r>
              <a:rPr lang="en-US" sz="1600" b="1" err="1">
                <a:ea typeface="Open Sans"/>
                <a:cs typeface="Open Sans"/>
              </a:rPr>
              <a:t>hilang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>
                <a:ea typeface="Open Sans"/>
                <a:cs typeface="Open Sans"/>
              </a:rPr>
              <a:t>WAJIB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log out</a:t>
            </a:r>
            <a:r>
              <a:rPr lang="en-US" sz="1600">
                <a:ea typeface="Open Sans"/>
                <a:cs typeface="Open Sans"/>
              </a:rPr>
              <a:t> website </a:t>
            </a:r>
            <a:r>
              <a:rPr lang="en-US" sz="1600" err="1">
                <a:ea typeface="Open Sans"/>
                <a:cs typeface="Open Sans"/>
              </a:rPr>
              <a:t>pengumpulan</a:t>
            </a:r>
            <a:r>
              <a:rPr lang="en-US" sz="1600">
                <a:ea typeface="Open Sans"/>
                <a:cs typeface="Open Sans"/>
              </a:rPr>
              <a:t> TM/</a:t>
            </a:r>
            <a:r>
              <a:rPr lang="en-US" sz="1600" err="1">
                <a:ea typeface="Open Sans"/>
                <a:cs typeface="Open Sans"/>
              </a:rPr>
              <a:t>ujian</a:t>
            </a:r>
            <a:r>
              <a:rPr lang="en-US" sz="1600">
                <a:ea typeface="Open Sans"/>
                <a:cs typeface="Open Sans"/>
              </a:rPr>
              <a:t>/project </a:t>
            </a:r>
            <a:r>
              <a:rPr lang="en-US" sz="1600" err="1">
                <a:ea typeface="Open Sans"/>
                <a:cs typeface="Open Sans"/>
              </a:rPr>
              <a:t>setelah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selesai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melakukan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aktivitas</a:t>
            </a:r>
            <a:r>
              <a:rPr lang="en-US" sz="1600">
                <a:ea typeface="Open Sans"/>
                <a:cs typeface="Open Sans"/>
              </a:rPr>
              <a:t> TM/</a:t>
            </a:r>
            <a:r>
              <a:rPr lang="en-US" sz="1600" err="1">
                <a:ea typeface="Open Sans"/>
                <a:cs typeface="Open Sans"/>
              </a:rPr>
              <a:t>ujian</a:t>
            </a:r>
            <a:r>
              <a:rPr lang="en-US" sz="1600">
                <a:ea typeface="Open Sans"/>
                <a:cs typeface="Open Sans"/>
              </a:rPr>
              <a:t>/project.</a:t>
            </a:r>
          </a:p>
          <a:p>
            <a:pPr marL="285750" indent="-285750" algn="just">
              <a:lnSpc>
                <a:spcPct val="150000"/>
              </a:lnSpc>
            </a:pPr>
            <a:endParaRPr lang="en-US" sz="1600">
              <a:highlight>
                <a:srgbClr val="00FF00"/>
              </a:highlight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462170-4EC2-9038-18C2-7CDB077A20D1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534689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781A7-0B64-EBA1-59D1-F5E88F666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err="1">
                <a:ea typeface="Open Sans"/>
                <a:cs typeface="Open Sans"/>
              </a:rPr>
              <a:t>Prosedur</a:t>
            </a:r>
            <a:r>
              <a:rPr lang="en-US">
                <a:ea typeface="Open Sans"/>
                <a:cs typeface="Open Sans"/>
              </a:rPr>
              <a:t> </a:t>
            </a:r>
            <a:r>
              <a:rPr lang="en-US" err="1">
                <a:ea typeface="Open Sans"/>
                <a:cs typeface="Open Sans"/>
              </a:rPr>
              <a:t>Pelaksanaan</a:t>
            </a:r>
            <a:r>
              <a:rPr lang="en-US">
                <a:ea typeface="Open Sans"/>
                <a:cs typeface="Open Sans"/>
              </a:rPr>
              <a:t> TM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9C592-DF58-3D55-CBE1-AACEB2B03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27" y="1519006"/>
            <a:ext cx="8235171" cy="486670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500" err="1">
                <a:ea typeface="Open Sans"/>
                <a:cs typeface="Open Sans"/>
              </a:rPr>
              <a:t>Untuk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mata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kuliah</a:t>
            </a:r>
            <a:r>
              <a:rPr lang="en-US" sz="1500">
                <a:ea typeface="Open Sans"/>
                <a:cs typeface="Open Sans"/>
              </a:rPr>
              <a:t> yang </a:t>
            </a:r>
            <a:r>
              <a:rPr lang="en-US" sz="1500" err="1">
                <a:ea typeface="Open Sans"/>
                <a:cs typeface="Open Sans"/>
              </a:rPr>
              <a:t>memiliki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berkelompok</a:t>
            </a:r>
            <a:r>
              <a:rPr lang="en-US" sz="1500">
                <a:ea typeface="Open Sans"/>
                <a:cs typeface="Open Sans"/>
              </a:rPr>
              <a:t>. </a:t>
            </a:r>
            <a:r>
              <a:rPr lang="en-US" sz="1500" err="1">
                <a:ea typeface="Open Sans"/>
                <a:cs typeface="Open Sans"/>
              </a:rPr>
              <a:t>Tolong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perhatikan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hal-hal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berikut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ini</a:t>
            </a:r>
            <a:r>
              <a:rPr lang="en-US" sz="1500">
                <a:ea typeface="Open Sans"/>
                <a:cs typeface="Open Sans"/>
              </a:rPr>
              <a:t>: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>
                <a:ea typeface="Open Sans"/>
                <a:cs typeface="Open Sans"/>
              </a:rPr>
              <a:t>Proses </a:t>
            </a:r>
            <a:r>
              <a:rPr lang="en-US" sz="1500" err="1">
                <a:ea typeface="Open Sans"/>
                <a:cs typeface="Open Sans"/>
              </a:rPr>
              <a:t>pembentukan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dapat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dilakukan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sejak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pertemuan</a:t>
            </a:r>
            <a:r>
              <a:rPr lang="en-US" sz="1500">
                <a:ea typeface="Open Sans"/>
                <a:cs typeface="Open Sans"/>
              </a:rPr>
              <a:t> 1 </a:t>
            </a:r>
            <a:r>
              <a:rPr lang="en-US" sz="1500" err="1">
                <a:ea typeface="Open Sans"/>
                <a:cs typeface="Open Sans"/>
              </a:rPr>
              <a:t>hingga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pertemuan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sebelum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>
                <a:ea typeface="Open Sans"/>
                <a:cs typeface="Open Sans"/>
              </a:rPr>
              <a:t>Pada </a:t>
            </a:r>
            <a:r>
              <a:rPr lang="en-US" sz="1500" b="1" err="1">
                <a:ea typeface="Open Sans"/>
                <a:cs typeface="Open Sans"/>
              </a:rPr>
              <a:t>pertemuan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sebelum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kuis</a:t>
            </a:r>
            <a:r>
              <a:rPr lang="en-US" sz="150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apabila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masih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ada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mahasiswa</a:t>
            </a:r>
            <a:r>
              <a:rPr lang="en-US" sz="1500">
                <a:ea typeface="Open Sans"/>
                <a:cs typeface="Open Sans"/>
              </a:rPr>
              <a:t> yang </a:t>
            </a:r>
            <a:r>
              <a:rPr lang="en-US" sz="1500" err="1">
                <a:ea typeface="Open Sans"/>
                <a:cs typeface="Open Sans"/>
              </a:rPr>
              <a:t>belum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mendapatkan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mahasiswa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tersebut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diperkenankan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untuk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menghubungi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kelompok</a:t>
            </a:r>
            <a:r>
              <a:rPr lang="en-US" sz="1500" b="1">
                <a:ea typeface="Open Sans"/>
                <a:cs typeface="Open Sans"/>
              </a:rPr>
              <a:t> yang </a:t>
            </a:r>
            <a:r>
              <a:rPr lang="en-US" sz="1500" b="1" err="1">
                <a:ea typeface="Open Sans"/>
                <a:cs typeface="Open Sans"/>
              </a:rPr>
              <a:t>masih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memiliki</a:t>
            </a:r>
            <a:r>
              <a:rPr lang="en-US" sz="1500" b="1">
                <a:ea typeface="Open Sans"/>
                <a:cs typeface="Open Sans"/>
              </a:rPr>
              <a:t> slot </a:t>
            </a:r>
            <a:r>
              <a:rPr lang="en-US" sz="1500" b="1" err="1">
                <a:ea typeface="Open Sans"/>
                <a:cs typeface="Open Sans"/>
              </a:rPr>
              <a:t>anggota</a:t>
            </a:r>
            <a:r>
              <a:rPr lang="en-US" sz="1500">
                <a:ea typeface="Open Sans"/>
                <a:cs typeface="Open Sans"/>
              </a:rPr>
              <a:t> guna </a:t>
            </a:r>
            <a:r>
              <a:rPr lang="en-US" sz="1500" err="1">
                <a:ea typeface="Open Sans"/>
                <a:cs typeface="Open Sans"/>
              </a:rPr>
              <a:t>menanyakan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kemungkinan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bergabung</a:t>
            </a:r>
            <a:r>
              <a:rPr lang="en-US" sz="1500">
                <a:ea typeface="Open Sans"/>
                <a:cs typeface="Open Sans"/>
              </a:rPr>
              <a:t>. </a:t>
            </a:r>
            <a:r>
              <a:rPr lang="en-US" sz="1500" err="1">
                <a:ea typeface="Open Sans"/>
                <a:cs typeface="Open Sans"/>
              </a:rPr>
              <a:t>Apabila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tidak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ada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mahasiswa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atau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>
                <a:ea typeface="Open Sans"/>
                <a:cs typeface="Open Sans"/>
              </a:rPr>
              <a:t> yang </a:t>
            </a:r>
            <a:r>
              <a:rPr lang="en-US" sz="1500" err="1">
                <a:ea typeface="Open Sans"/>
                <a:cs typeface="Open Sans"/>
              </a:rPr>
              <a:t>bersedia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melakukan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penyesuaian</a:t>
            </a:r>
            <a:r>
              <a:rPr lang="en-US" sz="150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maka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pembentukan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kelompok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akan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dilakukan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secara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acak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dengan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mahasiswa</a:t>
            </a:r>
            <a:r>
              <a:rPr lang="en-US" sz="1500" b="1">
                <a:ea typeface="Open Sans"/>
                <a:cs typeface="Open Sans"/>
              </a:rPr>
              <a:t> lain yang juga </a:t>
            </a:r>
            <a:r>
              <a:rPr lang="en-US" sz="1500" b="1" err="1">
                <a:ea typeface="Open Sans"/>
                <a:cs typeface="Open Sans"/>
              </a:rPr>
              <a:t>belum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berhasil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membentuk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kelompok</a:t>
            </a:r>
            <a:r>
              <a:rPr lang="en-US" sz="1500" b="1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hingga</a:t>
            </a:r>
            <a:r>
              <a:rPr lang="en-US" sz="1500" b="1">
                <a:ea typeface="Open Sans"/>
                <a:cs typeface="Open Sans"/>
              </a:rPr>
              <a:t> batas </a:t>
            </a:r>
            <a:r>
              <a:rPr lang="en-US" sz="1500" b="1" err="1">
                <a:ea typeface="Open Sans"/>
                <a:cs typeface="Open Sans"/>
              </a:rPr>
              <a:t>waktu</a:t>
            </a:r>
            <a:r>
              <a:rPr lang="en-US" sz="1500" b="1">
                <a:ea typeface="Open Sans"/>
                <a:cs typeface="Open Sans"/>
              </a:rPr>
              <a:t> yang </a:t>
            </a:r>
            <a:r>
              <a:rPr lang="en-US" sz="1500" b="1" err="1">
                <a:ea typeface="Open Sans"/>
                <a:cs typeface="Open Sans"/>
              </a:rPr>
              <a:t>ditentukan</a:t>
            </a:r>
            <a:r>
              <a:rPr lang="en-US" sz="1500">
                <a:ea typeface="Open Sans"/>
                <a:cs typeface="Open Sans"/>
              </a:rPr>
              <a:t>. 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>
                <a:ea typeface="Open Sans"/>
                <a:cs typeface="Open Sans"/>
              </a:rPr>
              <a:t>Dalam proses </a:t>
            </a:r>
            <a:r>
              <a:rPr lang="en-US" sz="1500" err="1">
                <a:ea typeface="Open Sans"/>
                <a:cs typeface="Open Sans"/>
              </a:rPr>
              <a:t>pengacakan</a:t>
            </a:r>
            <a:r>
              <a:rPr lang="en-US" sz="150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terdapat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kemungkinan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terbentuk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dengan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hanya</a:t>
            </a:r>
            <a:r>
              <a:rPr lang="en-US" sz="1500">
                <a:ea typeface="Open Sans"/>
                <a:cs typeface="Open Sans"/>
              </a:rPr>
              <a:t> </a:t>
            </a:r>
            <a:r>
              <a:rPr lang="en-US" sz="1500" b="1">
                <a:ea typeface="Open Sans"/>
                <a:cs typeface="Open Sans"/>
              </a:rPr>
              <a:t>1 </a:t>
            </a:r>
            <a:r>
              <a:rPr lang="en-US" sz="1500" b="1" err="1">
                <a:ea typeface="Open Sans"/>
                <a:cs typeface="Open Sans"/>
              </a:rPr>
              <a:t>anggota</a:t>
            </a:r>
            <a:r>
              <a:rPr lang="en-US" sz="1500">
                <a:ea typeface="Open Sans"/>
                <a:cs typeface="Open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7672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F7DF-5333-75DC-0359-3B368760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CC94-ABF6-5C64-30E1-C97ABB33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err="1">
                <a:ea typeface="Open Sans"/>
                <a:cs typeface="Open Sans"/>
              </a:rPr>
              <a:t>Prosedur</a:t>
            </a:r>
            <a:r>
              <a:rPr lang="en-US">
                <a:ea typeface="Open Sans"/>
                <a:cs typeface="Open Sans"/>
              </a:rPr>
              <a:t> </a:t>
            </a:r>
            <a:r>
              <a:rPr lang="en-US" err="1">
                <a:ea typeface="Open Sans"/>
                <a:cs typeface="Open Sans"/>
              </a:rPr>
              <a:t>Pelaksanaan</a:t>
            </a:r>
            <a:r>
              <a:rPr lang="en-US">
                <a:ea typeface="Open Sans"/>
                <a:cs typeface="Open Sans"/>
              </a:rPr>
              <a:t> TM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DCD9D-A000-4627-6D3D-050D1036E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27" y="1519006"/>
            <a:ext cx="8235171" cy="486670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500">
                <a:ea typeface="Open Sans"/>
                <a:cs typeface="Open Sans"/>
              </a:rPr>
              <a:t>Untuk mata kuliah yang memiliki kuis berkelompok. Tolong perhatikan hal-hal berikut ini (cont.):</a:t>
            </a:r>
            <a:endParaRPr lang="en-US"/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>
                <a:ea typeface="Open Sans"/>
                <a:cs typeface="Open Sans"/>
              </a:rPr>
              <a:t>Proses </a:t>
            </a:r>
            <a:r>
              <a:rPr lang="en-US" sz="1500" b="1">
                <a:ea typeface="Open Sans"/>
                <a:cs typeface="Open Sans"/>
              </a:rPr>
              <a:t>pengacakan kelompok</a:t>
            </a:r>
            <a:r>
              <a:rPr lang="en-US" sz="1500">
                <a:ea typeface="Open Sans"/>
                <a:cs typeface="Open Sans"/>
              </a:rPr>
              <a:t> hanya akan dilakukan </a:t>
            </a:r>
            <a:r>
              <a:rPr lang="en-US" sz="1500" b="1">
                <a:ea typeface="Open Sans"/>
                <a:cs typeface="Open Sans"/>
              </a:rPr>
              <a:t>1 kali</a:t>
            </a:r>
            <a:r>
              <a:rPr lang="en-US" sz="15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>
                <a:ea typeface="Open Sans"/>
                <a:cs typeface="Open Sans"/>
              </a:rPr>
              <a:t>Setelah batas pendataan berakhir, mahasiswa </a:t>
            </a:r>
            <a:r>
              <a:rPr lang="en-US" sz="1500" b="1">
                <a:ea typeface="Open Sans"/>
                <a:cs typeface="Open Sans"/>
              </a:rPr>
              <a:t>tidak boleh mengubah anggota kelompok</a:t>
            </a:r>
            <a:r>
              <a:rPr lang="en-US" sz="1500">
                <a:ea typeface="Open Sans"/>
                <a:cs typeface="Open Sans"/>
              </a:rPr>
              <a:t> yang telah terbentuk.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>
                <a:ea typeface="Open Sans"/>
                <a:cs typeface="Open Sans"/>
              </a:rPr>
              <a:t>Untuk mata kuliah yang </a:t>
            </a:r>
            <a:r>
              <a:rPr lang="en-US" sz="1500" b="1">
                <a:ea typeface="Open Sans"/>
                <a:cs typeface="Open Sans"/>
              </a:rPr>
              <a:t>memiliki 2 penilaian kuis</a:t>
            </a:r>
            <a:r>
              <a:rPr lang="en-US" sz="1500">
                <a:ea typeface="Open Sans"/>
                <a:cs typeface="Open Sans"/>
              </a:rPr>
              <a:t>, mahasiswa </a:t>
            </a:r>
            <a:r>
              <a:rPr lang="en-US" sz="1500" b="1">
                <a:ea typeface="Open Sans"/>
                <a:cs typeface="Open Sans"/>
              </a:rPr>
              <a:t>diperbolehkan</a:t>
            </a:r>
            <a:r>
              <a:rPr lang="en-US" sz="1500">
                <a:ea typeface="Open Sans"/>
                <a:cs typeface="Open Sans"/>
              </a:rPr>
              <a:t> mengganti anggota kelompok untuk kuis kedua. Proses penggantian dapat dilakukan setelah kuis pertama berakhir hingga pertemuan sebelum kuis kedua. 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b="1">
                <a:ea typeface="Open Sans"/>
                <a:cs typeface="Open Sans"/>
              </a:rPr>
              <a:t>Jika tidak ada perubahan</a:t>
            </a:r>
            <a:r>
              <a:rPr lang="en-US" sz="1500">
                <a:ea typeface="Open Sans"/>
                <a:cs typeface="Open Sans"/>
              </a:rPr>
              <a:t> anggota kelompok setelah kuis pertama, maka kelompok untuk kuis kedua akan </a:t>
            </a:r>
            <a:r>
              <a:rPr lang="en-US" sz="1500" b="1">
                <a:ea typeface="Open Sans"/>
                <a:cs typeface="Open Sans"/>
              </a:rPr>
              <a:t>disamakan</a:t>
            </a:r>
            <a:r>
              <a:rPr lang="en-US" sz="1500">
                <a:ea typeface="Open Sans"/>
                <a:cs typeface="Open Sans"/>
              </a:rPr>
              <a:t> seperti kuis pertama.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endParaRPr lang="en-US" sz="1500">
              <a:ea typeface="Open Sans"/>
              <a:cs typeface="Open Sans"/>
            </a:endParaRPr>
          </a:p>
          <a:p>
            <a:pPr lvl="1">
              <a:buFont typeface="Courier New" pitchFamily="34" charset="0"/>
              <a:buChar char="o"/>
            </a:pPr>
            <a:endParaRPr lang="en-US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97357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9D975-8F0E-3819-FE05-9C340DAD8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4EF64-FE64-C576-9BD9-37DC4931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err="1">
                <a:ea typeface="Open Sans"/>
                <a:cs typeface="Open Sans"/>
              </a:rPr>
              <a:t>Prosedur</a:t>
            </a:r>
            <a:r>
              <a:rPr lang="en-US">
                <a:ea typeface="Open Sans"/>
                <a:cs typeface="Open Sans"/>
              </a:rPr>
              <a:t> </a:t>
            </a:r>
            <a:r>
              <a:rPr lang="en-US" err="1">
                <a:ea typeface="Open Sans"/>
                <a:cs typeface="Open Sans"/>
              </a:rPr>
              <a:t>Pelaksanaan</a:t>
            </a:r>
            <a:r>
              <a:rPr lang="en-US">
                <a:ea typeface="Open Sans"/>
                <a:cs typeface="Open Sans"/>
              </a:rPr>
              <a:t> TM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BBB84-5231-D393-B4C6-796B8DDAF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27" y="1519006"/>
            <a:ext cx="8235171" cy="486670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500">
                <a:ea typeface="Open Sans"/>
                <a:cs typeface="Open Sans"/>
              </a:rPr>
              <a:t>Untuk mata kuliah yang memiliki kuis berkelompok. Tolong perhatikan hal-hal berikut ini (cont.):</a:t>
            </a:r>
            <a:endParaRPr lang="en-US"/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>
                <a:ea typeface="Open Sans"/>
                <a:cs typeface="Open Sans"/>
              </a:rPr>
              <a:t>Proses </a:t>
            </a:r>
            <a:r>
              <a:rPr lang="en-US" sz="1500" b="1">
                <a:ea typeface="Open Sans"/>
                <a:cs typeface="Open Sans"/>
              </a:rPr>
              <a:t>pengacakan kelompok</a:t>
            </a:r>
            <a:r>
              <a:rPr lang="en-US" sz="1500">
                <a:ea typeface="Open Sans"/>
                <a:cs typeface="Open Sans"/>
              </a:rPr>
              <a:t> hanya akan dilakukan </a:t>
            </a:r>
            <a:r>
              <a:rPr lang="en-US" sz="1500" b="1">
                <a:ea typeface="Open Sans"/>
                <a:cs typeface="Open Sans"/>
              </a:rPr>
              <a:t>1 kali</a:t>
            </a:r>
            <a:r>
              <a:rPr lang="en-US" sz="15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>
                <a:ea typeface="Open Sans"/>
                <a:cs typeface="Open Sans"/>
              </a:rPr>
              <a:t>Setelah batas pendataan berakhir, mahasiswa </a:t>
            </a:r>
            <a:r>
              <a:rPr lang="en-US" sz="1500" b="1">
                <a:ea typeface="Open Sans"/>
                <a:cs typeface="Open Sans"/>
              </a:rPr>
              <a:t>tidak boleh mengubah anggota kelompok</a:t>
            </a:r>
            <a:r>
              <a:rPr lang="en-US" sz="1500">
                <a:ea typeface="Open Sans"/>
                <a:cs typeface="Open Sans"/>
              </a:rPr>
              <a:t> yang telah terbentuk.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>
                <a:ea typeface="Open Sans"/>
                <a:cs typeface="Open Sans"/>
              </a:rPr>
              <a:t>Untuk mata kuliah yang </a:t>
            </a:r>
            <a:r>
              <a:rPr lang="en-US" sz="1500" b="1">
                <a:ea typeface="Open Sans"/>
                <a:cs typeface="Open Sans"/>
              </a:rPr>
              <a:t>memiliki 2 penilaian kuis</a:t>
            </a:r>
            <a:r>
              <a:rPr lang="en-US" sz="1500">
                <a:ea typeface="Open Sans"/>
                <a:cs typeface="Open Sans"/>
              </a:rPr>
              <a:t>, mahasiswa </a:t>
            </a:r>
            <a:r>
              <a:rPr lang="en-US" sz="1500" b="1">
                <a:ea typeface="Open Sans"/>
                <a:cs typeface="Open Sans"/>
              </a:rPr>
              <a:t>diperbolehkan</a:t>
            </a:r>
            <a:r>
              <a:rPr lang="en-US" sz="1500">
                <a:ea typeface="Open Sans"/>
                <a:cs typeface="Open Sans"/>
              </a:rPr>
              <a:t> mengganti anggota kelompok untuk kuis kedua. Proses penggantian dapat dilakukan setelah kuis pertama berakhir hingga pertemuan sebelum kuis kedua. 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b="1">
                <a:ea typeface="Open Sans"/>
                <a:cs typeface="Open Sans"/>
              </a:rPr>
              <a:t>Jika tidak ada perubahan</a:t>
            </a:r>
            <a:r>
              <a:rPr lang="en-US" sz="1500">
                <a:ea typeface="Open Sans"/>
                <a:cs typeface="Open Sans"/>
              </a:rPr>
              <a:t> anggota kelompok setelah kuis pertama, maka kelompok untuk kuis kedua akan </a:t>
            </a:r>
            <a:r>
              <a:rPr lang="en-US" sz="1500" b="1">
                <a:ea typeface="Open Sans"/>
                <a:cs typeface="Open Sans"/>
              </a:rPr>
              <a:t>disamakan</a:t>
            </a:r>
            <a:r>
              <a:rPr lang="en-US" sz="1500">
                <a:ea typeface="Open Sans"/>
                <a:cs typeface="Open Sans"/>
              </a:rPr>
              <a:t> seperti kuis pertama.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hanya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dapat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membentuk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kelompok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dengan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mahasiswa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dari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kode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kelas</a:t>
            </a:r>
            <a:r>
              <a:rPr lang="en-US" sz="1400" b="1">
                <a:ea typeface="Open Sans"/>
                <a:cs typeface="Open Sans"/>
              </a:rPr>
              <a:t> yang </a:t>
            </a:r>
            <a:r>
              <a:rPr lang="en-US" sz="1400" b="1" err="1">
                <a:ea typeface="Open Sans"/>
                <a:cs typeface="Open Sans"/>
              </a:rPr>
              <a:t>sama</a:t>
            </a:r>
            <a:r>
              <a:rPr lang="en-US" sz="14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endParaRPr lang="en-US" sz="1500">
              <a:ea typeface="Open Sans"/>
              <a:cs typeface="Open Sans"/>
            </a:endParaRPr>
          </a:p>
          <a:p>
            <a:pPr lvl="1">
              <a:buFont typeface="Courier New" pitchFamily="34" charset="0"/>
              <a:buChar char="o"/>
            </a:pPr>
            <a:endParaRPr lang="en-US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070900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TM </a:t>
            </a:r>
            <a:r>
              <a:rPr lang="en-US" sz="1600" err="1"/>
              <a:t>apabila</a:t>
            </a:r>
            <a:r>
              <a:rPr lang="en-US" sz="16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/>
              <a:t>TM </a:t>
            </a:r>
            <a:r>
              <a:rPr lang="en-US" sz="1400" b="1" err="1"/>
              <a:t>belum</a:t>
            </a:r>
            <a:r>
              <a:rPr lang="en-US" sz="1400" b="1"/>
              <a:t> </a:t>
            </a:r>
            <a:r>
              <a:rPr lang="en-US" sz="1400" b="1" err="1"/>
              <a:t>berjalan</a:t>
            </a:r>
            <a:r>
              <a:rPr lang="en-US" sz="1400" b="1"/>
              <a:t> </a:t>
            </a:r>
            <a:r>
              <a:rPr lang="en-US" sz="1400" b="1" err="1"/>
              <a:t>selama</a:t>
            </a:r>
            <a:r>
              <a:rPr lang="en-US" sz="1400" b="1"/>
              <a:t> 30 </a:t>
            </a:r>
            <a:r>
              <a:rPr lang="en-US" sz="1400" b="1" err="1"/>
              <a:t>menit</a:t>
            </a:r>
            <a:r>
              <a:rPr lang="en-US" sz="1400" b="1"/>
              <a:t> </a:t>
            </a:r>
            <a:r>
              <a:rPr lang="en-US" sz="1400" err="1"/>
              <a:t>sejak</a:t>
            </a:r>
            <a:r>
              <a:rPr lang="en-US" sz="1400"/>
              <a:t> </a:t>
            </a:r>
            <a:r>
              <a:rPr lang="en-US" sz="1400" err="1"/>
              <a:t>dimulai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b="1" err="1"/>
              <a:t>belum</a:t>
            </a:r>
            <a:r>
              <a:rPr lang="en-US" sz="1400" b="1"/>
              <a:t> </a:t>
            </a:r>
            <a:r>
              <a:rPr lang="en-US" sz="1400" b="1" err="1"/>
              <a:t>melakukan</a:t>
            </a:r>
            <a:r>
              <a:rPr lang="en-US" sz="1400" b="1"/>
              <a:t> </a:t>
            </a:r>
            <a:r>
              <a:rPr lang="en-US" sz="1400" b="1" err="1"/>
              <a:t>finalisasi</a:t>
            </a:r>
            <a:r>
              <a:rPr lang="en-US" sz="1400" b="1"/>
              <a:t> </a:t>
            </a:r>
            <a:r>
              <a:rPr lang="en-US" sz="1400" b="1" err="1"/>
              <a:t>jawaban</a:t>
            </a:r>
            <a:r>
              <a:rPr lang="en-US" sz="1400" b="1"/>
              <a:t> </a:t>
            </a:r>
            <a:r>
              <a:rPr lang="en-US" sz="1400"/>
              <a:t>pada </a:t>
            </a:r>
            <a:r>
              <a:rPr lang="en-US" sz="1400" err="1"/>
              <a:t>sistem</a:t>
            </a:r>
            <a:r>
              <a:rPr lang="en-US" sz="1400"/>
              <a:t> (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pelaksanaan</a:t>
            </a:r>
            <a:r>
              <a:rPr lang="en-US" sz="1400"/>
              <a:t> TM </a:t>
            </a:r>
            <a:r>
              <a:rPr lang="en-US" sz="1400" err="1"/>
              <a:t>menggunakan</a:t>
            </a:r>
            <a:r>
              <a:rPr lang="en-US" sz="1400"/>
              <a:t> </a:t>
            </a:r>
            <a:r>
              <a:rPr lang="en-US" sz="1400" err="1"/>
              <a:t>lab.slc.net</a:t>
            </a:r>
            <a:r>
              <a:rPr lang="en-US" sz="1400"/>
              <a:t> </a:t>
            </a:r>
            <a:r>
              <a:rPr lang="en-US" sz="1400" err="1"/>
              <a:t>maupun</a:t>
            </a:r>
            <a:r>
              <a:rPr lang="en-US" sz="1400"/>
              <a:t> </a:t>
            </a:r>
            <a:r>
              <a:rPr lang="en-US" sz="1400" err="1"/>
              <a:t>dbprk.slc.net</a:t>
            </a:r>
            <a:r>
              <a:rPr lang="en-US" sz="140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D2A5E5-4FCA-6E2E-C0AA-0C5AFCB43484}"/>
              </a:ext>
            </a:extLst>
          </p:cNvPr>
          <p:cNvSpPr/>
          <p:nvPr/>
        </p:nvSpPr>
        <p:spPr>
          <a:xfrm>
            <a:off x="4621426" y="4057500"/>
            <a:ext cx="3979152" cy="12562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7D7F6A0-60E9-1EBB-B791-A45FBB974371}"/>
              </a:ext>
            </a:extLst>
          </p:cNvPr>
          <p:cNvSpPr/>
          <p:nvPr/>
        </p:nvSpPr>
        <p:spPr>
          <a:xfrm>
            <a:off x="1393955" y="3859344"/>
            <a:ext cx="174171" cy="17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9FF093-2F2A-B524-3C2A-46F6AE1DC33F}"/>
              </a:ext>
            </a:extLst>
          </p:cNvPr>
          <p:cNvSpPr/>
          <p:nvPr/>
        </p:nvSpPr>
        <p:spPr>
          <a:xfrm>
            <a:off x="1500999" y="3929970"/>
            <a:ext cx="3120427" cy="569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C73B6D-0738-B78B-C3EE-4FFA8495988B}"/>
              </a:ext>
            </a:extLst>
          </p:cNvPr>
          <p:cNvSpPr/>
          <p:nvPr/>
        </p:nvSpPr>
        <p:spPr>
          <a:xfrm>
            <a:off x="4546882" y="3859344"/>
            <a:ext cx="174171" cy="17417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A9687D2-E41F-A8BE-8D45-CBBF7834CE8E}"/>
              </a:ext>
            </a:extLst>
          </p:cNvPr>
          <p:cNvSpPr txBox="1">
            <a:spLocks/>
          </p:cNvSpPr>
          <p:nvPr/>
        </p:nvSpPr>
        <p:spPr>
          <a:xfrm>
            <a:off x="982415" y="3445661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20</a:t>
            </a:r>
            <a:endParaRPr lang="en-US" sz="140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C011B5-4C95-BB2A-3280-121F82F0F826}"/>
              </a:ext>
            </a:extLst>
          </p:cNvPr>
          <p:cNvSpPr txBox="1">
            <a:spLocks/>
          </p:cNvSpPr>
          <p:nvPr/>
        </p:nvSpPr>
        <p:spPr>
          <a:xfrm>
            <a:off x="4115383" y="3419141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50</a:t>
            </a:r>
            <a:endParaRPr lang="en-US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65905-3F10-5AC9-465B-C0CE02154633}"/>
              </a:ext>
            </a:extLst>
          </p:cNvPr>
          <p:cNvSpPr/>
          <p:nvPr/>
        </p:nvSpPr>
        <p:spPr>
          <a:xfrm>
            <a:off x="4621427" y="3929970"/>
            <a:ext cx="3979151" cy="56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81B7900-A97D-E724-0A53-D0ECEA804207}"/>
              </a:ext>
            </a:extLst>
          </p:cNvPr>
          <p:cNvSpPr txBox="1">
            <a:spLocks/>
          </p:cNvSpPr>
          <p:nvPr/>
        </p:nvSpPr>
        <p:spPr>
          <a:xfrm>
            <a:off x="4923074" y="4104140"/>
            <a:ext cx="3375856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</a:t>
            </a:r>
            <a:r>
              <a:rPr lang="en-US" sz="1600" b="1" err="1"/>
              <a:t>apabila</a:t>
            </a:r>
            <a:r>
              <a:rPr lang="en-US" sz="1600" b="1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melakukan</a:t>
            </a:r>
            <a:r>
              <a:rPr lang="en-US" sz="1600" b="1"/>
              <a:t> “Finalize”</a:t>
            </a:r>
            <a:endParaRPr lang="en-US" sz="1400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5FA69E-3816-7A25-BFEA-0A9BB71CF911}"/>
              </a:ext>
            </a:extLst>
          </p:cNvPr>
          <p:cNvSpPr/>
          <p:nvPr/>
        </p:nvSpPr>
        <p:spPr>
          <a:xfrm>
            <a:off x="1739590" y="4057499"/>
            <a:ext cx="2782985" cy="12562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BA062FA-133D-2A5A-622B-D8DACD50BB43}"/>
              </a:ext>
            </a:extLst>
          </p:cNvPr>
          <p:cNvSpPr txBox="1">
            <a:spLocks/>
          </p:cNvSpPr>
          <p:nvPr/>
        </p:nvSpPr>
        <p:spPr>
          <a:xfrm>
            <a:off x="1739590" y="4104140"/>
            <a:ext cx="2750560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endParaRPr lang="en-US" sz="14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9F12E8-6492-6D07-3016-095B01195F7A}"/>
              </a:ext>
            </a:extLst>
          </p:cNvPr>
          <p:cNvGrpSpPr/>
          <p:nvPr/>
        </p:nvGrpSpPr>
        <p:grpSpPr>
          <a:xfrm>
            <a:off x="5853545" y="3325564"/>
            <a:ext cx="534643" cy="592414"/>
            <a:chOff x="-117036" y="3760261"/>
            <a:chExt cx="534643" cy="592414"/>
          </a:xfrm>
        </p:grpSpPr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91640219-C6B4-6324-782D-663D7957CAD8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EB5A323-FE99-FD86-1310-6CADF649554C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6B3D449-5A99-DCF2-4AB9-E22DFBA6C2D5}"/>
              </a:ext>
            </a:extLst>
          </p:cNvPr>
          <p:cNvGrpSpPr/>
          <p:nvPr/>
        </p:nvGrpSpPr>
        <p:grpSpPr>
          <a:xfrm>
            <a:off x="2617432" y="3299296"/>
            <a:ext cx="534643" cy="592414"/>
            <a:chOff x="-117036" y="3760261"/>
            <a:chExt cx="534643" cy="592414"/>
          </a:xfrm>
        </p:grpSpPr>
        <p:sp>
          <p:nvSpPr>
            <p:cNvPr id="18" name="Triangle 17">
              <a:extLst>
                <a:ext uri="{FF2B5EF4-FFF2-40B4-BE49-F238E27FC236}">
                  <a16:creationId xmlns:a16="http://schemas.microsoft.com/office/drawing/2014/main" id="{ECD9E5BF-44B5-35E7-4DCF-78AD08629505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175EA2B-2F32-D89C-3D81-175B32CD5EE3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A5403A5-E3A9-605D-D937-C54EA838FA16}"/>
              </a:ext>
            </a:extLst>
          </p:cNvPr>
          <p:cNvSpPr txBox="1">
            <a:spLocks/>
          </p:cNvSpPr>
          <p:nvPr/>
        </p:nvSpPr>
        <p:spPr>
          <a:xfrm>
            <a:off x="245503" y="4197676"/>
            <a:ext cx="1322623" cy="4309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/>
              <a:t>TM </a:t>
            </a:r>
            <a:r>
              <a:rPr lang="en-US" sz="1600" err="1"/>
              <a:t>dimulai</a:t>
            </a:r>
            <a:endParaRPr lang="en-US" sz="140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CF4BA2-2632-9B07-13E7-0E78BA03C7DF}"/>
              </a:ext>
            </a:extLst>
          </p:cNvPr>
          <p:cNvCxnSpPr>
            <a:cxnSpLocks/>
          </p:cNvCxnSpPr>
          <p:nvPr/>
        </p:nvCxnSpPr>
        <p:spPr>
          <a:xfrm flipH="1">
            <a:off x="1237785" y="4057499"/>
            <a:ext cx="149108" cy="246872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842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18D00C-549C-2F8F-C987-D8176701908A}"/>
              </a:ext>
            </a:extLst>
          </p:cNvPr>
          <p:cNvSpPr/>
          <p:nvPr/>
        </p:nvSpPr>
        <p:spPr>
          <a:xfrm>
            <a:off x="960766" y="3849049"/>
            <a:ext cx="7870518" cy="15344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TM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waktu</a:t>
            </a:r>
            <a:r>
              <a:rPr lang="en-US" sz="1600" b="1"/>
              <a:t> </a:t>
            </a:r>
            <a:r>
              <a:rPr lang="en-US" sz="1600" b="1" err="1"/>
              <a:t>pengumpulan</a:t>
            </a:r>
            <a:r>
              <a:rPr lang="en-US" sz="1600" b="1"/>
              <a:t> </a:t>
            </a:r>
            <a:r>
              <a:rPr lang="en-US" sz="1600" b="1" err="1"/>
              <a:t>berakhir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 </a:t>
            </a:r>
            <a:r>
              <a:rPr lang="en-US" sz="1600" b="1"/>
              <a:t>onsite</a:t>
            </a:r>
            <a:r>
              <a:rPr lang="en-US" sz="1600"/>
              <a:t>, upload </a:t>
            </a:r>
            <a:r>
              <a:rPr lang="en-US" sz="1600" i="1"/>
              <a:t>backup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/>
              <a:t>FTP</a:t>
            </a:r>
            <a:r>
              <a:rPr lang="en-US" sz="1600"/>
              <a:t> (folder FTP &gt; UPLOAD di masing-masing PC </a:t>
            </a:r>
            <a:r>
              <a:rPr lang="en-US" sz="1600" err="1"/>
              <a:t>mahasiswa</a:t>
            </a:r>
            <a:r>
              <a:rPr lang="en-US" sz="1600"/>
              <a:t>)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Kemanggisan</a:t>
            </a:r>
            <a:r>
              <a:rPr lang="en-US" sz="1600"/>
              <a:t>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b="1" err="1"/>
              <a:t>backup.lcas</a:t>
            </a:r>
            <a:r>
              <a:rPr lang="en-US" sz="1600" b="1"/>
              <a:t> </a:t>
            </a:r>
            <a:r>
              <a:rPr lang="en-US" sz="1600" err="1"/>
              <a:t>untuk</a:t>
            </a:r>
            <a:r>
              <a:rPr lang="en-US" sz="1600"/>
              <a:t> Alam Sutera </a:t>
            </a:r>
            <a:r>
              <a:rPr lang="en-US" sz="1600" b="1" err="1"/>
              <a:t>terlepas</a:t>
            </a:r>
            <a:r>
              <a:rPr lang="en-US" sz="1600" b="1"/>
              <a:t> </a:t>
            </a:r>
            <a:r>
              <a:rPr lang="en-US" sz="1600" b="1" err="1"/>
              <a:t>dari</a:t>
            </a:r>
            <a:r>
              <a:rPr lang="en-US" sz="1600" b="1"/>
              <a:t> </a:t>
            </a:r>
            <a:r>
              <a:rPr lang="en-US" sz="1600" b="1" err="1"/>
              <a:t>ada</a:t>
            </a:r>
            <a:r>
              <a:rPr lang="en-US" sz="1600" b="1"/>
              <a:t> </a:t>
            </a:r>
            <a:r>
              <a:rPr lang="en-US" sz="1600" b="1" err="1"/>
              <a:t>tidaknya</a:t>
            </a:r>
            <a:r>
              <a:rPr lang="en-US" sz="1600" b="1"/>
              <a:t> </a:t>
            </a:r>
            <a:r>
              <a:rPr lang="en-US" sz="1600" b="1" err="1"/>
              <a:t>kendala</a:t>
            </a:r>
            <a:r>
              <a:rPr lang="en-US" sz="1600" b="1"/>
              <a:t> pada </a:t>
            </a:r>
            <a:r>
              <a:rPr lang="en-US" sz="1600" b="1" err="1"/>
              <a:t>sistem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online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b="1">
                <a:ea typeface="Open Sans"/>
                <a:cs typeface="Open Sans"/>
              </a:rPr>
              <a:t>upload backup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OneDrive </a:t>
            </a:r>
            <a:r>
              <a:rPr lang="en-US" sz="1600">
                <a:ea typeface="Open Sans"/>
                <a:cs typeface="Open Sans"/>
              </a:rPr>
              <a:t>dan </a:t>
            </a:r>
            <a:r>
              <a:rPr lang="en-US" sz="1600" b="1" err="1">
                <a:ea typeface="Open Sans"/>
                <a:cs typeface="Open Sans"/>
              </a:rPr>
              <a:t>mengisi</a:t>
            </a:r>
            <a:r>
              <a:rPr lang="en-US" sz="1600" b="1">
                <a:ea typeface="Open Sans"/>
                <a:cs typeface="Open Sans"/>
              </a:rPr>
              <a:t> form </a:t>
            </a:r>
            <a:r>
              <a:rPr lang="en-US" sz="1600" b="1" i="1">
                <a:ea typeface="Open Sans"/>
                <a:cs typeface="Open Sans"/>
              </a:rPr>
              <a:t>backup </a:t>
            </a:r>
            <a:r>
              <a:rPr lang="en-US" sz="1600">
                <a:ea typeface="Open Sans"/>
                <a:cs typeface="Open Sans"/>
              </a:rPr>
              <a:t>yang </a:t>
            </a:r>
            <a:r>
              <a:rPr lang="en-US" sz="1600" err="1">
                <a:ea typeface="Open Sans"/>
                <a:cs typeface="Open Sans"/>
              </a:rPr>
              <a:t>disediakan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pengawas</a:t>
            </a:r>
            <a:r>
              <a:rPr lang="en-US" sz="1600">
                <a:ea typeface="Open Sans"/>
                <a:cs typeface="Open Sans"/>
              </a:rPr>
              <a:t>.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online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b="1" err="1">
                <a:ea typeface="Open Sans"/>
                <a:cs typeface="Open Sans"/>
              </a:rPr>
              <a:t>wajib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mengumpulkan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hasil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i="1">
                <a:ea typeface="Open Sans"/>
                <a:cs typeface="Open Sans"/>
              </a:rPr>
              <a:t>recording</a:t>
            </a:r>
            <a:r>
              <a:rPr lang="en-US" sz="1600" i="1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melalui</a:t>
            </a:r>
            <a:r>
              <a:rPr lang="en-US" sz="1600">
                <a:ea typeface="Open Sans"/>
                <a:cs typeface="Open Sans"/>
              </a:rPr>
              <a:t> website yang </a:t>
            </a:r>
            <a:r>
              <a:rPr lang="en-US" sz="1600" err="1">
                <a:ea typeface="Open Sans"/>
                <a:cs typeface="Open Sans"/>
              </a:rPr>
              <a:t>sudah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disediakan</a:t>
            </a:r>
            <a:r>
              <a:rPr lang="en-US" sz="1600" b="1">
                <a:ea typeface="Open Sans"/>
                <a:cs typeface="Open Sans"/>
              </a:rPr>
              <a:t> di </a:t>
            </a:r>
            <a:r>
              <a:rPr lang="en-US" sz="1600" b="1" err="1">
                <a:ea typeface="Open Sans"/>
                <a:cs typeface="Open Sans"/>
              </a:rPr>
              <a:t>hari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pengerjaan</a:t>
            </a:r>
            <a:r>
              <a:rPr lang="en-US" sz="1600" b="1">
                <a:ea typeface="Open Sans"/>
                <a:cs typeface="Open Sans"/>
              </a:rPr>
              <a:t> TM</a:t>
            </a:r>
            <a:r>
              <a:rPr lang="en-US" sz="1600">
                <a:ea typeface="Open Sans"/>
                <a:cs typeface="Open Sans"/>
              </a:rPr>
              <a:t>.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 </a:t>
            </a:r>
            <a:r>
              <a:rPr lang="en-US" sz="1600" b="1">
                <a:solidFill>
                  <a:srgbClr val="FF0000"/>
                </a:solidFill>
              </a:rPr>
              <a:t>DILARANG</a:t>
            </a:r>
            <a:r>
              <a:rPr lang="en-US" sz="1600"/>
              <a:t> </a:t>
            </a:r>
            <a:r>
              <a:rPr lang="en-US" sz="1600" b="1" err="1"/>
              <a:t>membawa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soal</a:t>
            </a:r>
            <a:r>
              <a:rPr lang="en-US" sz="1600" b="1"/>
              <a:t> </a:t>
            </a:r>
            <a:r>
              <a:rPr lang="en-US" sz="1600" b="1" err="1"/>
              <a:t>ataupun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 b="1"/>
              <a:t> TM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bentuk</a:t>
            </a:r>
            <a:r>
              <a:rPr lang="en-US" sz="1600"/>
              <a:t> </a:t>
            </a:r>
            <a:r>
              <a:rPr lang="en-US" sz="1600" err="1"/>
              <a:t>apapun</a:t>
            </a:r>
            <a:r>
              <a:rPr lang="en-US" sz="1600"/>
              <a:t> (</a:t>
            </a:r>
            <a:r>
              <a:rPr lang="en-US" sz="1600" i="1"/>
              <a:t>copy file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i="1"/>
              <a:t>flash disk</a:t>
            </a:r>
            <a:r>
              <a:rPr lang="en-US" sz="1600"/>
              <a:t>, </a:t>
            </a:r>
            <a:r>
              <a:rPr lang="en-US" sz="1600" err="1"/>
              <a:t>foto</a:t>
            </a:r>
            <a:r>
              <a:rPr lang="en-US" sz="1600"/>
              <a:t>, </a:t>
            </a:r>
            <a:r>
              <a:rPr lang="en-US" sz="1600" err="1"/>
              <a:t>dsb</a:t>
            </a:r>
            <a:r>
              <a:rPr lang="en-US" sz="1600"/>
              <a:t>.).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1091633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Sistem </a:t>
            </a:r>
            <a:r>
              <a:rPr lang="en-US" err="1"/>
              <a:t>Pelaksanaan</a:t>
            </a:r>
            <a:r>
              <a:rPr lang="en-US"/>
              <a:t> TM</a:t>
            </a:r>
          </a:p>
        </p:txBody>
      </p:sp>
    </p:spTree>
    <p:extLst>
      <p:ext uri="{BB962C8B-B14F-4D97-AF65-F5344CB8AC3E}">
        <p14:creationId xmlns:p14="http://schemas.microsoft.com/office/powerpoint/2010/main" val="2128880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1C51A63-3EDF-4B89-572B-5063F2E6D64D}"/>
              </a:ext>
            </a:extLst>
          </p:cNvPr>
          <p:cNvSpPr/>
          <p:nvPr/>
        </p:nvSpPr>
        <p:spPr>
          <a:xfrm>
            <a:off x="1295400" y="3656299"/>
            <a:ext cx="7467600" cy="1143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8"/>
            <a:ext cx="7696201" cy="498495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Sistem yang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pelaksanaan</a:t>
            </a:r>
            <a:r>
              <a:rPr lang="en-US" sz="1600"/>
              <a:t> TM:</a:t>
            </a:r>
          </a:p>
          <a:p>
            <a:pPr lvl="1" algn="just">
              <a:lnSpc>
                <a:spcPct val="150000"/>
              </a:lnSpc>
            </a:pPr>
            <a:r>
              <a:rPr lang="en-US" sz="1400" b="1" err="1"/>
              <a:t>Algo.binus</a:t>
            </a:r>
            <a:r>
              <a:rPr lang="en-US" sz="1400" b="1"/>
              <a:t>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Algorithm and Programming</a:t>
            </a:r>
          </a:p>
          <a:p>
            <a:pPr lvl="1" algn="just">
              <a:lnSpc>
                <a:spcPct val="150000"/>
              </a:lnSpc>
            </a:pPr>
            <a:r>
              <a:rPr lang="en-US" sz="1400" b="1"/>
              <a:t>Dbprk.slc.net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Database Technology, Database Systems, Introduction to Database Systems, dan Database</a:t>
            </a:r>
          </a:p>
          <a:p>
            <a:pPr lvl="1" algn="just">
              <a:lnSpc>
                <a:spcPct val="150000"/>
              </a:lnSpc>
            </a:pPr>
            <a:r>
              <a:rPr lang="en-US" sz="1400" b="1"/>
              <a:t>Lab.slc.net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semua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</a:t>
            </a:r>
            <a:r>
              <a:rPr lang="en-US" sz="1400" err="1"/>
              <a:t>selain</a:t>
            </a:r>
            <a:r>
              <a:rPr lang="en-US" sz="1400"/>
              <a:t> yang </a:t>
            </a:r>
            <a:r>
              <a:rPr lang="en-US" sz="1400" err="1"/>
              <a:t>menggunakan</a:t>
            </a:r>
            <a:r>
              <a:rPr lang="en-US" sz="1400"/>
              <a:t> </a:t>
            </a:r>
            <a:r>
              <a:rPr lang="en-US" sz="1400" err="1"/>
              <a:t>algo.binus</a:t>
            </a:r>
            <a:r>
              <a:rPr lang="en-US" sz="1400"/>
              <a:t> dan dbprk.slc.net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Pelaksanaan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dan </a:t>
            </a:r>
            <a:r>
              <a:rPr lang="en-US" sz="1600" err="1"/>
              <a:t>ujian</a:t>
            </a:r>
            <a:r>
              <a:rPr lang="en-US" sz="1600"/>
              <a:t> </a:t>
            </a:r>
            <a:r>
              <a:rPr lang="en-US" sz="1600" err="1"/>
              <a:t>akhir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b="1" i="1"/>
              <a:t>onsite</a:t>
            </a:r>
            <a:r>
              <a:rPr lang="en-US" sz="1600"/>
              <a:t>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menggunakan</a:t>
            </a:r>
            <a:r>
              <a:rPr lang="en-US" sz="1600" b="1"/>
              <a:t> website </a:t>
            </a:r>
            <a:r>
              <a:rPr lang="en-US" sz="1600" b="1" err="1"/>
              <a:t>lokal</a:t>
            </a:r>
            <a:r>
              <a:rPr lang="en-US" sz="1600"/>
              <a:t>. </a:t>
            </a:r>
            <a:r>
              <a:rPr lang="en-US" sz="1600" err="1"/>
              <a:t>Penggunaan</a:t>
            </a:r>
            <a:r>
              <a:rPr lang="en-US" sz="1600"/>
              <a:t> website global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dan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dianggap</a:t>
            </a:r>
            <a:r>
              <a:rPr lang="en-US" sz="1600" b="1"/>
              <a:t> </a:t>
            </a:r>
            <a:r>
              <a:rPr lang="en-US" sz="1600" b="1" err="1"/>
              <a:t>sebagai</a:t>
            </a:r>
            <a:r>
              <a:rPr lang="en-US" sz="1600" b="1"/>
              <a:t> </a:t>
            </a:r>
            <a:r>
              <a:rPr lang="en-US" sz="1600" b="1" err="1"/>
              <a:t>tindakan</a:t>
            </a:r>
            <a:r>
              <a:rPr lang="en-US" sz="1600" b="1"/>
              <a:t> </a:t>
            </a:r>
            <a:r>
              <a:rPr lang="en-US" sz="1600" b="1" err="1"/>
              <a:t>kecurangan</a:t>
            </a:r>
            <a:r>
              <a:rPr lang="en-US" sz="160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E3FCEF-BEDB-C65C-BC31-1054F37A1E63}"/>
              </a:ext>
            </a:extLst>
          </p:cNvPr>
          <p:cNvSpPr txBox="1">
            <a:spLocks/>
          </p:cNvSpPr>
          <p:nvPr/>
        </p:nvSpPr>
        <p:spPr>
          <a:xfrm rot="21111523">
            <a:off x="966509" y="3938305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020634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pelaksanaan</a:t>
            </a:r>
            <a:r>
              <a:rPr lang="en-US" sz="1600"/>
              <a:t> TM,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memanfaatkan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akses</a:t>
            </a:r>
            <a:r>
              <a:rPr lang="en-US" sz="1600"/>
              <a:t> global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kebutuhan</a:t>
            </a:r>
            <a:r>
              <a:rPr lang="en-US" sz="1600" b="1"/>
              <a:t> </a:t>
            </a:r>
            <a:r>
              <a:rPr lang="en-US" sz="1600" b="1" err="1"/>
              <a:t>perkuliahan</a:t>
            </a:r>
            <a:r>
              <a:rPr lang="en-US" sz="1600" b="1"/>
              <a:t> </a:t>
            </a:r>
            <a:r>
              <a:rPr lang="en-US" sz="1600" err="1"/>
              <a:t>seperti</a:t>
            </a:r>
            <a:r>
              <a:rPr lang="en-US" sz="1600"/>
              <a:t> </a:t>
            </a:r>
            <a:r>
              <a:rPr lang="en-US" sz="1600" err="1"/>
              <a:t>latihan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 dan Video-based Learning.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A0522-C86C-EFBA-5662-5DD2B07DC1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9" t="34966" r="4712" b="5240"/>
          <a:stretch/>
        </p:blipFill>
        <p:spPr>
          <a:xfrm>
            <a:off x="1245472" y="2795752"/>
            <a:ext cx="3205656" cy="21336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ACF422-7BBA-DACF-22D5-9851F544E63F}"/>
              </a:ext>
            </a:extLst>
          </p:cNvPr>
          <p:cNvSpPr txBox="1">
            <a:spLocks/>
          </p:cNvSpPr>
          <p:nvPr/>
        </p:nvSpPr>
        <p:spPr>
          <a:xfrm>
            <a:off x="4572000" y="2511971"/>
            <a:ext cx="4283403" cy="4041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b="1" err="1"/>
              <a:t>Dbprk</a:t>
            </a:r>
            <a:r>
              <a:rPr lang="en-US" sz="1600" b="1"/>
              <a:t> (</a:t>
            </a:r>
            <a:r>
              <a:rPr lang="en-US" sz="1600" b="1" err="1"/>
              <a:t>Galaxion</a:t>
            </a:r>
            <a:r>
              <a:rPr lang="en-US" sz="1600" b="1"/>
              <a:t>)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latihan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menu Practice.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Akses </a:t>
            </a:r>
            <a:r>
              <a:rPr lang="en-US" sz="1600" err="1"/>
              <a:t>Dbprk</a:t>
            </a:r>
            <a:r>
              <a:rPr lang="en-US" sz="1600"/>
              <a:t> (</a:t>
            </a:r>
            <a:r>
              <a:rPr lang="en-US" sz="1600" err="1"/>
              <a:t>Galaxion</a:t>
            </a:r>
            <a:r>
              <a:rPr lang="en-US" sz="1600"/>
              <a:t>):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hlinkClick r:id="rId3"/>
              </a:rPr>
              <a:t>https://socs1.binus.ac.id/dbprk</a:t>
            </a:r>
            <a:r>
              <a:rPr lang="en-US" sz="1400"/>
              <a:t> (global)</a:t>
            </a:r>
          </a:p>
          <a:p>
            <a:pPr lvl="1" algn="just">
              <a:lnSpc>
                <a:spcPct val="150000"/>
              </a:lnSpc>
            </a:pPr>
            <a:r>
              <a:rPr lang="en-US" sz="1400"/>
              <a:t>dbprk.slc.net (local)</a:t>
            </a:r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12D38F-75FA-42AB-57C9-D50D7F42C2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358"/>
          <a:stretch/>
        </p:blipFill>
        <p:spPr>
          <a:xfrm>
            <a:off x="1245472" y="5091387"/>
            <a:ext cx="3205656" cy="1299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2524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468399"/>
            <a:ext cx="4283403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kebutuhan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seperti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materi</a:t>
            </a:r>
            <a:r>
              <a:rPr lang="en-US" sz="1600"/>
              <a:t>, </a:t>
            </a:r>
            <a:r>
              <a:rPr lang="en-US" sz="1600" err="1"/>
              <a:t>komponen</a:t>
            </a:r>
            <a:r>
              <a:rPr lang="en-US" sz="1600"/>
              <a:t> </a:t>
            </a:r>
            <a:r>
              <a:rPr lang="en-US" sz="1600" err="1"/>
              <a:t>penilaian</a:t>
            </a:r>
            <a:r>
              <a:rPr lang="en-US" sz="1600"/>
              <a:t>, software, practicum case (Latihan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, </a:t>
            </a:r>
            <a:r>
              <a:rPr lang="en-US" sz="1600" b="1"/>
              <a:t>Video-Based Learning (VBL)</a:t>
            </a:r>
            <a:r>
              <a:rPr lang="en-US" sz="1600"/>
              <a:t>), </a:t>
            </a:r>
            <a:r>
              <a:rPr lang="en-US" sz="1600" err="1"/>
              <a:t>dsb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Akses </a:t>
            </a:r>
            <a:r>
              <a:rPr lang="en-US" sz="1600" err="1"/>
              <a:t>Binusmaya</a:t>
            </a:r>
            <a:r>
              <a:rPr lang="en-US" sz="1600"/>
              <a:t> Practicum: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 </a:t>
            </a:r>
            <a:r>
              <a:rPr lang="en-US" sz="1400"/>
              <a:t>Courses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Mata </a:t>
            </a:r>
            <a:r>
              <a:rPr lang="en-US" sz="1400" err="1"/>
              <a:t>Kuliah</a:t>
            </a:r>
            <a:r>
              <a:rPr lang="en-US" sz="1400"/>
              <a:t> </a:t>
            </a:r>
            <a:r>
              <a:rPr lang="en-US" sz="1400" err="1"/>
              <a:t>Berpraktikum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 </a:t>
            </a:r>
            <a:r>
              <a:rPr lang="en-US" sz="1400" err="1"/>
              <a:t>klik</a:t>
            </a:r>
            <a:r>
              <a:rPr lang="en-US" sz="1400"/>
              <a:t> menu Practicum, </a:t>
            </a:r>
            <a:r>
              <a:rPr lang="en-US" sz="1400" err="1"/>
              <a:t>atau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>
                <a:hlinkClick r:id="rId2"/>
              </a:rPr>
              <a:t>https://bluejack.binus.ac.id/prk/</a:t>
            </a:r>
            <a:r>
              <a:rPr lang="en-US" sz="140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A4E033-7A1A-E70C-58EC-5EBCD4EF75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991" b="6538"/>
          <a:stretch/>
        </p:blipFill>
        <p:spPr>
          <a:xfrm>
            <a:off x="1172402" y="4116418"/>
            <a:ext cx="3303695" cy="20308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6750B0-1E14-A39B-52F7-1A33E0E512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691" b="4456"/>
          <a:stretch/>
        </p:blipFill>
        <p:spPr>
          <a:xfrm>
            <a:off x="1172402" y="1752893"/>
            <a:ext cx="3295202" cy="210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09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Kredensial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login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menggunakan</a:t>
            </a:r>
            <a:r>
              <a:rPr lang="en-US" sz="1600"/>
              <a:t> username </a:t>
            </a:r>
            <a:r>
              <a:rPr lang="en-US" sz="1600" err="1"/>
              <a:t>berupa</a:t>
            </a:r>
            <a:r>
              <a:rPr lang="en-US" sz="1600"/>
              <a:t> </a:t>
            </a:r>
            <a:r>
              <a:rPr lang="en-US" sz="1600" b="1"/>
              <a:t>NIM</a:t>
            </a:r>
            <a:r>
              <a:rPr lang="en-US" sz="1600"/>
              <a:t> dan </a:t>
            </a:r>
            <a:r>
              <a:rPr lang="en-US" sz="1600" err="1"/>
              <a:t>menggunakan</a:t>
            </a:r>
            <a:r>
              <a:rPr lang="en-US" sz="1600"/>
              <a:t> </a:t>
            </a:r>
            <a:r>
              <a:rPr lang="en-US" sz="1600" b="1"/>
              <a:t>password </a:t>
            </a:r>
            <a:r>
              <a:rPr lang="en-US" sz="1600" b="1" err="1"/>
              <a:t>Binusmaya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Panduan </a:t>
            </a:r>
            <a:r>
              <a:rPr lang="en-US" sz="1600" err="1">
                <a:latin typeface="Open Sans"/>
              </a:rPr>
              <a:t>lengkap</a:t>
            </a:r>
            <a:r>
              <a:rPr lang="en-US" sz="1600">
                <a:latin typeface="Open Sans"/>
              </a:rPr>
              <a:t> </a:t>
            </a:r>
            <a:r>
              <a:rPr lang="en-US" sz="1600" err="1"/>
              <a:t>penggunaan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b="1">
                <a:sym typeface="Wingdings" pitchFamily="2" charset="2"/>
              </a:rPr>
              <a:t> Home  Procedure &amp; Rules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Sistem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EA892-B2BE-7FA3-74F1-91B87FB24B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349"/>
          <a:stretch/>
        </p:blipFill>
        <p:spPr>
          <a:xfrm>
            <a:off x="904010" y="3282107"/>
            <a:ext cx="7772400" cy="18396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956427-C118-091E-EB28-281713C112CF}"/>
              </a:ext>
            </a:extLst>
          </p:cNvPr>
          <p:cNvSpPr/>
          <p:nvPr/>
        </p:nvSpPr>
        <p:spPr>
          <a:xfrm>
            <a:off x="1066799" y="3155732"/>
            <a:ext cx="2667002" cy="68579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49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Peraturan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TM</a:t>
            </a:r>
          </a:p>
        </p:txBody>
      </p:sp>
    </p:spTree>
    <p:extLst>
      <p:ext uri="{BB962C8B-B14F-4D97-AF65-F5344CB8AC3E}">
        <p14:creationId xmlns:p14="http://schemas.microsoft.com/office/powerpoint/2010/main" val="1167959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81E9C0F-C5AB-3FB9-EDC5-5EA6252A8103}"/>
              </a:ext>
            </a:extLst>
          </p:cNvPr>
          <p:cNvSpPr/>
          <p:nvPr/>
        </p:nvSpPr>
        <p:spPr>
          <a:xfrm>
            <a:off x="1295400" y="4215070"/>
            <a:ext cx="7467600" cy="19650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Jawaban</a:t>
            </a:r>
            <a:r>
              <a:rPr lang="en-US" sz="1600"/>
              <a:t> yang </a:t>
            </a:r>
            <a:r>
              <a:rPr lang="en-US" sz="1600" err="1"/>
              <a:t>dinilai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b="1" err="1"/>
              <a:t>jawaban</a:t>
            </a:r>
            <a:r>
              <a:rPr lang="en-US" sz="1600" b="1"/>
              <a:t> yang di-</a:t>
            </a:r>
            <a:r>
              <a:rPr lang="en-US" sz="1600" b="1" i="1"/>
              <a:t>upload</a:t>
            </a:r>
            <a:r>
              <a:rPr lang="en-US" sz="1600" b="1"/>
              <a:t> </a:t>
            </a:r>
            <a:r>
              <a:rPr lang="en-US" sz="1600" b="1" err="1"/>
              <a:t>melalui</a:t>
            </a:r>
            <a:r>
              <a:rPr lang="en-US" sz="1600" b="1"/>
              <a:t> </a:t>
            </a:r>
            <a:r>
              <a:rPr lang="en-US" sz="1600" b="1" err="1"/>
              <a:t>sistem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b="1"/>
              <a:t>WAJIB</a:t>
            </a:r>
            <a:r>
              <a:rPr lang="en-US" sz="1600"/>
              <a:t> 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b="1" err="1"/>
              <a:t>sesuai</a:t>
            </a:r>
            <a:r>
              <a:rPr lang="en-US" sz="1600" b="1"/>
              <a:t> </a:t>
            </a:r>
            <a:r>
              <a:rPr lang="en-US" sz="1600" b="1" err="1"/>
              <a:t>ekstensi</a:t>
            </a:r>
            <a:r>
              <a:rPr lang="en-US" sz="1600" b="1"/>
              <a:t> </a:t>
            </a:r>
            <a:r>
              <a:rPr lang="en-US" sz="1600" b="1" i="1"/>
              <a:t>file</a:t>
            </a:r>
            <a:r>
              <a:rPr lang="en-US" sz="1600" b="1"/>
              <a:t>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ditentukan</a:t>
            </a:r>
            <a:r>
              <a:rPr lang="en-US" sz="1600"/>
              <a:t> (</a:t>
            </a:r>
            <a:r>
              <a:rPr lang="en-US" sz="1600" err="1"/>
              <a:t>contoh</a:t>
            </a:r>
            <a:r>
              <a:rPr lang="en-US" sz="1600"/>
              <a:t> yang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/>
              <a:t>: </a:t>
            </a:r>
            <a:r>
              <a:rPr lang="en-US" sz="1600" err="1"/>
              <a:t>mengumpulkan</a:t>
            </a:r>
            <a:r>
              <a:rPr lang="en-US" sz="1600"/>
              <a:t> video </a:t>
            </a:r>
            <a:r>
              <a:rPr lang="en-US" sz="1600" err="1"/>
              <a:t>pengerjaan</a:t>
            </a:r>
            <a:r>
              <a:rPr lang="en-US" sz="1600"/>
              <a:t>, </a:t>
            </a:r>
            <a:r>
              <a:rPr lang="en-US" sz="1600" err="1"/>
              <a:t>memasukkan</a:t>
            </a:r>
            <a:r>
              <a:rPr lang="en-US" sz="1600"/>
              <a:t> snippet code </a:t>
            </a:r>
            <a:r>
              <a:rPr lang="en-US" sz="1600" err="1"/>
              <a:t>ke</a:t>
            </a:r>
            <a:r>
              <a:rPr lang="en-US" sz="1600"/>
              <a:t>  file .docx, </a:t>
            </a:r>
            <a:r>
              <a:rPr lang="en-US" sz="1600" err="1"/>
              <a:t>dsb</a:t>
            </a:r>
            <a:r>
              <a:rPr lang="en-US" sz="1600"/>
              <a:t>.).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i="1"/>
              <a:t>Backup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b="1" err="1"/>
              <a:t>hanya</a:t>
            </a:r>
            <a:r>
              <a:rPr lang="en-US" sz="1600"/>
              <a:t>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:</a:t>
            </a:r>
            <a:endParaRPr lang="en-US" sz="16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b="1" err="1"/>
              <a:t>terjadi</a:t>
            </a:r>
            <a:r>
              <a:rPr lang="en-US" sz="1400" b="1"/>
              <a:t> </a:t>
            </a:r>
            <a:r>
              <a:rPr lang="en-US" sz="1400" b="1" err="1"/>
              <a:t>kendala</a:t>
            </a:r>
            <a:r>
              <a:rPr lang="en-US" sz="1400" b="1"/>
              <a:t> pada </a:t>
            </a:r>
            <a:r>
              <a:rPr lang="en-US" sz="1400" b="1" err="1"/>
              <a:t>sistem</a:t>
            </a:r>
            <a:r>
              <a:rPr lang="en-US" sz="1400"/>
              <a:t> (di </a:t>
            </a:r>
            <a:r>
              <a:rPr lang="en-US" sz="1400" err="1"/>
              <a:t>luar</a:t>
            </a:r>
            <a:r>
              <a:rPr lang="en-US" sz="1400"/>
              <a:t> </a:t>
            </a:r>
            <a:r>
              <a:rPr lang="en-US" sz="1400" err="1"/>
              <a:t>kelalaian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)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i="1"/>
              <a:t>Last modified </a:t>
            </a:r>
            <a:r>
              <a:rPr lang="en-US" sz="1400" err="1"/>
              <a:t>jawaban</a:t>
            </a:r>
            <a:r>
              <a:rPr lang="en-US" sz="1400"/>
              <a:t> backup </a:t>
            </a:r>
            <a:r>
              <a:rPr lang="en-US" sz="1400" err="1"/>
              <a:t>belum</a:t>
            </a:r>
            <a:r>
              <a:rPr lang="en-US" sz="1400"/>
              <a:t> </a:t>
            </a:r>
            <a:r>
              <a:rPr lang="en-US" sz="1400" err="1"/>
              <a:t>melebihi</a:t>
            </a:r>
            <a:r>
              <a:rPr lang="en-US" sz="1400"/>
              <a:t> batas </a:t>
            </a:r>
            <a:r>
              <a:rPr lang="en-US" sz="1400" err="1"/>
              <a:t>waktu</a:t>
            </a:r>
            <a:r>
              <a:rPr lang="en-US" sz="1400"/>
              <a:t> </a:t>
            </a:r>
            <a:r>
              <a:rPr lang="en-US" sz="1400" err="1"/>
              <a:t>pengumpulan</a:t>
            </a:r>
            <a:endParaRPr lang="en-US" sz="1400"/>
          </a:p>
          <a:p>
            <a:pPr algn="just">
              <a:lnSpc>
                <a:spcPct val="150000"/>
              </a:lnSpc>
            </a:pPr>
            <a:r>
              <a:rPr lang="en-US" sz="1600" err="1"/>
              <a:t>Pengawas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menerima</a:t>
            </a:r>
            <a:r>
              <a:rPr lang="en-US" sz="1600" b="1"/>
              <a:t> </a:t>
            </a:r>
            <a:r>
              <a:rPr lang="en-US" sz="1600" b="1" i="1"/>
              <a:t>request</a:t>
            </a:r>
            <a:r>
              <a:rPr lang="en-US" sz="1600" b="1"/>
              <a:t> </a:t>
            </a:r>
            <a:r>
              <a:rPr lang="en-US" sz="1600" err="1"/>
              <a:t>menggunakan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backup </a:t>
            </a:r>
            <a:r>
              <a:rPr lang="en-US" sz="1600" err="1"/>
              <a:t>dari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jika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ada</a:t>
            </a:r>
            <a:r>
              <a:rPr lang="en-US" sz="1600"/>
              <a:t> </a:t>
            </a:r>
            <a:r>
              <a:rPr lang="en-US" sz="1600" err="1"/>
              <a:t>kendala</a:t>
            </a:r>
            <a:r>
              <a:rPr lang="en-US" sz="1600"/>
              <a:t> pada </a:t>
            </a:r>
            <a:r>
              <a:rPr lang="en-US" sz="1600" err="1"/>
              <a:t>sistem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/>
              <a:t>Backup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b="1"/>
              <a:t>yang </a:t>
            </a:r>
            <a:r>
              <a:rPr lang="en-US" sz="1600" b="1" err="1"/>
              <a:t>melebihi</a:t>
            </a:r>
            <a:r>
              <a:rPr lang="en-US" sz="1600" b="1"/>
              <a:t> batas </a:t>
            </a:r>
            <a:r>
              <a:rPr lang="en-US" sz="1600" b="1" err="1"/>
              <a:t>waktu</a:t>
            </a:r>
            <a:r>
              <a:rPr lang="en-US" sz="1600" b="1"/>
              <a:t> </a:t>
            </a:r>
            <a:r>
              <a:rPr lang="en-US" sz="1600" b="1" err="1"/>
              <a:t>pengumpulan</a:t>
            </a:r>
            <a:r>
              <a:rPr lang="en-US" sz="1600"/>
              <a:t> </a:t>
            </a:r>
            <a:r>
              <a:rPr lang="en-US" sz="1600" err="1"/>
              <a:t>dianggap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valid </a:t>
            </a:r>
            <a:r>
              <a:rPr lang="en-US" sz="1600"/>
              <a:t>dan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meskipun</a:t>
            </a:r>
            <a:r>
              <a:rPr lang="en-US" sz="1600"/>
              <a:t> </a:t>
            </a:r>
            <a:r>
              <a:rPr lang="en-US" sz="1600" err="1"/>
              <a:t>terjadi</a:t>
            </a:r>
            <a:r>
              <a:rPr lang="en-US" sz="1600"/>
              <a:t> </a:t>
            </a:r>
            <a:r>
              <a:rPr lang="en-US" sz="1600" err="1"/>
              <a:t>kendala</a:t>
            </a:r>
            <a:r>
              <a:rPr lang="en-US" sz="1600"/>
              <a:t> pada </a:t>
            </a:r>
            <a:r>
              <a:rPr lang="en-US" sz="1600" err="1"/>
              <a:t>sistem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F53C03-47BC-F6B1-9318-CB395471302B}"/>
              </a:ext>
            </a:extLst>
          </p:cNvPr>
          <p:cNvSpPr txBox="1">
            <a:spLocks/>
          </p:cNvSpPr>
          <p:nvPr/>
        </p:nvSpPr>
        <p:spPr>
          <a:xfrm rot="21111523">
            <a:off x="966509" y="4484843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566536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CB991B08-0C7E-2479-6B30-1E42435085F3}"/>
              </a:ext>
            </a:extLst>
          </p:cNvPr>
          <p:cNvSpPr/>
          <p:nvPr/>
        </p:nvSpPr>
        <p:spPr>
          <a:xfrm>
            <a:off x="854579" y="1469781"/>
            <a:ext cx="7908421" cy="252965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B8415F-33C2-503E-E14C-D58E68BA5F40}"/>
              </a:ext>
            </a:extLst>
          </p:cNvPr>
          <p:cNvSpPr/>
          <p:nvPr/>
        </p:nvSpPr>
        <p:spPr>
          <a:xfrm>
            <a:off x="916488" y="4716154"/>
            <a:ext cx="7985341" cy="4574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842" y="1468398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>
                <a:ea typeface="Open Sans"/>
                <a:cs typeface="Arial"/>
              </a:rPr>
              <a:t>Saat </a:t>
            </a:r>
            <a:r>
              <a:rPr lang="en-US" sz="1600" err="1">
                <a:ea typeface="Open Sans"/>
                <a:cs typeface="Arial"/>
              </a:rPr>
              <a:t>pelaksanaan</a:t>
            </a:r>
            <a:r>
              <a:rPr lang="en-US" sz="1600">
                <a:ea typeface="Open Sans"/>
                <a:cs typeface="Arial"/>
              </a:rPr>
              <a:t> </a:t>
            </a:r>
            <a:r>
              <a:rPr lang="en-US" sz="1600" err="1">
                <a:ea typeface="Open Sans"/>
                <a:cs typeface="Arial"/>
              </a:rPr>
              <a:t>kuis</a:t>
            </a:r>
            <a:r>
              <a:rPr lang="en-US" sz="1600">
                <a:ea typeface="Open Sans"/>
                <a:cs typeface="Arial"/>
              </a:rPr>
              <a:t>, </a:t>
            </a:r>
            <a:r>
              <a:rPr lang="en-US" sz="1600" err="1">
                <a:ea typeface="Open Sans"/>
                <a:cs typeface="Arial"/>
              </a:rPr>
              <a:t>mahasiswa</a:t>
            </a:r>
            <a:r>
              <a:rPr lang="en-US" sz="1600">
                <a:ea typeface="Open Sans"/>
                <a:cs typeface="Arial"/>
              </a:rPr>
              <a:t> </a:t>
            </a:r>
            <a:r>
              <a:rPr lang="en-US" sz="1600" b="1">
                <a:solidFill>
                  <a:srgbClr val="FF0000"/>
                </a:solidFill>
                <a:ea typeface="Open Sans"/>
                <a:cs typeface="Arial"/>
              </a:rPr>
              <a:t>DILARANG</a:t>
            </a:r>
            <a:r>
              <a:rPr lang="en-US" sz="1600" b="1">
                <a:ea typeface="Open Sans"/>
                <a:cs typeface="Arial"/>
              </a:rPr>
              <a:t> </a:t>
            </a:r>
            <a:r>
              <a:rPr lang="en-US" sz="1600" err="1">
                <a:ea typeface="Open Sans"/>
                <a:cs typeface="Arial"/>
              </a:rPr>
              <a:t>untuk</a:t>
            </a:r>
            <a:r>
              <a:rPr lang="en-US" sz="1600">
                <a:ea typeface="Open Sans"/>
                <a:cs typeface="Arial"/>
              </a:rPr>
              <a:t> </a:t>
            </a:r>
            <a:r>
              <a:rPr lang="en-US" sz="1600" err="1">
                <a:ea typeface="Open Sans"/>
                <a:cs typeface="Arial"/>
              </a:rPr>
              <a:t>membuka</a:t>
            </a:r>
            <a:r>
              <a:rPr lang="en-US" sz="1600">
                <a:ea typeface="Open Sans"/>
                <a:cs typeface="Arial"/>
              </a:rPr>
              <a:t> software/website/</a:t>
            </a:r>
            <a:r>
              <a:rPr lang="en-US" sz="1600" err="1">
                <a:ea typeface="Open Sans"/>
                <a:cs typeface="Arial"/>
              </a:rPr>
              <a:t>dokumentasi</a:t>
            </a:r>
            <a:r>
              <a:rPr lang="en-US" sz="1600">
                <a:ea typeface="Open Sans"/>
                <a:cs typeface="Arial"/>
              </a:rPr>
              <a:t> yang </a:t>
            </a:r>
            <a:r>
              <a:rPr lang="en-US" sz="1600" err="1">
                <a:ea typeface="Open Sans"/>
                <a:cs typeface="Arial"/>
              </a:rPr>
              <a:t>tidak</a:t>
            </a:r>
            <a:r>
              <a:rPr lang="en-US" sz="1600">
                <a:ea typeface="Open Sans"/>
                <a:cs typeface="Arial"/>
              </a:rPr>
              <a:t> </a:t>
            </a:r>
            <a:r>
              <a:rPr lang="en-US" sz="1600" err="1">
                <a:ea typeface="Open Sans"/>
                <a:cs typeface="Arial"/>
              </a:rPr>
              <a:t>tertera</a:t>
            </a:r>
            <a:r>
              <a:rPr lang="en-US" sz="1600">
                <a:ea typeface="Open Sans"/>
                <a:cs typeface="Arial"/>
              </a:rPr>
              <a:t> pada </a:t>
            </a:r>
            <a:r>
              <a:rPr lang="en-ID" sz="1600" err="1">
                <a:effectLst/>
                <a:ea typeface="Open Sans"/>
                <a:cs typeface="Open Sans"/>
              </a:rPr>
              <a:t>buku</a:t>
            </a:r>
            <a:r>
              <a:rPr lang="en-ID" sz="1600">
                <a:effectLst/>
                <a:ea typeface="Open Sans"/>
                <a:cs typeface="Open Sans"/>
              </a:rPr>
              <a:t> </a:t>
            </a:r>
            <a:r>
              <a:rPr lang="en-ID" sz="1600" err="1">
                <a:effectLst/>
                <a:ea typeface="Open Sans"/>
                <a:cs typeface="Open Sans"/>
              </a:rPr>
              <a:t>panduan</a:t>
            </a:r>
            <a:r>
              <a:rPr lang="en-ID" sz="1600">
                <a:effectLst/>
                <a:ea typeface="Open Sans"/>
                <a:cs typeface="Open Sans"/>
              </a:rPr>
              <a:t> </a:t>
            </a:r>
            <a:r>
              <a:rPr lang="en-ID" sz="1600" err="1">
                <a:effectLst/>
                <a:ea typeface="Open Sans"/>
                <a:cs typeface="Open Sans"/>
              </a:rPr>
              <a:t>akademik</a:t>
            </a:r>
            <a:r>
              <a:rPr lang="en-ID" sz="1600">
                <a:effectLst/>
                <a:ea typeface="Open Sans"/>
                <a:cs typeface="Open Sans"/>
              </a:rPr>
              <a:t> SLC/LC </a:t>
            </a:r>
            <a:r>
              <a:rPr lang="en-ID" sz="1600" err="1">
                <a:effectLst/>
                <a:ea typeface="Open Sans"/>
                <a:cs typeface="Open Sans"/>
              </a:rPr>
              <a:t>untuk</a:t>
            </a:r>
            <a:r>
              <a:rPr lang="en-ID" sz="1600">
                <a:effectLst/>
                <a:ea typeface="Open Sans"/>
                <a:cs typeface="Open Sans"/>
              </a:rPr>
              <a:t> </a:t>
            </a:r>
            <a:r>
              <a:rPr lang="en-ID" sz="1600" err="1">
                <a:effectLst/>
                <a:ea typeface="Open Sans"/>
                <a:cs typeface="Open Sans"/>
              </a:rPr>
              <a:t>mata</a:t>
            </a:r>
            <a:r>
              <a:rPr lang="en-ID" sz="1600">
                <a:effectLst/>
                <a:ea typeface="Open Sans"/>
                <a:cs typeface="Open Sans"/>
              </a:rPr>
              <a:t> </a:t>
            </a:r>
            <a:r>
              <a:rPr lang="en-ID" sz="1600" err="1">
                <a:effectLst/>
                <a:ea typeface="Open Sans"/>
                <a:cs typeface="Open Sans"/>
              </a:rPr>
              <a:t>kuliah</a:t>
            </a:r>
            <a:r>
              <a:rPr lang="en-ID" sz="1600">
                <a:effectLst/>
                <a:ea typeface="Open Sans"/>
                <a:cs typeface="Open Sans"/>
              </a:rPr>
              <a:t> </a:t>
            </a:r>
            <a:r>
              <a:rPr lang="en-ID" sz="1600" err="1">
                <a:effectLst/>
                <a:ea typeface="Open Sans"/>
                <a:cs typeface="Open Sans"/>
              </a:rPr>
              <a:t>terkait</a:t>
            </a:r>
            <a:r>
              <a:rPr lang="en-ID" sz="1600">
                <a:effectLst/>
                <a:latin typeface="TimesNewRomanPSMT"/>
              </a:rPr>
              <a:t>.</a:t>
            </a:r>
            <a:r>
              <a:rPr lang="en-ID" sz="1800">
                <a:effectLst/>
                <a:latin typeface="TimesNewRomanPSMT"/>
              </a:rPr>
              <a:t> </a:t>
            </a:r>
            <a:endParaRPr lang="en-ID" sz="1800">
              <a:latin typeface="SymbolMT"/>
            </a:endParaRPr>
          </a:p>
          <a:p>
            <a:pPr algn="just">
              <a:lnSpc>
                <a:spcPct val="150000"/>
              </a:lnSpc>
            </a:pPr>
            <a:r>
              <a:rPr lang="en-US" sz="1600" b="1">
                <a:ea typeface="Open Sans"/>
                <a:cs typeface="Arial"/>
              </a:rPr>
              <a:t>Searching/prompt search</a:t>
            </a:r>
            <a:r>
              <a:rPr lang="en-US" sz="1600">
                <a:ea typeface="Open Sans"/>
                <a:cs typeface="Arial"/>
              </a:rPr>
              <a:t> di chrome/google/searching engine </a:t>
            </a:r>
            <a:r>
              <a:rPr lang="en-US" sz="1600" err="1">
                <a:ea typeface="Open Sans"/>
                <a:cs typeface="Arial"/>
              </a:rPr>
              <a:t>lainnya</a:t>
            </a:r>
            <a:r>
              <a:rPr lang="en-US" sz="1600">
                <a:ea typeface="Open Sans"/>
                <a:cs typeface="Arial"/>
              </a:rPr>
              <a:t> </a:t>
            </a:r>
            <a:r>
              <a:rPr lang="en-US" sz="1600" err="1">
                <a:ea typeface="Open Sans"/>
                <a:cs typeface="Arial"/>
              </a:rPr>
              <a:t>dapat</a:t>
            </a:r>
            <a:r>
              <a:rPr lang="en-US" sz="1600">
                <a:ea typeface="Open Sans"/>
                <a:cs typeface="Arial"/>
              </a:rPr>
              <a:t> </a:t>
            </a:r>
            <a:r>
              <a:rPr lang="en-US" sz="1600" b="1" err="1">
                <a:ea typeface="Open Sans"/>
                <a:cs typeface="Arial"/>
              </a:rPr>
              <a:t>dikategorikan</a:t>
            </a:r>
            <a:r>
              <a:rPr lang="en-US" sz="1600" b="1">
                <a:ea typeface="Open Sans"/>
                <a:cs typeface="Arial"/>
              </a:rPr>
              <a:t> </a:t>
            </a:r>
            <a:r>
              <a:rPr lang="en-US" sz="1600" b="1" err="1">
                <a:ea typeface="Open Sans"/>
                <a:cs typeface="Arial"/>
              </a:rPr>
              <a:t>sebagai</a:t>
            </a:r>
            <a:r>
              <a:rPr lang="en-US" sz="1600" b="1">
                <a:ea typeface="Open Sans"/>
                <a:cs typeface="Arial"/>
              </a:rPr>
              <a:t> </a:t>
            </a:r>
            <a:r>
              <a:rPr lang="en-US" sz="1600" b="1" err="1">
                <a:ea typeface="Open Sans"/>
                <a:cs typeface="Arial"/>
              </a:rPr>
              <a:t>menyontek</a:t>
            </a:r>
            <a:r>
              <a:rPr lang="en-US" sz="1600">
                <a:ea typeface="Open Sans"/>
                <a:cs typeface="Arial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Arial"/>
              </a:rPr>
              <a:t>Untuk</a:t>
            </a:r>
            <a:r>
              <a:rPr lang="en-US" sz="1600">
                <a:ea typeface="Open Sans"/>
                <a:cs typeface="Arial"/>
              </a:rPr>
              <a:t> </a:t>
            </a:r>
            <a:r>
              <a:rPr lang="en-US" sz="1600" err="1">
                <a:ea typeface="Open Sans"/>
                <a:cs typeface="Arial"/>
              </a:rPr>
              <a:t>mahasiswa</a:t>
            </a:r>
            <a:r>
              <a:rPr lang="en-US" sz="1600">
                <a:ea typeface="Open Sans"/>
                <a:cs typeface="Arial"/>
              </a:rPr>
              <a:t> </a:t>
            </a:r>
            <a:r>
              <a:rPr lang="en-US" sz="1600" b="1">
                <a:ea typeface="Open Sans"/>
                <a:cs typeface="Arial"/>
              </a:rPr>
              <a:t>onsite</a:t>
            </a:r>
            <a:r>
              <a:rPr lang="en-US" sz="1600">
                <a:ea typeface="Open Sans"/>
                <a:cs typeface="Arial"/>
              </a:rPr>
              <a:t>, </a:t>
            </a:r>
            <a:r>
              <a:rPr lang="en-US" sz="1600" b="1" err="1">
                <a:ea typeface="Open Sans"/>
                <a:cs typeface="Arial"/>
              </a:rPr>
              <a:t>dilarang</a:t>
            </a:r>
            <a:r>
              <a:rPr lang="en-US" sz="1600">
                <a:ea typeface="Open Sans"/>
                <a:cs typeface="Arial"/>
              </a:rPr>
              <a:t> </a:t>
            </a:r>
            <a:r>
              <a:rPr lang="en-US" sz="1600" err="1">
                <a:ea typeface="Open Sans"/>
                <a:cs typeface="Arial"/>
              </a:rPr>
              <a:t>membawa</a:t>
            </a:r>
            <a:r>
              <a:rPr lang="en-US" sz="1600">
                <a:ea typeface="Open Sans"/>
                <a:cs typeface="Arial"/>
              </a:rPr>
              <a:t> </a:t>
            </a:r>
            <a:r>
              <a:rPr lang="en-US" sz="1600" err="1">
                <a:ea typeface="Open Sans"/>
                <a:cs typeface="Arial"/>
              </a:rPr>
              <a:t>apapun</a:t>
            </a:r>
            <a:r>
              <a:rPr lang="en-US" sz="1600">
                <a:ea typeface="Open Sans"/>
                <a:cs typeface="Arial"/>
              </a:rPr>
              <a:t> </a:t>
            </a:r>
            <a:r>
              <a:rPr lang="en-US" sz="1600" b="1">
                <a:ea typeface="Open Sans"/>
                <a:cs typeface="Arial"/>
              </a:rPr>
              <a:t>(</a:t>
            </a:r>
            <a:r>
              <a:rPr lang="en-US" sz="1600" b="1" err="1">
                <a:ea typeface="Open Sans"/>
                <a:cs typeface="Arial"/>
              </a:rPr>
              <a:t>kecuali</a:t>
            </a:r>
            <a:r>
              <a:rPr lang="en-US" sz="1600" b="1">
                <a:ea typeface="Open Sans"/>
                <a:cs typeface="Arial"/>
              </a:rPr>
              <a:t> </a:t>
            </a:r>
            <a:r>
              <a:rPr lang="en-US" sz="1600" b="1" err="1">
                <a:ea typeface="Open Sans"/>
                <a:cs typeface="Arial"/>
              </a:rPr>
              <a:t>botol</a:t>
            </a:r>
            <a:r>
              <a:rPr lang="en-US" sz="1600" b="1">
                <a:ea typeface="Open Sans"/>
                <a:cs typeface="Arial"/>
              </a:rPr>
              <a:t> </a:t>
            </a:r>
            <a:r>
              <a:rPr lang="en-US" sz="1600" b="1" err="1">
                <a:ea typeface="Open Sans"/>
                <a:cs typeface="Arial"/>
              </a:rPr>
              <a:t>minum</a:t>
            </a:r>
            <a:r>
              <a:rPr lang="en-US" sz="1600" b="1">
                <a:ea typeface="Open Sans"/>
                <a:cs typeface="Arial"/>
              </a:rPr>
              <a:t>)</a:t>
            </a:r>
            <a:r>
              <a:rPr lang="en-US" sz="1600">
                <a:ea typeface="Open Sans"/>
                <a:cs typeface="Arial"/>
              </a:rPr>
              <a:t> </a:t>
            </a:r>
            <a:r>
              <a:rPr lang="en-US" sz="1600" err="1">
                <a:ea typeface="Open Sans"/>
                <a:cs typeface="Arial"/>
              </a:rPr>
              <a:t>ke</a:t>
            </a:r>
            <a:r>
              <a:rPr lang="en-US" sz="1600">
                <a:ea typeface="Open Sans"/>
                <a:cs typeface="Arial"/>
              </a:rPr>
              <a:t> </a:t>
            </a:r>
            <a:r>
              <a:rPr lang="en-US" sz="1600" err="1">
                <a:ea typeface="Open Sans"/>
                <a:cs typeface="Arial"/>
              </a:rPr>
              <a:t>tempat</a:t>
            </a:r>
            <a:r>
              <a:rPr lang="en-US" sz="1600">
                <a:ea typeface="Open Sans"/>
                <a:cs typeface="Arial"/>
              </a:rPr>
              <a:t> duduk </a:t>
            </a:r>
            <a:r>
              <a:rPr lang="en-US" sz="1600" err="1">
                <a:ea typeface="Open Sans"/>
                <a:cs typeface="Arial"/>
              </a:rPr>
              <a:t>termasuk</a:t>
            </a:r>
            <a:r>
              <a:rPr lang="en-US" sz="1600">
                <a:ea typeface="Open Sans"/>
                <a:cs typeface="Arial"/>
              </a:rPr>
              <a:t> </a:t>
            </a:r>
            <a:r>
              <a:rPr lang="en-US" sz="1600" err="1">
                <a:ea typeface="Open Sans"/>
                <a:cs typeface="Arial"/>
              </a:rPr>
              <a:t>alat</a:t>
            </a:r>
            <a:r>
              <a:rPr lang="en-US" sz="1600">
                <a:ea typeface="Open Sans"/>
                <a:cs typeface="Arial"/>
              </a:rPr>
              <a:t> </a:t>
            </a:r>
            <a:r>
              <a:rPr lang="en-US" sz="1600" err="1">
                <a:ea typeface="Open Sans"/>
                <a:cs typeface="Arial"/>
              </a:rPr>
              <a:t>elektronik</a:t>
            </a:r>
            <a:r>
              <a:rPr lang="en-US" sz="1600">
                <a:ea typeface="Open Sans"/>
                <a:cs typeface="Arial"/>
              </a:rPr>
              <a:t>.</a:t>
            </a:r>
            <a:endParaRPr lang="en-US" sz="1600">
              <a:solidFill>
                <a:srgbClr val="808080"/>
              </a:solidFill>
              <a:ea typeface="Open Sans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Arial"/>
              </a:rPr>
              <a:t>Untuk</a:t>
            </a:r>
            <a:r>
              <a:rPr lang="en-US" sz="1600">
                <a:ea typeface="Open Sans"/>
                <a:cs typeface="Arial"/>
              </a:rPr>
              <a:t> </a:t>
            </a:r>
            <a:r>
              <a:rPr lang="en-US" sz="1600" err="1">
                <a:ea typeface="Open Sans"/>
                <a:cs typeface="Arial"/>
              </a:rPr>
              <a:t>mahasiswa</a:t>
            </a:r>
            <a:r>
              <a:rPr lang="en-US" sz="1600">
                <a:ea typeface="Open Sans"/>
                <a:cs typeface="Arial"/>
              </a:rPr>
              <a:t> </a:t>
            </a:r>
            <a:r>
              <a:rPr lang="en-US" sz="1600" b="1">
                <a:ea typeface="Open Sans"/>
                <a:cs typeface="Arial"/>
              </a:rPr>
              <a:t>online</a:t>
            </a:r>
            <a:r>
              <a:rPr lang="en-US" sz="1600">
                <a:ea typeface="Open Sans"/>
                <a:cs typeface="Arial"/>
              </a:rPr>
              <a:t>, </a:t>
            </a:r>
            <a:r>
              <a:rPr lang="en-US" sz="1600" b="1" err="1">
                <a:ea typeface="Open Sans"/>
                <a:cs typeface="Arial"/>
              </a:rPr>
              <a:t>dilarang</a:t>
            </a:r>
            <a:r>
              <a:rPr lang="en-US" sz="1600">
                <a:ea typeface="Open Sans"/>
                <a:cs typeface="Arial"/>
              </a:rPr>
              <a:t> </a:t>
            </a:r>
            <a:r>
              <a:rPr lang="en-US" sz="1600" err="1">
                <a:ea typeface="Open Sans"/>
                <a:cs typeface="Arial"/>
              </a:rPr>
              <a:t>untuk</a:t>
            </a:r>
            <a:r>
              <a:rPr lang="en-US" sz="1600">
                <a:ea typeface="Open Sans"/>
                <a:cs typeface="Arial"/>
              </a:rPr>
              <a:t> </a:t>
            </a:r>
            <a:r>
              <a:rPr lang="en-US" sz="1600" err="1">
                <a:ea typeface="Open Sans"/>
                <a:cs typeface="Arial"/>
              </a:rPr>
              <a:t>menggunakan</a:t>
            </a:r>
            <a:r>
              <a:rPr lang="en-US" sz="1600">
                <a:ea typeface="Open Sans"/>
                <a:cs typeface="Arial"/>
              </a:rPr>
              <a:t> dual monitor.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Software Laboratory Center dan Laboratory Center </a:t>
            </a:r>
            <a:r>
              <a:rPr lang="en-US" sz="1600" err="1">
                <a:ea typeface="Open Sans"/>
                <a:cs typeface="Open Sans"/>
              </a:rPr>
              <a:t>hanya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memberikan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perpanjangan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waktu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pengumpulan</a:t>
            </a:r>
            <a:r>
              <a:rPr lang="en-US" sz="1600">
                <a:ea typeface="Open Sans"/>
                <a:cs typeface="Open Sans"/>
              </a:rPr>
              <a:t> TM </a:t>
            </a:r>
            <a:r>
              <a:rPr lang="en-US" sz="1600" b="1" err="1">
                <a:ea typeface="Open Sans"/>
                <a:cs typeface="Open Sans"/>
              </a:rPr>
              <a:t>apabila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terjadi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kesalahan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sistem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atau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dispensasi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absensi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mahasiswa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disetujui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>
                <a:ea typeface="Open Sans"/>
                <a:cs typeface="Open Sans"/>
              </a:rPr>
              <a:t>oleh Lecturer Services Center (LSC).</a:t>
            </a:r>
            <a:endParaRPr lang="en-US" sz="1600">
              <a:highlight>
                <a:srgbClr val="FF0000"/>
              </a:highlight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400C453-66D3-DC5B-0625-386AE06C5823}"/>
              </a:ext>
            </a:extLst>
          </p:cNvPr>
          <p:cNvSpPr txBox="1">
            <a:spLocks/>
          </p:cNvSpPr>
          <p:nvPr/>
        </p:nvSpPr>
        <p:spPr>
          <a:xfrm rot="21111523">
            <a:off x="757742" y="1854377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2952751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err="1">
                <a:ea typeface="Open Sans"/>
                <a:cs typeface="Open Sans"/>
              </a:rPr>
              <a:t>Untuk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kuis</a:t>
            </a:r>
            <a:r>
              <a:rPr lang="en-US" sz="1600" b="1">
                <a:ea typeface="Open Sans"/>
                <a:cs typeface="Open Sans"/>
              </a:rPr>
              <a:t> yang </a:t>
            </a:r>
            <a:r>
              <a:rPr lang="en-US" sz="1600" b="1" err="1">
                <a:ea typeface="Open Sans"/>
                <a:cs typeface="Open Sans"/>
              </a:rPr>
              <a:t>terjadwal</a:t>
            </a:r>
            <a:r>
              <a:rPr lang="en-US" sz="1600" b="1">
                <a:ea typeface="Open Sans"/>
                <a:cs typeface="Open Sans"/>
              </a:rPr>
              <a:t> daring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mengerjakan</a:t>
            </a:r>
            <a:r>
              <a:rPr lang="en-US" sz="1600">
                <a:ea typeface="Open Sans"/>
                <a:cs typeface="Open Sans"/>
              </a:rPr>
              <a:t> TM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versi</a:t>
            </a:r>
            <a:r>
              <a:rPr lang="en-US" sz="1600" b="1">
                <a:ea typeface="Open Sans"/>
                <a:cs typeface="Open Sans"/>
              </a:rPr>
              <a:t> software yang </a:t>
            </a:r>
            <a:r>
              <a:rPr lang="en-US" sz="1600" b="1" err="1">
                <a:ea typeface="Open Sans"/>
                <a:cs typeface="Open Sans"/>
              </a:rPr>
              <a:t>berbeda</a:t>
            </a:r>
            <a:r>
              <a:rPr lang="en-US" sz="1600">
                <a:ea typeface="Open Sans"/>
                <a:cs typeface="Open Sans"/>
              </a:rPr>
              <a:t>, TM </a:t>
            </a:r>
            <a:r>
              <a:rPr lang="en-US" sz="1600" err="1">
                <a:ea typeface="Open Sans"/>
                <a:cs typeface="Open Sans"/>
              </a:rPr>
              <a:t>akan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tetap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dikoreksi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menggunakan</a:t>
            </a:r>
            <a:r>
              <a:rPr lang="en-US" sz="1600">
                <a:ea typeface="Open Sans"/>
                <a:cs typeface="Open Sans"/>
              </a:rPr>
              <a:t> software dan </a:t>
            </a:r>
            <a:r>
              <a:rPr lang="en-US" sz="1600" err="1">
                <a:ea typeface="Open Sans"/>
                <a:cs typeface="Open Sans"/>
              </a:rPr>
              <a:t>versi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telah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ditetapkan</a:t>
            </a:r>
            <a:r>
              <a:rPr lang="en-US" sz="1600">
                <a:ea typeface="Open Sans"/>
                <a:cs typeface="Open Sans"/>
              </a:rPr>
              <a:t> pada Academic Book </a:t>
            </a:r>
            <a:r>
              <a:rPr lang="en-US" sz="1600" err="1">
                <a:ea typeface="Open Sans"/>
                <a:cs typeface="Open Sans"/>
              </a:rPr>
              <a:t>Praktikum</a:t>
            </a:r>
            <a:r>
              <a:rPr lang="en-US" sz="1600">
                <a:ea typeface="Open Sans"/>
                <a:cs typeface="Open Sans"/>
              </a:rPr>
              <a:t>. </a:t>
            </a:r>
            <a:r>
              <a:rPr lang="en-US" sz="1600" err="1">
                <a:ea typeface="Open Sans"/>
                <a:cs typeface="Open Sans"/>
              </a:rPr>
              <a:t>Hilangnya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nilai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karena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sebagian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atau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seluruh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fitur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tidak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berfungsi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akibat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dikerjakan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>
                <a:ea typeface="Open Sans"/>
                <a:cs typeface="Open Sans"/>
              </a:rPr>
              <a:t> software dan </a:t>
            </a:r>
            <a:r>
              <a:rPr lang="en-US" sz="1600" err="1">
                <a:ea typeface="Open Sans"/>
                <a:cs typeface="Open Sans"/>
              </a:rPr>
              <a:t>versi</a:t>
            </a:r>
            <a:r>
              <a:rPr lang="en-US" sz="1600">
                <a:ea typeface="Open Sans"/>
                <a:cs typeface="Open Sans"/>
              </a:rPr>
              <a:t> software yang </a:t>
            </a:r>
            <a:r>
              <a:rPr lang="en-US" sz="1600" err="1">
                <a:ea typeface="Open Sans"/>
                <a:cs typeface="Open Sans"/>
              </a:rPr>
              <a:t>berbeda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adalah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tanggung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jawab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. </a:t>
            </a:r>
            <a:endParaRPr lang="en-US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/>
              <a:t>Dalam </a:t>
            </a:r>
            <a:r>
              <a:rPr lang="en-US" sz="1600" err="1"/>
              <a:t>pelaksanaan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di </a:t>
            </a:r>
            <a:r>
              <a:rPr lang="en-US" sz="1600" err="1"/>
              <a:t>ruang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wajib</a:t>
            </a:r>
            <a:r>
              <a:rPr lang="en-US" sz="1600"/>
              <a:t> </a:t>
            </a:r>
            <a:r>
              <a:rPr lang="en-US" sz="1600" err="1"/>
              <a:t>menyimpan</a:t>
            </a:r>
            <a:r>
              <a:rPr lang="en-US" sz="1600"/>
              <a:t> file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ataupun</a:t>
            </a:r>
            <a:r>
              <a:rPr lang="en-US" sz="1600"/>
              <a:t> file backup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pada </a:t>
            </a:r>
            <a:r>
              <a:rPr lang="en-US" sz="1600" b="1" err="1"/>
              <a:t>direktori</a:t>
            </a:r>
            <a:r>
              <a:rPr lang="en-US" sz="1600"/>
              <a:t> </a:t>
            </a:r>
            <a:r>
              <a:rPr lang="en-US" sz="1600" b="1"/>
              <a:t>yang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ditetapkan</a:t>
            </a:r>
            <a:r>
              <a:rPr lang="en-US" sz="1600"/>
              <a:t>. </a:t>
            </a:r>
            <a:r>
              <a:rPr lang="en-US" sz="1600" err="1"/>
              <a:t>Kehilangan</a:t>
            </a:r>
            <a:r>
              <a:rPr lang="en-US" sz="1600"/>
              <a:t> file yang </a:t>
            </a:r>
            <a:r>
              <a:rPr lang="en-US" sz="1600" err="1"/>
              <a:t>terjadi</a:t>
            </a:r>
            <a:r>
              <a:rPr lang="en-US" sz="1600"/>
              <a:t>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err="1"/>
              <a:t>penyimpanan</a:t>
            </a:r>
            <a:r>
              <a:rPr lang="en-US" sz="1600"/>
              <a:t>, </a:t>
            </a:r>
            <a:r>
              <a:rPr lang="en-US" sz="1600" err="1"/>
              <a:t>kesalahan</a:t>
            </a:r>
            <a:r>
              <a:rPr lang="en-US" sz="1600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proses </a:t>
            </a:r>
            <a:r>
              <a:rPr lang="en-US" sz="1600" err="1"/>
              <a:t>penyimpanan</a:t>
            </a:r>
            <a:r>
              <a:rPr lang="en-US" sz="1600"/>
              <a:t>, </a:t>
            </a:r>
            <a:r>
              <a:rPr lang="en-US" sz="1600" err="1"/>
              <a:t>ataupun</a:t>
            </a:r>
            <a:r>
              <a:rPr lang="en-US" sz="1600"/>
              <a:t> </a:t>
            </a:r>
            <a:r>
              <a:rPr lang="en-US" sz="1600" err="1"/>
              <a:t>kesalahan</a:t>
            </a:r>
            <a:r>
              <a:rPr lang="en-US" sz="1600"/>
              <a:t> </a:t>
            </a:r>
            <a:r>
              <a:rPr lang="en-US" sz="1600" err="1"/>
              <a:t>lokasi</a:t>
            </a:r>
            <a:r>
              <a:rPr lang="en-US" sz="1600"/>
              <a:t> </a:t>
            </a:r>
            <a:r>
              <a:rPr lang="en-US" sz="1600" err="1"/>
              <a:t>penyimpanan</a:t>
            </a:r>
            <a:r>
              <a:rPr lang="en-US" sz="1600"/>
              <a:t> </a:t>
            </a:r>
            <a:r>
              <a:rPr lang="en-US" sz="1600" err="1"/>
              <a:t>selama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 </a:t>
            </a:r>
            <a:r>
              <a:rPr lang="en-US" sz="1600" err="1"/>
              <a:t>merupakan</a:t>
            </a:r>
            <a:r>
              <a:rPr lang="en-US" sz="1600"/>
              <a:t> </a:t>
            </a:r>
            <a:r>
              <a:rPr lang="en-US" sz="1600" b="1" err="1"/>
              <a:t>tanggung</a:t>
            </a:r>
            <a:r>
              <a:rPr lang="en-US" sz="1600" b="1"/>
              <a:t> </a:t>
            </a:r>
            <a:r>
              <a:rPr lang="en-US" sz="1600" b="1" err="1"/>
              <a:t>jawab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 b="1"/>
              <a:t> </a:t>
            </a:r>
            <a:r>
              <a:rPr lang="en-US" sz="1600" b="1" err="1"/>
              <a:t>sepenuhnya</a:t>
            </a:r>
            <a:r>
              <a:rPr lang="en-US" sz="1600"/>
              <a:t>.</a:t>
            </a:r>
            <a:endParaRPr lang="en-US"/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4066373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B4486-8A0F-970B-87C8-E83E19000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9DF9B-99F3-FB37-E450-61E1CA6EE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Terdapat</a:t>
            </a:r>
            <a:r>
              <a:rPr lang="en-US" sz="1600">
                <a:ea typeface="Open Sans"/>
                <a:cs typeface="Open Sans"/>
              </a:rPr>
              <a:t> batas </a:t>
            </a:r>
            <a:r>
              <a:rPr lang="en-US" sz="1600" b="1" err="1">
                <a:ea typeface="Open Sans"/>
                <a:cs typeface="Open Sans"/>
              </a:rPr>
              <a:t>maksimum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ukuran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keseluruhan</a:t>
            </a:r>
            <a:r>
              <a:rPr lang="en-US" sz="1600" b="1">
                <a:ea typeface="Open Sans"/>
                <a:cs typeface="Open Sans"/>
              </a:rPr>
              <a:t> file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 b="1">
                <a:ea typeface="Open Sans"/>
                <a:cs typeface="Open Sans"/>
              </a:rPr>
              <a:t> quiz </a:t>
            </a:r>
            <a:r>
              <a:rPr lang="en-US" sz="1600">
                <a:ea typeface="Open Sans"/>
                <a:cs typeface="Open Sans"/>
              </a:rPr>
              <a:t>(</a:t>
            </a:r>
            <a:r>
              <a:rPr lang="en-US" sz="1600" b="1" err="1">
                <a:ea typeface="Open Sans"/>
                <a:cs typeface="Open Sans"/>
              </a:rPr>
              <a:t>sebelum</a:t>
            </a:r>
            <a:r>
              <a:rPr lang="en-US" sz="1600" b="1">
                <a:ea typeface="Open Sans"/>
                <a:cs typeface="Open Sans"/>
              </a:rPr>
              <a:t> di-compress</a:t>
            </a:r>
            <a:r>
              <a:rPr lang="en-US" sz="1600">
                <a:ea typeface="Open Sans"/>
                <a:cs typeface="Open Sans"/>
              </a:rPr>
              <a:t>) </a:t>
            </a:r>
            <a:r>
              <a:rPr lang="en-US" sz="1600" err="1">
                <a:ea typeface="Open Sans"/>
                <a:cs typeface="Open Sans"/>
              </a:rPr>
              <a:t>sesuai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tercantum</a:t>
            </a:r>
            <a:r>
              <a:rPr lang="en-US" sz="1600">
                <a:ea typeface="Open Sans"/>
                <a:cs typeface="Open Sans"/>
              </a:rPr>
              <a:t> pada </a:t>
            </a:r>
            <a:r>
              <a:rPr lang="en-US" sz="1600" err="1">
                <a:ea typeface="Open Sans"/>
                <a:cs typeface="Open Sans"/>
              </a:rPr>
              <a:t>Buku</a:t>
            </a:r>
            <a:r>
              <a:rPr lang="en-US" sz="1600">
                <a:ea typeface="Open Sans"/>
                <a:cs typeface="Open Sans"/>
              </a:rPr>
              <a:t> Panduan Akademik Software Laboratory Center dan Laboratory Center </a:t>
            </a:r>
            <a:r>
              <a:rPr lang="en-US" sz="1600" err="1">
                <a:ea typeface="Open Sans"/>
                <a:cs typeface="Open Sans"/>
              </a:rPr>
              <a:t>bagian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Sistem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Praktikum</a:t>
            </a:r>
            <a:r>
              <a:rPr lang="en-US" sz="1600">
                <a:ea typeface="Open Sans"/>
                <a:cs typeface="Open Sans"/>
              </a:rPr>
              <a:t> (Academic Book). Jika </a:t>
            </a:r>
            <a:r>
              <a:rPr lang="en-US" sz="1600" b="1" err="1">
                <a:ea typeface="Open Sans"/>
                <a:cs typeface="Open Sans"/>
              </a:rPr>
              <a:t>ukuran</a:t>
            </a:r>
            <a:r>
              <a:rPr lang="en-US" sz="1600" b="1">
                <a:ea typeface="Open Sans"/>
                <a:cs typeface="Open Sans"/>
              </a:rPr>
              <a:t> file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lebih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dari</a:t>
            </a:r>
            <a:r>
              <a:rPr lang="en-US" sz="1600" b="1">
                <a:ea typeface="Open Sans"/>
                <a:cs typeface="Open Sans"/>
              </a:rPr>
              <a:t> yang </a:t>
            </a:r>
            <a:r>
              <a:rPr lang="en-US" sz="1600" b="1" err="1">
                <a:ea typeface="Open Sans"/>
                <a:cs typeface="Open Sans"/>
              </a:rPr>
              <a:t>ditentukan</a:t>
            </a:r>
            <a:r>
              <a:rPr lang="en-US" sz="1600">
                <a:ea typeface="Open Sans"/>
                <a:cs typeface="Open Sans"/>
              </a:rPr>
              <a:t> (</a:t>
            </a:r>
            <a:r>
              <a:rPr lang="en-US" sz="1600" err="1">
                <a:ea typeface="Open Sans"/>
                <a:cs typeface="Open Sans"/>
              </a:rPr>
              <a:t>sebelum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dikompres</a:t>
            </a:r>
            <a:r>
              <a:rPr lang="en-US" sz="1600">
                <a:ea typeface="Open Sans"/>
                <a:cs typeface="Open Sans"/>
              </a:rPr>
              <a:t>), </a:t>
            </a:r>
            <a:r>
              <a:rPr lang="en-US" sz="1600" b="1" err="1">
                <a:ea typeface="Open Sans"/>
                <a:cs typeface="Open Sans"/>
              </a:rPr>
              <a:t>nilai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dipotong</a:t>
            </a:r>
            <a:r>
              <a:rPr lang="en-US" sz="1600" b="1">
                <a:ea typeface="Open Sans"/>
                <a:cs typeface="Open Sans"/>
              </a:rPr>
              <a:t> 20%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dari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nilai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didapat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b="1" err="1">
                <a:ea typeface="Open Sans"/>
                <a:cs typeface="Open Sans"/>
              </a:rPr>
              <a:t>Untuk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kuis</a:t>
            </a:r>
            <a:r>
              <a:rPr lang="en-US" sz="1600" b="1">
                <a:ea typeface="Open Sans"/>
                <a:cs typeface="Open Sans"/>
              </a:rPr>
              <a:t> yang </a:t>
            </a:r>
            <a:r>
              <a:rPr lang="en-US" sz="1600" b="1" err="1">
                <a:ea typeface="Open Sans"/>
                <a:cs typeface="Open Sans"/>
              </a:rPr>
              <a:t>terjadwal</a:t>
            </a:r>
            <a:r>
              <a:rPr lang="en-US" sz="1600" b="1">
                <a:ea typeface="Open Sans"/>
                <a:cs typeface="Open Sans"/>
              </a:rPr>
              <a:t> daring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err="1">
                <a:ea typeface="Open Sans"/>
                <a:cs typeface="Open Sans"/>
              </a:rPr>
              <a:t>terkumpulnya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di </a:t>
            </a:r>
            <a:r>
              <a:rPr lang="en-US" sz="1600" err="1">
                <a:ea typeface="Open Sans"/>
                <a:cs typeface="Open Sans"/>
              </a:rPr>
              <a:t>luar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ruang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adalah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sepenuhnya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tanggung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jawab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.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hilang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atau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rusak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karena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kejadian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tidak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diinginkan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atau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masalah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sistem</a:t>
            </a:r>
            <a:r>
              <a:rPr lang="en-US" sz="1600">
                <a:ea typeface="Open Sans"/>
                <a:cs typeface="Open Sans"/>
              </a:rPr>
              <a:t> pada </a:t>
            </a:r>
            <a:r>
              <a:rPr lang="en-US" sz="1600" err="1">
                <a:ea typeface="Open Sans"/>
                <a:cs typeface="Open Sans"/>
              </a:rPr>
              <a:t>pengumpulan</a:t>
            </a:r>
            <a:r>
              <a:rPr lang="en-US" sz="1600">
                <a:ea typeface="Open Sans"/>
                <a:cs typeface="Open Sans"/>
              </a:rPr>
              <a:t> di </a:t>
            </a:r>
            <a:r>
              <a:rPr lang="en-US" sz="1600" err="1">
                <a:ea typeface="Open Sans"/>
                <a:cs typeface="Open Sans"/>
              </a:rPr>
              <a:t>luar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ruang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tetap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dikoreksi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sesuai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aturan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koreksi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nilai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berlaku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24514C-F1B1-5866-1368-038C111CFE9F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1163099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24718-0435-AD62-37D2-CBE2A56D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A3A5E-4842-1227-3A57-8171F9D2E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kuis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berkelompok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dilakukan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secara</a:t>
            </a:r>
            <a:r>
              <a:rPr lang="en-US" sz="1600">
                <a:ea typeface="Open Sans"/>
                <a:cs typeface="Open Sans"/>
              </a:rPr>
              <a:t> onsite, </a:t>
            </a:r>
            <a:r>
              <a:rPr lang="en-US" sz="1600" b="1" err="1">
                <a:ea typeface="Open Sans"/>
                <a:cs typeface="Open Sans"/>
              </a:rPr>
              <a:t>anggota</a:t>
            </a:r>
            <a:r>
              <a:rPr lang="en-US" sz="1600" b="1">
                <a:ea typeface="Open Sans"/>
                <a:cs typeface="Open Sans"/>
              </a:rPr>
              <a:t> yang 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hadir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mendapat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nilai</a:t>
            </a:r>
            <a:r>
              <a:rPr lang="en-US" sz="1600" b="1">
                <a:ea typeface="Open Sans"/>
                <a:cs typeface="Open Sans"/>
              </a:rPr>
              <a:t> nol.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Nilai </a:t>
            </a:r>
            <a:r>
              <a:rPr lang="en-US" sz="1600" b="1" err="1">
                <a:ea typeface="Open Sans"/>
                <a:cs typeface="Open Sans"/>
              </a:rPr>
              <a:t>dinolkan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ea typeface="Open Sans"/>
                <a:cs typeface="Open Sans"/>
              </a:rPr>
              <a:t>Tidak </a:t>
            </a:r>
            <a:r>
              <a:rPr lang="en-US" sz="1400" err="1">
                <a:ea typeface="Open Sans"/>
                <a:cs typeface="Open Sans"/>
              </a:rPr>
              <a:t>hadir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saat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berkelompok</a:t>
            </a:r>
            <a:r>
              <a:rPr lang="en-US" sz="1400">
                <a:ea typeface="Open Sans"/>
                <a:cs typeface="Open Sans"/>
              </a:rPr>
              <a:t> yang </a:t>
            </a:r>
            <a:r>
              <a:rPr lang="en-US" sz="1400" err="1">
                <a:ea typeface="Open Sans"/>
                <a:cs typeface="Open Sans"/>
              </a:rPr>
              <a:t>dilakukan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secara</a:t>
            </a:r>
            <a:r>
              <a:rPr lang="en-US" sz="1400">
                <a:ea typeface="Open Sans"/>
                <a:cs typeface="Open Sans"/>
              </a:rPr>
              <a:t> onsite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Membawa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sontekan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melakukan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tindakan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sontek-menyontek</a:t>
            </a:r>
            <a:r>
              <a:rPr lang="en-US" sz="14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b="1" err="1">
                <a:ea typeface="Open Sans"/>
                <a:cs typeface="Open Sans"/>
              </a:rPr>
              <a:t>Bekerja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sama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dengan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/</a:t>
            </a:r>
            <a:r>
              <a:rPr lang="en-US" sz="1400" err="1">
                <a:ea typeface="Open Sans"/>
                <a:cs typeface="Open Sans"/>
              </a:rPr>
              <a:t>kelompok</a:t>
            </a:r>
            <a:r>
              <a:rPr lang="en-US" sz="1400">
                <a:ea typeface="Open Sans"/>
                <a:cs typeface="Open Sans"/>
              </a:rPr>
              <a:t> lain.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ea typeface="Open Sans"/>
                <a:cs typeface="Open Sans"/>
              </a:rPr>
              <a:t>Barang yang </a:t>
            </a:r>
            <a:r>
              <a:rPr lang="en-US" sz="1400" err="1">
                <a:ea typeface="Open Sans"/>
                <a:cs typeface="Open Sans"/>
              </a:rPr>
              <a:t>dibawa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 (</a:t>
            </a:r>
            <a:r>
              <a:rPr lang="en-US" sz="1400" err="1">
                <a:ea typeface="Open Sans"/>
                <a:cs typeface="Open Sans"/>
              </a:rPr>
              <a:t>buku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i="1">
                <a:ea typeface="Open Sans"/>
                <a:cs typeface="Open Sans"/>
              </a:rPr>
              <a:t>portable disk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err="1">
                <a:ea typeface="Open Sans"/>
                <a:cs typeface="Open Sans"/>
              </a:rPr>
              <a:t>alat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komunikasi</a:t>
            </a:r>
            <a:r>
              <a:rPr lang="en-US" sz="1400">
                <a:ea typeface="Open Sans"/>
                <a:cs typeface="Open Sans"/>
              </a:rPr>
              <a:t>/</a:t>
            </a:r>
            <a:r>
              <a:rPr lang="en-US" sz="1400" err="1">
                <a:ea typeface="Open Sans"/>
                <a:cs typeface="Open Sans"/>
              </a:rPr>
              <a:t>elektronik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err="1">
                <a:ea typeface="Open Sans"/>
                <a:cs typeface="Open Sans"/>
              </a:rPr>
              <a:t>dsb</a:t>
            </a:r>
            <a:r>
              <a:rPr lang="en-US" sz="1400">
                <a:ea typeface="Open Sans"/>
                <a:cs typeface="Open Sans"/>
              </a:rPr>
              <a:t>.) </a:t>
            </a:r>
            <a:r>
              <a:rPr lang="en-US" sz="1400" err="1">
                <a:ea typeface="Open Sans"/>
                <a:cs typeface="Open Sans"/>
              </a:rPr>
              <a:t>tidak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disimpan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ke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dalam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tempat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penyimpanan</a:t>
            </a:r>
            <a:r>
              <a:rPr lang="en-US" sz="1400" b="1">
                <a:ea typeface="Open Sans"/>
                <a:cs typeface="Open Sans"/>
              </a:rPr>
              <a:t> yang </a:t>
            </a:r>
            <a:r>
              <a:rPr lang="en-US" sz="1400" b="1" err="1">
                <a:ea typeface="Open Sans"/>
                <a:cs typeface="Open Sans"/>
              </a:rPr>
              <a:t>sudah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disediakan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diletakkan</a:t>
            </a:r>
            <a:r>
              <a:rPr lang="en-US" sz="1400">
                <a:ea typeface="Open Sans"/>
                <a:cs typeface="Open Sans"/>
              </a:rPr>
              <a:t> di podium (</a:t>
            </a:r>
            <a:r>
              <a:rPr lang="en-US" sz="1400" err="1">
                <a:ea typeface="Open Sans"/>
                <a:cs typeface="Open Sans"/>
              </a:rPr>
              <a:t>untuk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 yang </a:t>
            </a:r>
            <a:r>
              <a:rPr lang="en-US" sz="1400" err="1">
                <a:ea typeface="Open Sans"/>
                <a:cs typeface="Open Sans"/>
              </a:rPr>
              <a:t>berjalan</a:t>
            </a:r>
            <a:r>
              <a:rPr lang="en-US" sz="1400">
                <a:ea typeface="Open Sans"/>
                <a:cs typeface="Open Sans"/>
              </a:rPr>
              <a:t> di </a:t>
            </a:r>
            <a:r>
              <a:rPr lang="en-US" sz="1400" err="1">
                <a:ea typeface="Open Sans"/>
                <a:cs typeface="Open Sans"/>
              </a:rPr>
              <a:t>ruang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praktikum</a:t>
            </a:r>
            <a:r>
              <a:rPr lang="en-US" sz="1400">
                <a:ea typeface="Open Sans"/>
                <a:cs typeface="Open Sans"/>
              </a:rPr>
              <a:t>).</a:t>
            </a:r>
          </a:p>
          <a:p>
            <a:pPr lvl="1" algn="just">
              <a:lnSpc>
                <a:spcPct val="150000"/>
              </a:lnSpc>
              <a:buFont typeface="Calibri,Sans-Serif" pitchFamily="34" charset="0"/>
              <a:buChar char="-"/>
            </a:pPr>
            <a:r>
              <a:rPr lang="en-US" sz="1400">
                <a:ea typeface="Open Sans"/>
                <a:cs typeface="Open Sans"/>
              </a:rPr>
              <a:t>Meng-</a:t>
            </a:r>
            <a:r>
              <a:rPr lang="en-US" sz="1400" i="1">
                <a:ea typeface="Open Sans"/>
                <a:cs typeface="Open Sans"/>
              </a:rPr>
              <a:t>copy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membawa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soal</a:t>
            </a:r>
            <a:r>
              <a:rPr lang="en-US" sz="1400" b="1">
                <a:ea typeface="Open Sans"/>
                <a:cs typeface="Open Sans"/>
              </a:rPr>
              <a:t>/</a:t>
            </a:r>
            <a:r>
              <a:rPr lang="en-US" sz="1400" b="1" err="1">
                <a:ea typeface="Open Sans"/>
                <a:cs typeface="Open Sans"/>
              </a:rPr>
              <a:t>jawaban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kuis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keluar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ruang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dalam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bentuk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apapun</a:t>
            </a:r>
            <a:r>
              <a:rPr lang="en-US" sz="1400">
                <a:ea typeface="Open Sans"/>
                <a:cs typeface="Open Sans"/>
              </a:rPr>
              <a:t> (</a:t>
            </a:r>
            <a:r>
              <a:rPr lang="en-US" sz="1400" err="1">
                <a:ea typeface="Open Sans"/>
                <a:cs typeface="Open Sans"/>
              </a:rPr>
              <a:t>untuk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 yang </a:t>
            </a:r>
            <a:r>
              <a:rPr lang="en-US" sz="1400" err="1">
                <a:ea typeface="Open Sans"/>
                <a:cs typeface="Open Sans"/>
              </a:rPr>
              <a:t>berjalan</a:t>
            </a:r>
            <a:r>
              <a:rPr lang="en-US" sz="1400">
                <a:ea typeface="Open Sans"/>
                <a:cs typeface="Open Sans"/>
              </a:rPr>
              <a:t> di </a:t>
            </a:r>
            <a:r>
              <a:rPr lang="en-US" sz="1400" err="1">
                <a:ea typeface="Open Sans"/>
                <a:cs typeface="Open Sans"/>
              </a:rPr>
              <a:t>ruang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praktikum</a:t>
            </a:r>
            <a:r>
              <a:rPr lang="en-US" sz="1400">
                <a:ea typeface="Open Sans"/>
                <a:cs typeface="Open Sans"/>
              </a:rPr>
              <a:t>).</a:t>
            </a:r>
          </a:p>
          <a:p>
            <a:pPr lvl="1" algn="just">
              <a:lnSpc>
                <a:spcPct val="150000"/>
              </a:lnSpc>
              <a:buFont typeface="Calibri,Sans-Serif" pitchFamily="34" charset="0"/>
              <a:buChar char="-"/>
            </a:pPr>
            <a:r>
              <a:rPr lang="en-US" sz="1400" err="1">
                <a:ea typeface="Open Sans"/>
                <a:cs typeface="Open Sans"/>
              </a:rPr>
              <a:t>Mengumpulkan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i="1">
                <a:ea typeface="Open Sans"/>
                <a:cs typeface="Open Sans"/>
              </a:rPr>
              <a:t>file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jawaban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setelah</a:t>
            </a:r>
            <a:r>
              <a:rPr lang="en-US" sz="1400" b="1">
                <a:ea typeface="Open Sans"/>
                <a:cs typeface="Open Sans"/>
              </a:rPr>
              <a:t> batas </a:t>
            </a:r>
            <a:r>
              <a:rPr lang="en-US" sz="1400" b="1" err="1">
                <a:ea typeface="Open Sans"/>
                <a:cs typeface="Open Sans"/>
              </a:rPr>
              <a:t>waktu</a:t>
            </a:r>
            <a:r>
              <a:rPr lang="en-US" sz="1400" b="1">
                <a:ea typeface="Open Sans"/>
                <a:cs typeface="Open Sans"/>
              </a:rPr>
              <a:t> yang </a:t>
            </a:r>
            <a:r>
              <a:rPr lang="en-US" sz="1400" b="1" err="1">
                <a:ea typeface="Open Sans"/>
                <a:cs typeface="Open Sans"/>
              </a:rPr>
              <a:t>ditentukan</a:t>
            </a:r>
            <a:r>
              <a:rPr lang="en-US" sz="14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alibri,Sans-Serif" pitchFamily="34" charset="0"/>
              <a:buChar char="-"/>
            </a:pPr>
            <a:r>
              <a:rPr lang="en-US" sz="1400" b="1">
                <a:ea typeface="Open Sans"/>
                <a:cs typeface="Open Sans"/>
              </a:rPr>
              <a:t>Tidak </a:t>
            </a:r>
            <a:r>
              <a:rPr lang="en-US" sz="1400" b="1" err="1">
                <a:ea typeface="Open Sans"/>
                <a:cs typeface="Open Sans"/>
              </a:rPr>
              <a:t>mengirimkan</a:t>
            </a:r>
            <a:r>
              <a:rPr lang="en-US" sz="1400" b="1">
                <a:ea typeface="Open Sans"/>
                <a:cs typeface="Open Sans"/>
              </a:rPr>
              <a:t>/</a:t>
            </a:r>
            <a:r>
              <a:rPr lang="en-US" sz="1400" b="1" err="1">
                <a:ea typeface="Open Sans"/>
                <a:cs typeface="Open Sans"/>
              </a:rPr>
              <a:t>mengumpulkan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i="1">
                <a:ea typeface="Open Sans"/>
                <a:cs typeface="Open Sans"/>
              </a:rPr>
              <a:t>file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jawaban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</a:pPr>
            <a:endParaRPr lang="en-US" sz="1400">
              <a:ea typeface="Open Sans"/>
              <a:cs typeface="Open San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2D5A8-BCD9-C772-F136-9C9558C8AFD2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14161555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Nilai </a:t>
            </a:r>
            <a:r>
              <a:rPr lang="en-US" sz="1600" b="1" err="1"/>
              <a:t>dinolkan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 (cont.):</a:t>
            </a: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Mendapat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teguran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3 (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tiga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) kali 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(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untuk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yang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berjalan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di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ruang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praktikum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).</a:t>
            </a: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Ditemukan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adanya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kesamaan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pada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jawaban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dengan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mahasiswa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/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kelompok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lain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saat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diperiksa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oleh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korektor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.</a:t>
            </a:r>
            <a:endParaRPr lang="en-US"/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Untuk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yang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terjadwal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daring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,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ditemukan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adanya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kesamaan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pada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jawaban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dengan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referensi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apapun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(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buku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,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catatan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, internet, forum, Video Based Learning, class recording, Chatbot,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dsb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.).</a:t>
            </a: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Jawaban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yang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dikumpulkan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tidak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sesuai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/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berbeda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tema</a:t>
            </a:r>
            <a:r>
              <a:rPr lang="en-US" sz="1400" b="1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dengan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soal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 yang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ditentukan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.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endParaRPr lang="en-US" sz="14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3518508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774BDB43-B808-D96F-63E1-9F33A2A0AD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6681139"/>
              </p:ext>
            </p:extLst>
          </p:nvPr>
        </p:nvGraphicFramePr>
        <p:xfrm>
          <a:off x="1066800" y="1676400"/>
          <a:ext cx="7620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5752">
                  <a:extLst>
                    <a:ext uri="{9D8B030D-6E8A-4147-A177-3AD203B41FA5}">
                      <a16:colId xmlns:a16="http://schemas.microsoft.com/office/drawing/2014/main" val="1938559949"/>
                    </a:ext>
                  </a:extLst>
                </a:gridCol>
                <a:gridCol w="4184248">
                  <a:extLst>
                    <a:ext uri="{9D8B030D-6E8A-4147-A177-3AD203B41FA5}">
                      <a16:colId xmlns:a16="http://schemas.microsoft.com/office/drawing/2014/main" val="1119436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Sanksi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Pengurangan</a:t>
                      </a:r>
                      <a:r>
                        <a:rPr lang="en-US"/>
                        <a:t> Nilai (</a:t>
                      </a:r>
                      <a:r>
                        <a:rPr lang="en-US" err="1"/>
                        <a:t>terakumulasi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43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Pertama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10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3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Kedua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20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231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Ketiga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100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8312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9BA10C-3A3B-B075-02D8-FB30E2684C75}"/>
              </a:ext>
            </a:extLst>
          </p:cNvPr>
          <p:cNvSpPr txBox="1">
            <a:spLocks/>
          </p:cNvSpPr>
          <p:nvPr/>
        </p:nvSpPr>
        <p:spPr>
          <a:xfrm>
            <a:off x="1054099" y="3237186"/>
            <a:ext cx="7696201" cy="33160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Contoh</a:t>
            </a:r>
            <a:r>
              <a:rPr lang="en-US" sz="1600"/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mendapat</a:t>
            </a:r>
            <a:r>
              <a:rPr lang="en-US" sz="1600"/>
              <a:t> </a:t>
            </a:r>
            <a:r>
              <a:rPr lang="en-US" sz="1600" err="1"/>
              <a:t>dua</a:t>
            </a:r>
            <a:r>
              <a:rPr lang="en-US" sz="1600"/>
              <a:t> kali </a:t>
            </a:r>
            <a:r>
              <a:rPr lang="en-US" sz="1600" err="1"/>
              <a:t>teguran</a:t>
            </a:r>
            <a:r>
              <a:rPr lang="en-US" sz="1600"/>
              <a:t>,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seharusnya</a:t>
            </a:r>
            <a:r>
              <a:rPr lang="en-US" sz="1600"/>
              <a:t> </a:t>
            </a:r>
            <a:r>
              <a:rPr lang="en-US" sz="1600" err="1"/>
              <a:t>mendapat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100,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akhir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100 – 10 – 20 = 70.</a:t>
            </a: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5153321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Prosedur</a:t>
            </a:r>
            <a:r>
              <a:rPr lang="en-US"/>
              <a:t> </a:t>
            </a:r>
            <a:r>
              <a:rPr lang="en-US" err="1"/>
              <a:t>Penggunaan</a:t>
            </a:r>
            <a:r>
              <a:rPr lang="en-US"/>
              <a:t> Web Uploader </a:t>
            </a:r>
            <a:r>
              <a:rPr lang="en-US" err="1"/>
              <a:t>untuk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TM/UAP</a:t>
            </a:r>
            <a:endParaRPr lang="en-US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612800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Web Uploader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b="1" err="1"/>
              <a:t>lokal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lab.slc.net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global </a:t>
            </a:r>
            <a:r>
              <a:rPr lang="en-US" sz="1600" err="1"/>
              <a:t>melalui</a:t>
            </a:r>
            <a:r>
              <a:rPr lang="en-US" sz="1600"/>
              <a:t> laboratory.binus.ac.id/lab.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Masukkan </a:t>
            </a:r>
            <a:r>
              <a:rPr lang="en-US" sz="1600" b="1"/>
              <a:t>student id (NIM) </a:t>
            </a:r>
            <a:r>
              <a:rPr lang="en-US" sz="1600"/>
              <a:t>dan </a:t>
            </a:r>
            <a:r>
              <a:rPr lang="en-US" sz="1600" b="1"/>
              <a:t>password </a:t>
            </a:r>
            <a:r>
              <a:rPr lang="en-US" sz="1600" b="1" err="1"/>
              <a:t>Binusmaya</a:t>
            </a:r>
            <a:r>
              <a:rPr lang="en-US" sz="1600" b="1"/>
              <a:t> </a:t>
            </a:r>
            <a:r>
              <a:rPr lang="en-US" sz="1600"/>
              <a:t>pada form Sign In.</a:t>
            </a:r>
          </a:p>
          <a:p>
            <a:pPr algn="just">
              <a:lnSpc>
                <a:spcPct val="150000"/>
              </a:lnSpc>
            </a:pPr>
            <a:endParaRPr lang="en-US" sz="160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Sign In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F441612-E5F6-4D57-AA69-97560822A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902" y="3006828"/>
            <a:ext cx="3116423" cy="313997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B933BB-B706-714C-D876-45393D559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744420"/>
              </p:ext>
            </p:extLst>
          </p:nvPr>
        </p:nvGraphicFramePr>
        <p:xfrm>
          <a:off x="4915582" y="4110396"/>
          <a:ext cx="3329783" cy="1173480"/>
        </p:xfrm>
        <a:graphic>
          <a:graphicData uri="http://schemas.openxmlformats.org/drawingml/2006/table">
            <a:tbl>
              <a:tblPr/>
              <a:tblGrid>
                <a:gridCol w="1135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Student</a:t>
                      </a:r>
                      <a:r>
                        <a:rPr lang="en-US" sz="1600" b="1" i="0" u="none" strike="noStrike" baseline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[NIM] </a:t>
                      </a:r>
                      <a:b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e.g. 1601212100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Password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[Password </a:t>
                      </a:r>
                      <a:r>
                        <a:rPr lang="en-US" sz="16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Binusmaya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9491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berhasil</a:t>
            </a:r>
            <a:r>
              <a:rPr lang="en-US" sz="1600"/>
              <a:t> </a:t>
            </a:r>
            <a:r>
              <a:rPr lang="en-US" sz="1600" i="1"/>
              <a:t>sign in</a:t>
            </a:r>
            <a:r>
              <a:rPr lang="en-US" sz="1600"/>
              <a:t>, </a:t>
            </a:r>
            <a:r>
              <a:rPr lang="en-US" sz="1600" err="1"/>
              <a:t>aplikasi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mengecek</a:t>
            </a:r>
            <a:r>
              <a:rPr lang="en-US" sz="1600"/>
              <a:t> </a:t>
            </a:r>
            <a:r>
              <a:rPr lang="en-US" sz="1600" err="1"/>
              <a:t>adanya</a:t>
            </a:r>
            <a:r>
              <a:rPr lang="en-US" sz="1600"/>
              <a:t> </a:t>
            </a:r>
            <a:r>
              <a:rPr lang="en-US" sz="1600" err="1"/>
              <a:t>transaksi</a:t>
            </a:r>
            <a:r>
              <a:rPr lang="en-US" sz="1600"/>
              <a:t> TM/UAP pada </a:t>
            </a:r>
            <a:r>
              <a:rPr lang="en-US" sz="1600" err="1"/>
              <a:t>pertemuan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Jika </a:t>
            </a:r>
            <a:r>
              <a:rPr lang="en-US" sz="1600" err="1"/>
              <a:t>ada</a:t>
            </a:r>
            <a:r>
              <a:rPr lang="en-US" sz="1600"/>
              <a:t>, </a:t>
            </a:r>
            <a:r>
              <a:rPr lang="en-US" sz="1600" err="1"/>
              <a:t>aplikasi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menampilkan</a:t>
            </a:r>
            <a:r>
              <a:rPr lang="en-US" sz="1600"/>
              <a:t> form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b="1" err="1"/>
              <a:t>memenuhi</a:t>
            </a:r>
            <a:r>
              <a:rPr lang="en-US" sz="1600" b="1"/>
              <a:t> </a:t>
            </a:r>
            <a:r>
              <a:rPr lang="en-US" sz="1600" b="1" err="1"/>
              <a:t>persyaratan</a:t>
            </a:r>
            <a:r>
              <a:rPr lang="en-US" sz="1600" b="1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TM/UAP. </a:t>
            </a:r>
            <a:r>
              <a:rPr lang="en-US" sz="1600" err="1"/>
              <a:t>Lakukan</a:t>
            </a:r>
            <a:r>
              <a:rPr lang="en-US" sz="1600"/>
              <a:t>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TM/UAP (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Binusian</a:t>
            </a:r>
            <a:r>
              <a:rPr lang="en-US" sz="1600"/>
              <a:t> Card </a:t>
            </a:r>
            <a:r>
              <a:rPr lang="en-US" sz="1600" err="1"/>
              <a:t>berlaku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UAP).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Konfirmasi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 Persyaratan TM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198739-B8EC-155A-9E15-31D9186016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86" t="32639" r="21478" b="29747"/>
          <a:stretch/>
        </p:blipFill>
        <p:spPr>
          <a:xfrm>
            <a:off x="2427007" y="4086597"/>
            <a:ext cx="4922386" cy="23977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91660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, detail </a:t>
            </a:r>
            <a:r>
              <a:rPr lang="en-US" sz="1600" err="1"/>
              <a:t>transaksi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berjalan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ditampilkan</a:t>
            </a:r>
            <a:r>
              <a:rPr lang="en-US" sz="1600"/>
              <a:t> pada Home, </a:t>
            </a:r>
            <a:r>
              <a:rPr lang="en-US" sz="1600" err="1"/>
              <a:t>antara</a:t>
            </a:r>
            <a:r>
              <a:rPr lang="en-US" sz="1600"/>
              <a:t> lain </a:t>
            </a:r>
            <a:r>
              <a:rPr lang="en-US" sz="1600" err="1"/>
              <a:t>kode</a:t>
            </a:r>
            <a:r>
              <a:rPr lang="en-US" sz="1600"/>
              <a:t> dan </a:t>
            </a:r>
            <a:r>
              <a:rPr lang="en-US" sz="1600" err="1"/>
              <a:t>nama</a:t>
            </a:r>
            <a:r>
              <a:rPr lang="en-US" sz="1600"/>
              <a:t> </a:t>
            </a:r>
            <a:r>
              <a:rPr lang="en-US" sz="1600" err="1"/>
              <a:t>mata</a:t>
            </a:r>
            <a:r>
              <a:rPr lang="en-US" sz="1600"/>
              <a:t> </a:t>
            </a:r>
            <a:r>
              <a:rPr lang="en-US" sz="1600" err="1"/>
              <a:t>kuliah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, </a:t>
            </a:r>
            <a:r>
              <a:rPr lang="en-US" sz="1600" err="1"/>
              <a:t>ruangan</a:t>
            </a:r>
            <a:r>
              <a:rPr lang="en-US" sz="1600"/>
              <a:t>, </a:t>
            </a:r>
            <a:r>
              <a:rPr lang="en-US" sz="1600" err="1"/>
              <a:t>serta</a:t>
            </a:r>
            <a:r>
              <a:rPr lang="en-US" sz="1600"/>
              <a:t> </a:t>
            </a:r>
            <a:r>
              <a:rPr lang="en-US" sz="1600" err="1"/>
              <a:t>durasi</a:t>
            </a:r>
            <a:r>
              <a:rPr lang="en-US" sz="1600"/>
              <a:t> TM/UAP. </a:t>
            </a:r>
            <a:r>
              <a:rPr lang="en-US" sz="1600" err="1"/>
              <a:t>Perhatikan</a:t>
            </a:r>
            <a:r>
              <a:rPr lang="en-US" sz="1600"/>
              <a:t> </a:t>
            </a:r>
            <a:r>
              <a:rPr lang="en-US" sz="1600" b="1" err="1"/>
              <a:t>waktu</a:t>
            </a:r>
            <a:r>
              <a:rPr lang="en-US" sz="1600" b="1"/>
              <a:t> </a:t>
            </a:r>
            <a:r>
              <a:rPr lang="en-US" sz="1600" b="1" err="1"/>
              <a:t>pengerjaan</a:t>
            </a:r>
            <a:r>
              <a:rPr lang="en-US" sz="1600" b="1"/>
              <a:t> TM/UAP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Home</a:t>
            </a:r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9A61DA0-DF2B-9C82-1C62-4DCB79C1B7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t="9730" r="9000" b="44549"/>
          <a:stretch/>
        </p:blipFill>
        <p:spPr>
          <a:xfrm>
            <a:off x="1470659" y="3429000"/>
            <a:ext cx="6888480" cy="2637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6346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Di </a:t>
            </a:r>
            <a:r>
              <a:rPr lang="en-US" sz="1600" err="1"/>
              <a:t>bawah</a:t>
            </a:r>
            <a:r>
              <a:rPr lang="en-US" sz="1600"/>
              <a:t> detail </a:t>
            </a:r>
            <a:r>
              <a:rPr lang="en-US" sz="1600" err="1"/>
              <a:t>transaksi</a:t>
            </a:r>
            <a:r>
              <a:rPr lang="en-US" sz="1600"/>
              <a:t> TM/UAP yang </a:t>
            </a:r>
            <a:r>
              <a:rPr lang="en-US" sz="1600" err="1"/>
              <a:t>berlangsung</a:t>
            </a:r>
            <a:r>
              <a:rPr lang="en-US" sz="1600"/>
              <a:t>,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ditampilkan</a:t>
            </a:r>
            <a:r>
              <a:rPr lang="en-US" sz="1600"/>
              <a:t> detail </a:t>
            </a:r>
            <a:r>
              <a:rPr lang="en-US" sz="1600" i="1"/>
              <a:t>form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serta</a:t>
            </a:r>
            <a:r>
              <a:rPr lang="en-US" sz="1600"/>
              <a:t> 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TM/UAP </a:t>
            </a:r>
            <a:r>
              <a:rPr lang="en-US" sz="1600" err="1"/>
              <a:t>transaksi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pada </a:t>
            </a:r>
            <a:r>
              <a:rPr lang="en-US" sz="1600" b="1" i="1"/>
              <a:t>hyperlink ‘here’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1)</a:t>
            </a:r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DEA0C7D-F5F6-DED2-E455-3B4BD97965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t="55305" r="37912" b="-400"/>
          <a:stretch/>
        </p:blipFill>
        <p:spPr>
          <a:xfrm>
            <a:off x="1293948" y="3586480"/>
            <a:ext cx="4446452" cy="260096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D4A00E3-3DBA-A8C2-358F-08EFE11526AA}"/>
              </a:ext>
            </a:extLst>
          </p:cNvPr>
          <p:cNvGrpSpPr/>
          <p:nvPr/>
        </p:nvGrpSpPr>
        <p:grpSpPr>
          <a:xfrm>
            <a:off x="4808778" y="3429000"/>
            <a:ext cx="3459640" cy="1035783"/>
            <a:chOff x="3284778" y="3322320"/>
            <a:chExt cx="3459640" cy="10357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0C09CE2-42BC-F0E9-8510-9412495479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202" t="21435"/>
            <a:stretch/>
          </p:blipFill>
          <p:spPr>
            <a:xfrm>
              <a:off x="3284778" y="3322320"/>
              <a:ext cx="3459640" cy="10357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002DFA-88C2-A83C-CA86-4FF29FCDC608}"/>
                </a:ext>
              </a:extLst>
            </p:cNvPr>
            <p:cNvSpPr/>
            <p:nvPr/>
          </p:nvSpPr>
          <p:spPr>
            <a:xfrm>
              <a:off x="5527040" y="3830320"/>
              <a:ext cx="579120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23AE61-6A61-073E-E8DC-BAAB1A623DCF}"/>
              </a:ext>
            </a:extLst>
          </p:cNvPr>
          <p:cNvCxnSpPr>
            <a:endCxn id="7" idx="1"/>
          </p:cNvCxnSpPr>
          <p:nvPr/>
        </p:nvCxnSpPr>
        <p:spPr>
          <a:xfrm flipV="1">
            <a:off x="3037840" y="3946892"/>
            <a:ext cx="1770938" cy="466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7498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, </a:t>
            </a:r>
            <a:r>
              <a:rPr lang="en-US" sz="1600" i="1"/>
              <a:t>extract (.zip) file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meng-</a:t>
            </a:r>
            <a:r>
              <a:rPr lang="en-US" sz="1600" i="1"/>
              <a:t>extract</a:t>
            </a:r>
            <a:r>
              <a:rPr lang="en-US" sz="1600"/>
              <a:t> </a:t>
            </a:r>
            <a:r>
              <a:rPr lang="en-US" sz="1600" err="1"/>
              <a:t>terlebih</a:t>
            </a:r>
            <a:r>
              <a:rPr lang="en-US" sz="1600"/>
              <a:t> </a:t>
            </a:r>
            <a:r>
              <a:rPr lang="en-US" sz="1600" err="1"/>
              <a:t>dahulu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sebelum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 dan </a:t>
            </a:r>
            <a:r>
              <a:rPr lang="en-US" sz="1600" err="1"/>
              <a:t>simpan</a:t>
            </a:r>
            <a:r>
              <a:rPr lang="en-US" sz="1600"/>
              <a:t> di </a:t>
            </a:r>
            <a:r>
              <a:rPr lang="en-US" sz="1600" i="1"/>
              <a:t>local disk</a:t>
            </a:r>
            <a:r>
              <a:rPr lang="en-US" sz="1600"/>
              <a:t>. </a:t>
            </a:r>
            <a:r>
              <a:rPr lang="en-US" sz="1600" err="1"/>
              <a:t>Segala</a:t>
            </a:r>
            <a:r>
              <a:rPr lang="en-US" sz="1600"/>
              <a:t> </a:t>
            </a:r>
            <a:r>
              <a:rPr lang="en-US" sz="1600" err="1"/>
              <a:t>kehilangan</a:t>
            </a:r>
            <a:r>
              <a:rPr lang="en-US" sz="1600"/>
              <a:t> dan </a:t>
            </a:r>
            <a:r>
              <a:rPr lang="en-US" sz="1600" err="1"/>
              <a:t>kerusakan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yang </a:t>
            </a:r>
            <a:r>
              <a:rPr lang="en-US" sz="1600" err="1"/>
              <a:t>dikerjakan</a:t>
            </a:r>
            <a:r>
              <a:rPr lang="en-US" sz="1600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i="1"/>
              <a:t>(.zip) file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tanggung</a:t>
            </a:r>
            <a:r>
              <a:rPr lang="en-US" sz="1600"/>
              <a:t> </a:t>
            </a:r>
            <a:r>
              <a:rPr lang="en-US" sz="1600" err="1"/>
              <a:t>jawab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Langkah-Langkah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extract file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dilihat</a:t>
            </a:r>
            <a:r>
              <a:rPr lang="en-US" sz="1600"/>
              <a:t> pada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“Step by Step to Extract File”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2)</a:t>
            </a:r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5AF48FC-EF5B-168C-887E-6DFF007AFD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02" b="36561"/>
          <a:stretch/>
        </p:blipFill>
        <p:spPr>
          <a:xfrm>
            <a:off x="2046125" y="4055890"/>
            <a:ext cx="5051749" cy="25088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00864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selesai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, </a:t>
            </a:r>
            <a:r>
              <a:rPr lang="en-US" sz="1600" err="1"/>
              <a:t>tutup</a:t>
            </a:r>
            <a:r>
              <a:rPr lang="en-US" sz="1600"/>
              <a:t> </a:t>
            </a:r>
            <a:r>
              <a:rPr lang="en-US" sz="1600" err="1"/>
              <a:t>semua</a:t>
            </a:r>
            <a:r>
              <a:rPr lang="en-US" sz="1600"/>
              <a:t> </a:t>
            </a:r>
            <a:r>
              <a:rPr lang="en-US" sz="1600" err="1"/>
              <a:t>aplikasi</a:t>
            </a:r>
            <a:r>
              <a:rPr lang="en-US" sz="1600"/>
              <a:t> dan </a:t>
            </a:r>
            <a:r>
              <a:rPr lang="en-US" sz="1600" i="1"/>
              <a:t>compress file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.zip.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berekstensi</a:t>
            </a:r>
            <a:r>
              <a:rPr lang="en-US" sz="1600" b="1"/>
              <a:t> .zip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proses </a:t>
            </a:r>
            <a:r>
              <a:rPr lang="en-US" sz="1600" i="1"/>
              <a:t>compress</a:t>
            </a:r>
            <a:r>
              <a:rPr lang="en-US" sz="1600"/>
              <a:t>. </a:t>
            </a:r>
            <a:r>
              <a:rPr lang="en-US" sz="1600" err="1"/>
              <a:t>Perhatikan</a:t>
            </a:r>
            <a:r>
              <a:rPr lang="en-US" sz="1600"/>
              <a:t>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i="1"/>
              <a:t>rename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</a:t>
            </a:r>
            <a:r>
              <a:rPr lang="en-US" sz="1600" err="1"/>
              <a:t>berakhiran</a:t>
            </a:r>
            <a:r>
              <a:rPr lang="en-US" sz="1600"/>
              <a:t> .zip </a:t>
            </a:r>
            <a:r>
              <a:rPr lang="en-US" sz="1600" b="1" err="1"/>
              <a:t>bukanlah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compress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Langkah-</a:t>
            </a:r>
            <a:r>
              <a:rPr lang="en-US" sz="1600" err="1"/>
              <a:t>langkah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compress file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dilihat</a:t>
            </a:r>
            <a:r>
              <a:rPr lang="en-US" sz="1600"/>
              <a:t> pada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“Step By Step to Compress Your Answer”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3)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22B553-EA69-4C26-35ED-DC744A465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841" y="4122198"/>
            <a:ext cx="5305425" cy="2524125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27276939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i="1"/>
              <a:t>Upload file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menekan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”Browse / Choose File”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 di-</a:t>
            </a:r>
            <a:r>
              <a:rPr lang="en-US" sz="1600" i="1"/>
              <a:t>click </a:t>
            </a:r>
            <a:r>
              <a:rPr lang="en-US" sz="1600"/>
              <a:t>dan </a:t>
            </a:r>
            <a:r>
              <a:rPr lang="en-US" sz="1600" err="1"/>
              <a:t>jawaban</a:t>
            </a:r>
            <a:r>
              <a:rPr lang="en-US" sz="1600"/>
              <a:t> yang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dikumpul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dipilih</a:t>
            </a:r>
            <a:r>
              <a:rPr lang="en-US" sz="1600"/>
              <a:t>,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terkirim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i="1"/>
              <a:t>server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2345DE-4226-365B-B9DC-51C0A3DAC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879" y="2961746"/>
            <a:ext cx="6696075" cy="2352675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13309459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BD206-253C-83F7-0925-830E037C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85232-4CD1-709D-1DB2-1EAF0B4EA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>
                <a:ea typeface="Open Sans"/>
                <a:cs typeface="Open Sans"/>
              </a:rPr>
              <a:t>Akan </a:t>
            </a:r>
            <a:r>
              <a:rPr lang="en-US" sz="1600" err="1">
                <a:ea typeface="Open Sans"/>
                <a:cs typeface="Open Sans"/>
              </a:rPr>
              <a:t>muncul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peringatan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size file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melebihi</a:t>
            </a:r>
            <a:r>
              <a:rPr lang="en-US" sz="1600" b="1">
                <a:ea typeface="Open Sans"/>
                <a:cs typeface="Open Sans"/>
              </a:rPr>
              <a:t> batas yang </a:t>
            </a:r>
            <a:r>
              <a:rPr lang="en-US" sz="1600" b="1" err="1">
                <a:ea typeface="Open Sans"/>
                <a:cs typeface="Open Sans"/>
              </a:rPr>
              <a:t>telah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ditentukan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>
                <a:ea typeface="Open Sans"/>
                <a:cs typeface="Open Sans"/>
              </a:rPr>
              <a:t>Pastikan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mengumpulkan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kembali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file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size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sesuai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menghindari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pengurangan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nilai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sebesar</a:t>
            </a:r>
            <a:r>
              <a:rPr lang="en-US" sz="1600" b="1">
                <a:ea typeface="Open Sans"/>
                <a:cs typeface="Open Sans"/>
              </a:rPr>
              <a:t> 20%</a:t>
            </a:r>
            <a:r>
              <a:rPr lang="en-US" sz="160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F61AE-AC9F-0533-A08F-BF723D0CCC09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2" name="Picture 1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486FA79A-8950-9005-CA11-286D31F30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410" y="3334592"/>
            <a:ext cx="4102747" cy="31525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84096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Status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sampai</a:t>
            </a:r>
            <a:r>
              <a:rPr lang="en-US" sz="1600"/>
              <a:t> </a:t>
            </a:r>
            <a:r>
              <a:rPr lang="en-US" sz="1600" err="1"/>
              <a:t>tahap</a:t>
            </a:r>
            <a:r>
              <a:rPr lang="en-US" sz="1600"/>
              <a:t> </a:t>
            </a:r>
            <a:r>
              <a:rPr lang="en-US" sz="1600" err="1"/>
              <a:t>ini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b="1" i="1"/>
              <a:t>Pending</a:t>
            </a:r>
            <a:r>
              <a:rPr lang="en-US" sz="1600"/>
              <a:t> dan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err="1"/>
              <a:t>opsi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: (1) 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ulang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, (2) </a:t>
            </a:r>
            <a:r>
              <a:rPr lang="en-US" sz="1600" i="1"/>
              <a:t>download file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dikumpul</a:t>
            </a:r>
            <a:r>
              <a:rPr lang="en-US" sz="1600"/>
              <a:t>, </a:t>
            </a:r>
            <a:r>
              <a:rPr lang="en-US" sz="1600" err="1"/>
              <a:t>atau</a:t>
            </a:r>
            <a:r>
              <a:rPr lang="en-US" sz="1600"/>
              <a:t> (3)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i="1"/>
              <a:t>Finalize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meng-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, </a:t>
            </a:r>
            <a:r>
              <a:rPr lang="en-US" sz="1600" i="1"/>
              <a:t>file</a:t>
            </a:r>
            <a:r>
              <a:rPr lang="en-US" sz="1600"/>
              <a:t> yang </a:t>
            </a:r>
            <a:r>
              <a:rPr lang="en-US" sz="1600" err="1"/>
              <a:t>sebelumnya</a:t>
            </a:r>
            <a:r>
              <a:rPr lang="en-US" sz="1600"/>
              <a:t> di-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tertimpa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ADD362-B632-A149-6F59-FF7E665EB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413" y="3432175"/>
            <a:ext cx="4257675" cy="3105150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28415484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Cek </a:t>
            </a:r>
            <a:r>
              <a:rPr lang="en-US" sz="1600" err="1"/>
              <a:t>kembali</a:t>
            </a:r>
            <a:r>
              <a:rPr lang="en-US" sz="1600"/>
              <a:t> detail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terkumpul</a:t>
            </a:r>
            <a:r>
              <a:rPr lang="en-US" sz="1600"/>
              <a:t> yang </a:t>
            </a:r>
            <a:r>
              <a:rPr lang="en-US" sz="1600" err="1"/>
              <a:t>ditampilkan</a:t>
            </a:r>
            <a:r>
              <a:rPr lang="en-US" sz="1600"/>
              <a:t> </a:t>
            </a:r>
            <a:r>
              <a:rPr lang="en-US" sz="1600" err="1"/>
              <a:t>aplikasi</a:t>
            </a:r>
            <a:r>
              <a:rPr lang="en-US" sz="1600"/>
              <a:t>, </a:t>
            </a:r>
            <a:r>
              <a:rPr lang="en-US" sz="1600" err="1"/>
              <a:t>yaitu</a:t>
            </a:r>
            <a:r>
              <a:rPr lang="en-US" sz="1600"/>
              <a:t> </a:t>
            </a:r>
            <a:r>
              <a:rPr lang="en-US" sz="1600" b="1" err="1"/>
              <a:t>kesesuaian</a:t>
            </a:r>
            <a:r>
              <a:rPr lang="en-US" sz="1600" b="1"/>
              <a:t> nama </a:t>
            </a:r>
            <a:r>
              <a:rPr lang="en-US" sz="1600" b="1" i="1"/>
              <a:t>file</a:t>
            </a:r>
            <a:r>
              <a:rPr lang="en-US" sz="1600" b="1"/>
              <a:t>, </a:t>
            </a:r>
            <a:r>
              <a:rPr lang="en-US" sz="1600" b="1" i="1"/>
              <a:t>upload date</a:t>
            </a:r>
            <a:r>
              <a:rPr lang="en-US" sz="1600" b="1"/>
              <a:t>, dan </a:t>
            </a:r>
            <a:r>
              <a:rPr lang="en-US" sz="1600" b="1" i="1"/>
              <a:t>size</a:t>
            </a:r>
            <a:r>
              <a:rPr lang="en-US" sz="1600"/>
              <a:t>).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men-</a:t>
            </a: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mengecek</a:t>
            </a:r>
            <a:r>
              <a:rPr lang="en-US" sz="1600"/>
              <a:t> </a:t>
            </a:r>
            <a:r>
              <a:rPr lang="en-US" sz="1600" err="1"/>
              <a:t>kebenaran</a:t>
            </a:r>
            <a:r>
              <a:rPr lang="en-US" sz="1600"/>
              <a:t> dan </a:t>
            </a:r>
            <a:r>
              <a:rPr lang="en-US" sz="1600" err="1"/>
              <a:t>kesesuaian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yang di-</a:t>
            </a:r>
            <a:r>
              <a:rPr lang="en-US" sz="1600" i="1"/>
              <a:t>upload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5)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6A7C6E-ABB5-7F2B-A973-E02F4C936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104" y="3428471"/>
            <a:ext cx="6524625" cy="2371725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27661919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selesai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 dan </a:t>
            </a:r>
            <a:r>
              <a:rPr lang="en-US" sz="1600" err="1"/>
              <a:t>mengumpulkan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/>
              <a:t>WAJIB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b="1" i="1"/>
              <a:t>finalize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menekan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“Finalize Exam”</a:t>
            </a:r>
            <a:r>
              <a:rPr lang="en-US" sz="1600"/>
              <a:t>,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muncul</a:t>
            </a:r>
            <a:r>
              <a:rPr lang="en-US" sz="1600"/>
              <a:t> </a:t>
            </a:r>
            <a:r>
              <a:rPr lang="en-US" sz="1600" i="1"/>
              <a:t>pop up </a:t>
            </a:r>
            <a:r>
              <a:rPr lang="en-US" sz="1600" err="1"/>
              <a:t>konfirmasi</a:t>
            </a:r>
            <a:r>
              <a:rPr lang="en-US" sz="1600"/>
              <a:t>: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6)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697484-6128-592F-8B0F-D008A9C96AD1}"/>
              </a:ext>
            </a:extLst>
          </p:cNvPr>
          <p:cNvGrpSpPr/>
          <p:nvPr/>
        </p:nvGrpSpPr>
        <p:grpSpPr>
          <a:xfrm>
            <a:off x="1544682" y="2387727"/>
            <a:ext cx="6896964" cy="1148080"/>
            <a:chOff x="2225402" y="4328160"/>
            <a:chExt cx="6896964" cy="1148080"/>
          </a:xfrm>
        </p:grpSpPr>
        <p:pic>
          <p:nvPicPr>
            <p:cNvPr id="5" name="Picture 4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A908714B-1333-96E2-91DA-6D2E3B9E86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901" r="30444" b="46045"/>
            <a:stretch/>
          </p:blipFill>
          <p:spPr>
            <a:xfrm>
              <a:off x="2225402" y="4328160"/>
              <a:ext cx="6896964" cy="11480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77CEEF-16FF-4893-6B8B-7F6080C8D75F}"/>
                </a:ext>
              </a:extLst>
            </p:cNvPr>
            <p:cNvSpPr/>
            <p:nvPr/>
          </p:nvSpPr>
          <p:spPr>
            <a:xfrm>
              <a:off x="2651760" y="4510006"/>
              <a:ext cx="1053168" cy="5801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405ED88-F0A4-509F-D8A1-9C007931E3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1" t="2854" r="3033" b="3491"/>
          <a:stretch/>
        </p:blipFill>
        <p:spPr>
          <a:xfrm>
            <a:off x="1544682" y="4231093"/>
            <a:ext cx="3505200" cy="23250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6147F6-B790-753E-30BD-77545193ED8A}"/>
              </a:ext>
            </a:extLst>
          </p:cNvPr>
          <p:cNvSpPr txBox="1"/>
          <p:nvPr/>
        </p:nvSpPr>
        <p:spPr>
          <a:xfrm>
            <a:off x="5244209" y="4470273"/>
            <a:ext cx="3197437" cy="74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60000"/>
              </a:lnSpc>
            </a:pPr>
            <a:r>
              <a:rPr lang="en-US" sz="1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Yes</a:t>
            </a:r>
            <a:r>
              <a:rPr lang="en-US"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Konfirmasi melakukan </a:t>
            </a:r>
            <a:r>
              <a:rPr lang="en-US" sz="14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finalize</a:t>
            </a:r>
          </a:p>
          <a:p>
            <a:pPr marL="0" lvl="1" algn="just">
              <a:lnSpc>
                <a:spcPct val="160000"/>
              </a:lnSpc>
            </a:pPr>
            <a:r>
              <a:rPr lang="en-US" sz="1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</a:t>
            </a:r>
            <a:r>
              <a:rPr lang="en-US"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Batal melakukan </a:t>
            </a:r>
            <a:r>
              <a:rPr lang="en-US" sz="14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finalize</a:t>
            </a:r>
          </a:p>
        </p:txBody>
      </p:sp>
    </p:spTree>
    <p:extLst>
      <p:ext uri="{BB962C8B-B14F-4D97-AF65-F5344CB8AC3E}">
        <p14:creationId xmlns:p14="http://schemas.microsoft.com/office/powerpoint/2010/main" val="27398391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0D85-391D-1792-4DA7-4A7B13F04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449D3-F50A-DA0C-86CC-5C3959AFE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Akan </a:t>
            </a:r>
            <a:r>
              <a:rPr lang="en-US" sz="1600" err="1"/>
              <a:t>muncul</a:t>
            </a:r>
            <a:r>
              <a:rPr lang="en-US" sz="1600"/>
              <a:t> </a:t>
            </a:r>
            <a:r>
              <a:rPr lang="en-US" sz="1600" err="1"/>
              <a:t>peringatan</a:t>
            </a:r>
            <a:r>
              <a:rPr lang="en-US" sz="1600"/>
              <a:t> di </a:t>
            </a:r>
            <a:r>
              <a:rPr lang="en-US" sz="1600" i="1"/>
              <a:t>pop up</a:t>
            </a:r>
            <a:r>
              <a:rPr lang="en-US" sz="1600"/>
              <a:t>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i="1"/>
              <a:t>size 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yang </a:t>
            </a:r>
            <a:r>
              <a:rPr lang="en-US" sz="1600" err="1"/>
              <a:t>dikumpulkan</a:t>
            </a:r>
            <a:r>
              <a:rPr lang="en-US" sz="1600"/>
              <a:t> </a:t>
            </a:r>
            <a:r>
              <a:rPr lang="en-US" sz="1600" b="1" err="1"/>
              <a:t>melebihi</a:t>
            </a:r>
            <a:r>
              <a:rPr lang="en-US" sz="1600" b="1"/>
              <a:t> batas yang </a:t>
            </a:r>
            <a:r>
              <a:rPr lang="en-US" sz="1600" b="1" err="1"/>
              <a:t>telah</a:t>
            </a:r>
            <a:r>
              <a:rPr lang="en-US" sz="1600" b="1"/>
              <a:t> </a:t>
            </a:r>
            <a:r>
              <a:rPr lang="en-US" sz="1600" b="1" err="1"/>
              <a:t>ditentukan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2BD78-AB50-C1B1-23D5-E2476096EABF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6)</a:t>
            </a:r>
          </a:p>
        </p:txBody>
      </p:sp>
      <p:pic>
        <p:nvPicPr>
          <p:cNvPr id="2" name="Picture 1" descr="A screenshot of a quiz&#10;&#10;AI-generated content may be incorrect.">
            <a:extLst>
              <a:ext uri="{FF2B5EF4-FFF2-40B4-BE49-F238E27FC236}">
                <a16:creationId xmlns:a16="http://schemas.microsoft.com/office/drawing/2014/main" id="{EE8DC039-E332-0B92-E575-8BE9D717D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525" y="2518731"/>
            <a:ext cx="4092631" cy="347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710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di-</a:t>
            </a:r>
            <a:r>
              <a:rPr lang="en-US" sz="1600" i="1"/>
              <a:t>finalize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dapat</a:t>
            </a:r>
            <a:r>
              <a:rPr lang="en-US" sz="1600" b="1"/>
              <a:t> meng-</a:t>
            </a:r>
            <a:r>
              <a:rPr lang="en-US" sz="1600" b="1" i="1"/>
              <a:t>upload file </a:t>
            </a:r>
            <a:r>
              <a:rPr lang="en-US" sz="1600" b="1" err="1"/>
              <a:t>jawaban</a:t>
            </a:r>
            <a:r>
              <a:rPr lang="en-US" sz="1600" b="1"/>
              <a:t> </a:t>
            </a:r>
            <a:r>
              <a:rPr lang="en-US" sz="1600" b="1" err="1"/>
              <a:t>kembali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mengubah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).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r>
              <a:rPr lang="en-US" sz="1600"/>
              <a:t>Kode </a:t>
            </a:r>
            <a:r>
              <a:rPr lang="en-US" sz="1600" err="1"/>
              <a:t>konfirmasi</a:t>
            </a:r>
            <a:r>
              <a:rPr lang="en-US" sz="1600"/>
              <a:t> (</a:t>
            </a:r>
            <a:r>
              <a:rPr lang="en-US" sz="1600" i="1"/>
              <a:t>hash code</a:t>
            </a:r>
            <a:r>
              <a:rPr lang="en-US" sz="1600"/>
              <a:t>) yang </a:t>
            </a:r>
            <a:r>
              <a:rPr lang="en-US" sz="1600" err="1"/>
              <a:t>tampil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dicek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pada </a:t>
            </a:r>
            <a:r>
              <a:rPr lang="en-US" sz="1600" err="1"/>
              <a:t>Binusmaya</a:t>
            </a:r>
            <a:r>
              <a:rPr lang="en-US" sz="1600"/>
              <a:t> Practicum </a:t>
            </a:r>
            <a:r>
              <a:rPr lang="en-US" sz="1600" err="1"/>
              <a:t>sebagai</a:t>
            </a:r>
            <a:r>
              <a:rPr lang="en-US" sz="1600"/>
              <a:t> </a:t>
            </a:r>
            <a:r>
              <a:rPr lang="en-US" sz="1600" b="1" err="1"/>
              <a:t>bukti</a:t>
            </a:r>
            <a:r>
              <a:rPr lang="en-US" sz="1600" b="1"/>
              <a:t> </a:t>
            </a:r>
            <a:r>
              <a:rPr lang="en-US" sz="1600" b="1" err="1"/>
              <a:t>pengumpulan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 Web Uploader (Step 6)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1F207DC-B69B-953D-2CC0-0B49C0108A93}"/>
              </a:ext>
            </a:extLst>
          </p:cNvPr>
          <p:cNvGrpSpPr/>
          <p:nvPr/>
        </p:nvGrpSpPr>
        <p:grpSpPr>
          <a:xfrm>
            <a:off x="684929" y="3432012"/>
            <a:ext cx="8081119" cy="2413000"/>
            <a:chOff x="1219200" y="3429000"/>
            <a:chExt cx="6858000" cy="2047780"/>
          </a:xfrm>
        </p:grpSpPr>
        <p:pic>
          <p:nvPicPr>
            <p:cNvPr id="10" name="Picture 9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987E60D8-7132-EB63-1F9C-92E28A41C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9200" y="3429000"/>
              <a:ext cx="6858000" cy="20477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42C36-4816-2BC9-0FAF-DDFB077D8D50}"/>
                </a:ext>
              </a:extLst>
            </p:cNvPr>
            <p:cNvSpPr/>
            <p:nvPr/>
          </p:nvSpPr>
          <p:spPr>
            <a:xfrm>
              <a:off x="1290320" y="3708400"/>
              <a:ext cx="1818640" cy="4673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16498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720DD-0046-40B8-14C8-31C79276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5E42-BAD4-0A21-A005-E4822A79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Prosedur Penggunaan Web Uploader </a:t>
            </a:r>
            <a:r>
              <a:rPr lang="en-US" err="1"/>
              <a:t>untuk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</a:t>
            </a:r>
            <a:r>
              <a:rPr lang="en-US" err="1"/>
              <a:t>Kuis</a:t>
            </a:r>
            <a:r>
              <a:rPr lang="en-US"/>
              <a:t> Berkelompok</a:t>
            </a:r>
            <a:endParaRPr lang="en-US" err="1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89178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D0D6-DD2A-DBC7-703A-ED38A9E5A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E106A-676C-507F-73A2-E4D5576C2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Web Uploader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b="1" err="1"/>
              <a:t>lokal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lab.slc.net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global </a:t>
            </a:r>
            <a:r>
              <a:rPr lang="en-US" sz="1600" err="1"/>
              <a:t>melalui</a:t>
            </a:r>
            <a:r>
              <a:rPr lang="en-US" sz="1600"/>
              <a:t> laboratory.binus.ac.id/lab.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Masukkan </a:t>
            </a:r>
            <a:r>
              <a:rPr lang="en-US" sz="1600" b="1"/>
              <a:t>student id (NIM) </a:t>
            </a:r>
            <a:r>
              <a:rPr lang="en-US" sz="1600"/>
              <a:t>dan </a:t>
            </a:r>
            <a:r>
              <a:rPr lang="en-US" sz="1600" b="1"/>
              <a:t>password </a:t>
            </a:r>
            <a:r>
              <a:rPr lang="en-US" sz="1600" b="1" err="1"/>
              <a:t>Binusmaya</a:t>
            </a:r>
            <a:r>
              <a:rPr lang="en-US" sz="1600" b="1"/>
              <a:t> </a:t>
            </a:r>
            <a:r>
              <a:rPr lang="en-US" sz="1600"/>
              <a:t>pada form Sign In.</a:t>
            </a:r>
          </a:p>
          <a:p>
            <a:pPr algn="just">
              <a:lnSpc>
                <a:spcPct val="150000"/>
              </a:lnSpc>
            </a:pPr>
            <a:endParaRPr lang="en-US" sz="160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6C77D2-9132-6B78-3C0E-8B8056790EF6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Sign In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1EAE218-497A-1F5C-C965-91AFEB053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902" y="3006828"/>
            <a:ext cx="3116423" cy="313997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909E0B-849F-FD49-EA2C-DC2264BF21E7}"/>
              </a:ext>
            </a:extLst>
          </p:cNvPr>
          <p:cNvGraphicFramePr>
            <a:graphicFrameLocks noGrp="1"/>
          </p:cNvGraphicFramePr>
          <p:nvPr/>
        </p:nvGraphicFramePr>
        <p:xfrm>
          <a:off x="4915582" y="4110396"/>
          <a:ext cx="3329783" cy="1173480"/>
        </p:xfrm>
        <a:graphic>
          <a:graphicData uri="http://schemas.openxmlformats.org/drawingml/2006/table">
            <a:tbl>
              <a:tblPr/>
              <a:tblGrid>
                <a:gridCol w="1135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Student</a:t>
                      </a:r>
                      <a:r>
                        <a:rPr lang="en-US" sz="1600" b="1" i="0" u="none" strike="noStrike" baseline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[NIM] </a:t>
                      </a:r>
                      <a:b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e.g. 1601212100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Password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[Password </a:t>
                      </a:r>
                      <a:r>
                        <a:rPr lang="en-US" sz="16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Binusmaya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8327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32BA-B3C4-212D-C801-2CCF4A9D1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AEFBC-BAAC-64E1-5594-30DBBAE91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 err="1"/>
              <a:t>Setelah</a:t>
            </a:r>
            <a:r>
              <a:rPr lang="en-US" sz="1600" dirty="0"/>
              <a:t> </a:t>
            </a:r>
            <a:r>
              <a:rPr lang="en-US" sz="1600" dirty="0" err="1"/>
              <a:t>berhasil</a:t>
            </a:r>
            <a:r>
              <a:rPr lang="en-US" sz="1600" dirty="0"/>
              <a:t> </a:t>
            </a:r>
            <a:r>
              <a:rPr lang="en-US" sz="1600" i="1" dirty="0"/>
              <a:t>sign in</a:t>
            </a:r>
            <a:r>
              <a:rPr lang="en-US" sz="1600" dirty="0"/>
              <a:t>, </a:t>
            </a:r>
            <a:r>
              <a:rPr lang="en-US" sz="1600" dirty="0" err="1"/>
              <a:t>aplikasi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mengecek</a:t>
            </a:r>
            <a:r>
              <a:rPr lang="en-US" sz="1600" dirty="0"/>
              <a:t> </a:t>
            </a:r>
            <a:r>
              <a:rPr lang="en-US" sz="1600" dirty="0" err="1"/>
              <a:t>adanya</a:t>
            </a:r>
            <a:r>
              <a:rPr lang="en-US" sz="1600" dirty="0"/>
              <a:t> </a:t>
            </a:r>
            <a:r>
              <a:rPr lang="en-US" sz="1600" dirty="0" err="1"/>
              <a:t>transaksi</a:t>
            </a:r>
            <a:r>
              <a:rPr lang="en-US" sz="1600" dirty="0"/>
              <a:t> TM pada </a:t>
            </a:r>
            <a:r>
              <a:rPr lang="en-US" sz="1600" dirty="0" err="1"/>
              <a:t>pertemuan</a:t>
            </a:r>
            <a:r>
              <a:rPr lang="en-US" sz="1600" dirty="0"/>
              <a:t> yang </a:t>
            </a:r>
            <a:r>
              <a:rPr lang="en-US" sz="1600" dirty="0" err="1"/>
              <a:t>sedang</a:t>
            </a:r>
            <a:r>
              <a:rPr lang="en-US" sz="1600" dirty="0"/>
              <a:t> </a:t>
            </a:r>
            <a:r>
              <a:rPr lang="en-US" sz="1600" dirty="0" err="1"/>
              <a:t>berlangsung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/>
              <a:t>Detail </a:t>
            </a:r>
            <a:r>
              <a:rPr lang="en-US" sz="1600" dirty="0" err="1"/>
              <a:t>transaksi</a:t>
            </a:r>
            <a:r>
              <a:rPr lang="en-US" sz="1600" dirty="0"/>
              <a:t> yang </a:t>
            </a:r>
            <a:r>
              <a:rPr lang="en-US" sz="1600" dirty="0" err="1"/>
              <a:t>sedang</a:t>
            </a:r>
            <a:r>
              <a:rPr lang="en-US" sz="1600" dirty="0"/>
              <a:t> </a:t>
            </a:r>
            <a:r>
              <a:rPr lang="en-US" sz="1600" dirty="0" err="1"/>
              <a:t>berjalan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ditampilkan</a:t>
            </a:r>
            <a:r>
              <a:rPr lang="en-US" sz="1600" dirty="0"/>
              <a:t> pada Home, </a:t>
            </a:r>
            <a:r>
              <a:rPr lang="en-US" sz="1600" dirty="0" err="1"/>
              <a:t>antara</a:t>
            </a:r>
            <a:r>
              <a:rPr lang="en-US" sz="1600" dirty="0"/>
              <a:t> lain </a:t>
            </a:r>
            <a:r>
              <a:rPr lang="en-US" sz="1600" dirty="0" err="1"/>
              <a:t>kode</a:t>
            </a:r>
            <a:r>
              <a:rPr lang="en-US" sz="1600" dirty="0"/>
              <a:t> dan nama </a:t>
            </a:r>
            <a:r>
              <a:rPr lang="en-US" sz="1600" dirty="0" err="1"/>
              <a:t>mata</a:t>
            </a:r>
            <a:r>
              <a:rPr lang="en-US" sz="1600" dirty="0"/>
              <a:t> </a:t>
            </a:r>
            <a:r>
              <a:rPr lang="en-US" sz="1600" dirty="0" err="1"/>
              <a:t>kuliah</a:t>
            </a:r>
            <a:r>
              <a:rPr lang="en-US" sz="1600" dirty="0"/>
              <a:t> yang </a:t>
            </a:r>
            <a:r>
              <a:rPr lang="en-US" sz="1600" dirty="0" err="1"/>
              <a:t>sedang</a:t>
            </a:r>
            <a:r>
              <a:rPr lang="en-US" sz="1600" dirty="0"/>
              <a:t> </a:t>
            </a:r>
            <a:r>
              <a:rPr lang="en-US" sz="1600" dirty="0" err="1"/>
              <a:t>berlangsung</a:t>
            </a:r>
            <a:r>
              <a:rPr lang="en-US" sz="1600" dirty="0"/>
              <a:t>, </a:t>
            </a:r>
            <a:r>
              <a:rPr lang="en-US" sz="1600" dirty="0" err="1"/>
              <a:t>ruangan</a:t>
            </a:r>
            <a:r>
              <a:rPr lang="en-US" sz="1600" dirty="0"/>
              <a:t>, </a:t>
            </a:r>
            <a:r>
              <a:rPr lang="en-US" sz="1600" dirty="0" err="1"/>
              <a:t>serta</a:t>
            </a:r>
            <a:r>
              <a:rPr lang="en-US" sz="1600" dirty="0"/>
              <a:t> </a:t>
            </a:r>
            <a:r>
              <a:rPr lang="en-US" sz="1600" dirty="0" err="1"/>
              <a:t>durasi</a:t>
            </a:r>
            <a:r>
              <a:rPr lang="en-US" sz="1600" dirty="0"/>
              <a:t> TM. </a:t>
            </a:r>
            <a:r>
              <a:rPr lang="en-US" sz="1600" dirty="0" err="1"/>
              <a:t>Perhatikan</a:t>
            </a:r>
            <a:r>
              <a:rPr lang="en-US" sz="1600" dirty="0"/>
              <a:t> </a:t>
            </a:r>
            <a:r>
              <a:rPr lang="en-US" sz="1600" b="1" dirty="0" err="1"/>
              <a:t>waktu</a:t>
            </a:r>
            <a:r>
              <a:rPr lang="en-US" sz="1600" b="1" dirty="0"/>
              <a:t> </a:t>
            </a:r>
            <a:r>
              <a:rPr lang="en-US" sz="1600" b="1" dirty="0" err="1"/>
              <a:t>pengerjaan</a:t>
            </a:r>
            <a:r>
              <a:rPr lang="en-US" sz="1600" b="1" dirty="0"/>
              <a:t> TM</a:t>
            </a:r>
            <a:r>
              <a:rPr lang="en-US" sz="1600" dirty="0"/>
              <a:t>.</a:t>
            </a:r>
            <a:endParaRPr lang="en-US" dirty="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AFAE7E-23E1-AFCB-AEB4-B5C4F29EE4C9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Home</a:t>
            </a:r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91A7470-E9ED-34EB-8585-6E2058FB78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t="9730" r="9000" b="44549"/>
          <a:stretch/>
        </p:blipFill>
        <p:spPr>
          <a:xfrm>
            <a:off x="1470659" y="3568603"/>
            <a:ext cx="6888480" cy="2637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11328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A05CB-10DE-9156-E555-B4C53A38D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B8D1E-0790-A524-AB17-87795DB7B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Di </a:t>
            </a:r>
            <a:r>
              <a:rPr lang="en-US" sz="1600" err="1"/>
              <a:t>bawah</a:t>
            </a:r>
            <a:r>
              <a:rPr lang="en-US" sz="1600"/>
              <a:t> detail </a:t>
            </a:r>
            <a:r>
              <a:rPr lang="en-US" sz="1600" err="1"/>
              <a:t>transaksi</a:t>
            </a:r>
            <a:r>
              <a:rPr lang="en-US" sz="1600"/>
              <a:t> TM yang </a:t>
            </a:r>
            <a:r>
              <a:rPr lang="en-US" sz="1600" err="1"/>
              <a:t>berlangsung</a:t>
            </a:r>
            <a:r>
              <a:rPr lang="en-US" sz="1600"/>
              <a:t>,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ditampilkan</a:t>
            </a:r>
            <a:r>
              <a:rPr lang="en-US" sz="1600"/>
              <a:t> detail </a:t>
            </a:r>
            <a:r>
              <a:rPr lang="en-US" sz="1600" i="1"/>
              <a:t>form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serta</a:t>
            </a:r>
            <a:r>
              <a:rPr lang="en-US" sz="1600"/>
              <a:t> 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TM </a:t>
            </a:r>
            <a:r>
              <a:rPr lang="en-US" sz="1600" err="1"/>
              <a:t>transaksi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pada </a:t>
            </a:r>
            <a:r>
              <a:rPr lang="en-US" sz="1600" b="1" i="1"/>
              <a:t>hyperlink ‘here’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9FA7D4-5639-CE09-C689-4038593E5920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1)</a:t>
            </a:r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777D848-B13C-90CC-04F5-81B801E8CE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t="55305" r="37912" b="-400"/>
          <a:stretch/>
        </p:blipFill>
        <p:spPr>
          <a:xfrm>
            <a:off x="1293948" y="3586480"/>
            <a:ext cx="4446452" cy="260096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150DBED-C6CA-5E6A-E0DE-4775251A4E06}"/>
              </a:ext>
            </a:extLst>
          </p:cNvPr>
          <p:cNvGrpSpPr/>
          <p:nvPr/>
        </p:nvGrpSpPr>
        <p:grpSpPr>
          <a:xfrm>
            <a:off x="4808778" y="3429000"/>
            <a:ext cx="3459640" cy="1035783"/>
            <a:chOff x="3284778" y="3322320"/>
            <a:chExt cx="3459640" cy="10357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FDA76F4-B9B9-0DC5-C208-65BFF7D8CC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202" t="21435"/>
            <a:stretch/>
          </p:blipFill>
          <p:spPr>
            <a:xfrm>
              <a:off x="3284778" y="3322320"/>
              <a:ext cx="3459640" cy="10357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66D1872-4DF0-2F36-80D4-B1491BB3AB2D}"/>
                </a:ext>
              </a:extLst>
            </p:cNvPr>
            <p:cNvSpPr/>
            <p:nvPr/>
          </p:nvSpPr>
          <p:spPr>
            <a:xfrm>
              <a:off x="5527040" y="3830320"/>
              <a:ext cx="579120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A29008-AC6C-DDAE-AF24-D642EF97F2DA}"/>
              </a:ext>
            </a:extLst>
          </p:cNvPr>
          <p:cNvCxnSpPr>
            <a:endCxn id="7" idx="1"/>
          </p:cNvCxnSpPr>
          <p:nvPr/>
        </p:nvCxnSpPr>
        <p:spPr>
          <a:xfrm flipV="1">
            <a:off x="3037840" y="3946892"/>
            <a:ext cx="1770938" cy="466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1293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382EC-CB3C-5CC4-52F1-E21080E55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649A4-24F9-BD93-54C4-82F9A5B8D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, </a:t>
            </a:r>
            <a:r>
              <a:rPr lang="en-US" sz="1600" i="1"/>
              <a:t>extract (.zip) file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meng-</a:t>
            </a:r>
            <a:r>
              <a:rPr lang="en-US" sz="1600" i="1"/>
              <a:t>extract</a:t>
            </a:r>
            <a:r>
              <a:rPr lang="en-US" sz="1600"/>
              <a:t> </a:t>
            </a:r>
            <a:r>
              <a:rPr lang="en-US" sz="1600" err="1"/>
              <a:t>terlebih</a:t>
            </a:r>
            <a:r>
              <a:rPr lang="en-US" sz="1600"/>
              <a:t> </a:t>
            </a:r>
            <a:r>
              <a:rPr lang="en-US" sz="1600" err="1"/>
              <a:t>dahulu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sebelum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 dan </a:t>
            </a:r>
            <a:r>
              <a:rPr lang="en-US" sz="1600" err="1"/>
              <a:t>simpan</a:t>
            </a:r>
            <a:r>
              <a:rPr lang="en-US" sz="1600"/>
              <a:t> di </a:t>
            </a:r>
            <a:r>
              <a:rPr lang="en-US" sz="1600" i="1"/>
              <a:t>local disk</a:t>
            </a:r>
            <a:r>
              <a:rPr lang="en-US" sz="1600"/>
              <a:t>. </a:t>
            </a:r>
            <a:r>
              <a:rPr lang="en-US" sz="1600" err="1"/>
              <a:t>Segala</a:t>
            </a:r>
            <a:r>
              <a:rPr lang="en-US" sz="1600"/>
              <a:t> </a:t>
            </a:r>
            <a:r>
              <a:rPr lang="en-US" sz="1600" err="1"/>
              <a:t>kehilangan</a:t>
            </a:r>
            <a:r>
              <a:rPr lang="en-US" sz="1600"/>
              <a:t> dan </a:t>
            </a:r>
            <a:r>
              <a:rPr lang="en-US" sz="1600" err="1"/>
              <a:t>kerusakan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yang </a:t>
            </a:r>
            <a:r>
              <a:rPr lang="en-US" sz="1600" err="1"/>
              <a:t>dikerjakan</a:t>
            </a:r>
            <a:r>
              <a:rPr lang="en-US" sz="1600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i="1"/>
              <a:t>(.zip) file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tanggung</a:t>
            </a:r>
            <a:r>
              <a:rPr lang="en-US" sz="1600"/>
              <a:t> </a:t>
            </a:r>
            <a:r>
              <a:rPr lang="en-US" sz="1600" err="1"/>
              <a:t>jawab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Langkah-Langkah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extract file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dilihat</a:t>
            </a:r>
            <a:r>
              <a:rPr lang="en-US" sz="1600"/>
              <a:t> pada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“Step by Step to Extract File”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FCE9D-C8D4-554D-64F0-C2C8525B785C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2)</a:t>
            </a:r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4DC2632-754F-6EDC-0B01-C992BAF564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02" b="36561"/>
          <a:stretch/>
        </p:blipFill>
        <p:spPr>
          <a:xfrm>
            <a:off x="2046125" y="4055890"/>
            <a:ext cx="5051749" cy="25088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924566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E0FE9-6800-DD49-F364-D5672E8F7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9549B-DD9E-7B1B-D154-01981CEDE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dirty="0" err="1"/>
              <a:t>terdapat</a:t>
            </a:r>
            <a:r>
              <a:rPr lang="en-US" sz="1600" dirty="0"/>
              <a:t> file yang </a:t>
            </a:r>
            <a:r>
              <a:rPr lang="en-US" sz="1600" dirty="0" err="1"/>
              <a:t>ingin</a:t>
            </a:r>
            <a:r>
              <a:rPr lang="en-US" sz="1600" dirty="0"/>
              <a:t> </a:t>
            </a:r>
            <a:r>
              <a:rPr lang="en-US" sz="1600" dirty="0" err="1"/>
              <a:t>dibagikan</a:t>
            </a:r>
            <a:r>
              <a:rPr lang="en-US" sz="1600" dirty="0"/>
              <a:t> </a:t>
            </a:r>
            <a:r>
              <a:rPr lang="en-US" sz="1600" dirty="0" err="1"/>
              <a:t>antar</a:t>
            </a:r>
            <a:r>
              <a:rPr lang="en-US" sz="1600" dirty="0"/>
              <a:t> PC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kelompok</a:t>
            </a:r>
            <a:r>
              <a:rPr lang="en-US" sz="1600" dirty="0"/>
              <a:t>,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fitur</a:t>
            </a:r>
            <a:r>
              <a:rPr lang="en-US" sz="1600" dirty="0"/>
              <a:t> </a:t>
            </a:r>
            <a:r>
              <a:rPr lang="en-US" sz="1600" b="1" dirty="0"/>
              <a:t>Group File Sharing</a:t>
            </a:r>
            <a:r>
              <a:rPr lang="en-US" sz="1600" dirty="0"/>
              <a:t>.</a:t>
            </a:r>
            <a:r>
              <a:rPr lang="en-US" sz="1600" dirty="0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endParaRPr lang="en-US" dirty="0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r>
              <a:rPr lang="en-US" sz="1600" dirty="0">
                <a:ea typeface="Open Sans"/>
                <a:cs typeface="Open Sans"/>
              </a:rPr>
              <a:t>Klik </a:t>
            </a:r>
            <a:r>
              <a:rPr lang="en-US" sz="1600" err="1">
                <a:ea typeface="Open Sans"/>
                <a:cs typeface="Open Sans"/>
              </a:rPr>
              <a:t>tombol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“Open Group File Sharing”</a:t>
            </a:r>
            <a:r>
              <a:rPr lang="en-US" sz="1600" dirty="0">
                <a:ea typeface="Open Sans"/>
                <a:cs typeface="Open Sans"/>
              </a:rPr>
              <a:t>.</a:t>
            </a:r>
            <a:endParaRPr lang="en-US" dirty="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55E77C-0812-7E5B-2C43-A4133C678E50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Group File Sharing (Step 1)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0200B-2494-607F-40FF-4E967E7051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82" t="1709" r="17001" b="56214"/>
          <a:stretch>
            <a:fillRect/>
          </a:stretch>
        </p:blipFill>
        <p:spPr>
          <a:xfrm>
            <a:off x="1510669" y="3076810"/>
            <a:ext cx="6810633" cy="21918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B28198-C9B7-FD60-D21E-F9C1ABB52B3A}"/>
              </a:ext>
            </a:extLst>
          </p:cNvPr>
          <p:cNvSpPr/>
          <p:nvPr/>
        </p:nvSpPr>
        <p:spPr>
          <a:xfrm>
            <a:off x="3764639" y="4800135"/>
            <a:ext cx="1130672" cy="274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15AE8-C390-D921-0DFD-5DFC9574EC1F}"/>
              </a:ext>
            </a:extLst>
          </p:cNvPr>
          <p:cNvSpPr txBox="1"/>
          <p:nvPr/>
        </p:nvSpPr>
        <p:spPr>
          <a:xfrm>
            <a:off x="1425388" y="5508813"/>
            <a:ext cx="6293223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 rtl="0"/>
            <a:r>
              <a:rPr lang="en-US" sz="1600" b="0" i="0" u="none" strike="noStrike" baseline="0" dirty="0" err="1">
                <a:solidFill>
                  <a:srgbClr val="FF0000"/>
                </a:solidFill>
                <a:latin typeface="Open Sans"/>
                <a:ea typeface="Arial"/>
                <a:cs typeface="Arial"/>
              </a:rPr>
              <a:t>Perlu</a:t>
            </a:r>
            <a:r>
              <a:rPr lang="en-US" sz="1600" b="0" i="0" u="none" strike="noStrike" baseline="0" dirty="0">
                <a:solidFill>
                  <a:srgbClr val="FF0000"/>
                </a:solidFill>
                <a:latin typeface="Open Sans"/>
                <a:ea typeface="Arial"/>
                <a:cs typeface="Arial"/>
              </a:rPr>
              <a:t> </a:t>
            </a:r>
            <a:r>
              <a:rPr lang="en-US" sz="1600" b="0" i="0" u="none" strike="noStrike" baseline="0" dirty="0" err="1">
                <a:solidFill>
                  <a:srgbClr val="FF0000"/>
                </a:solidFill>
                <a:latin typeface="Open Sans"/>
                <a:ea typeface="Arial"/>
                <a:cs typeface="Arial"/>
              </a:rPr>
              <a:t>diingat</a:t>
            </a:r>
            <a:r>
              <a:rPr lang="en-US" sz="1600" b="0" i="0" u="none" strike="noStrike" baseline="0" dirty="0">
                <a:solidFill>
                  <a:srgbClr val="FF0000"/>
                </a:solidFill>
                <a:latin typeface="Open Sans"/>
                <a:ea typeface="Arial"/>
                <a:cs typeface="Arial"/>
              </a:rPr>
              <a:t> </a:t>
            </a:r>
            <a:r>
              <a:rPr lang="en-US" sz="1600" b="0" i="0" u="none" strike="noStrike" baseline="0" dirty="0" err="1">
                <a:solidFill>
                  <a:srgbClr val="FF0000"/>
                </a:solidFill>
                <a:latin typeface="Open Sans"/>
                <a:ea typeface="Arial"/>
                <a:cs typeface="Arial"/>
              </a:rPr>
              <a:t>bahwa</a:t>
            </a:r>
            <a:r>
              <a:rPr lang="en-US" sz="1600" b="0" i="0" u="none" strike="noStrike" baseline="0" dirty="0">
                <a:solidFill>
                  <a:srgbClr val="FF0000"/>
                </a:solidFill>
                <a:latin typeface="Open Sans"/>
                <a:ea typeface="Arial"/>
                <a:cs typeface="Arial"/>
              </a:rPr>
              <a:t> </a:t>
            </a:r>
            <a:r>
              <a:rPr lang="en-US" sz="1600" b="1" i="0" u="none" strike="noStrike" baseline="0" dirty="0">
                <a:solidFill>
                  <a:srgbClr val="FF0000"/>
                </a:solidFill>
                <a:latin typeface="Open Sans"/>
                <a:ea typeface="Arial"/>
                <a:cs typeface="Arial"/>
              </a:rPr>
              <a:t>Group File Sharing != </a:t>
            </a:r>
            <a:r>
              <a:rPr lang="en-US" sz="1600" b="1" i="0" u="none" strike="noStrike" baseline="0" dirty="0" err="1">
                <a:solidFill>
                  <a:srgbClr val="FF0000"/>
                </a:solidFill>
                <a:latin typeface="Open Sans"/>
                <a:ea typeface="Arial"/>
                <a:cs typeface="Arial"/>
              </a:rPr>
              <a:t>Kumpul</a:t>
            </a:r>
            <a:r>
              <a:rPr lang="en-US" sz="1600" b="1" i="0" u="none" strike="noStrike" baseline="0" dirty="0">
                <a:solidFill>
                  <a:srgbClr val="FF0000"/>
                </a:solidFill>
                <a:latin typeface="Open Sans"/>
                <a:ea typeface="Arial"/>
                <a:cs typeface="Arial"/>
              </a:rPr>
              <a:t> </a:t>
            </a:r>
            <a:r>
              <a:rPr lang="en-US" sz="1600" b="1" i="0" u="none" strike="noStrike" baseline="0" dirty="0" err="1">
                <a:solidFill>
                  <a:srgbClr val="FF0000"/>
                </a:solidFill>
                <a:latin typeface="Open Sans"/>
                <a:ea typeface="Arial"/>
                <a:cs typeface="Arial"/>
              </a:rPr>
              <a:t>jawaban</a:t>
            </a:r>
            <a:r>
              <a:rPr lang="en-US" sz="1600" b="1" i="0" u="none" strike="noStrike" baseline="0" dirty="0">
                <a:solidFill>
                  <a:srgbClr val="FF0000"/>
                </a:solidFill>
                <a:latin typeface="Open Sans"/>
                <a:ea typeface="Arial"/>
                <a:cs typeface="Arial"/>
              </a:rPr>
              <a:t>. </a:t>
            </a:r>
            <a:r>
              <a:rPr lang="en-US" sz="1600" b="0" i="0" dirty="0">
                <a:solidFill>
                  <a:srgbClr val="000000"/>
                </a:solidFill>
                <a:latin typeface="Open Sans"/>
                <a:ea typeface="Arial"/>
                <a:cs typeface="Arial"/>
              </a:rPr>
              <a:t>​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17015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23A19-EC02-204E-78D7-68D3A024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EB3EF-C3D9-3908-FB74-2CCEB2179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ea typeface="Open Sans"/>
                <a:cs typeface="Open Sans"/>
              </a:rPr>
              <a:t>Masukkan file </a:t>
            </a:r>
            <a:r>
              <a:rPr lang="en-US" sz="1600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dirty="0" err="1">
                <a:ea typeface="Open Sans"/>
                <a:cs typeface="Open Sans"/>
              </a:rPr>
              <a:t>ingin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dibagikan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kepada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anggota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kelompok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60000"/>
              </a:lnSpc>
            </a:pPr>
            <a:endParaRPr lang="en-US" sz="1600" dirty="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EB6122-A012-2C4B-17FF-FC3316279795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Group File Sharing (Step 2)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C51103-34A4-41D7-4143-F80CA9A21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404" y="2114049"/>
            <a:ext cx="7102306" cy="35198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604070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7A2BB-489E-9567-4314-92B02A960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41C142-5A83-099A-E17A-FC34E616D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5051" y="2515421"/>
            <a:ext cx="6380740" cy="31449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AE67E9-C3E8-C2FE-D724-634427B5BCCD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Group File Sharing (Step 3)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14DF769-358A-9650-7A4A-596A001CF653}"/>
              </a:ext>
            </a:extLst>
          </p:cNvPr>
          <p:cNvSpPr txBox="1">
            <a:spLocks/>
          </p:cNvSpPr>
          <p:nvPr/>
        </p:nvSpPr>
        <p:spPr>
          <a:xfrm>
            <a:off x="1054099" y="1468399"/>
            <a:ext cx="7696201" cy="21007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60000"/>
              </a:lnSpc>
            </a:pPr>
            <a:r>
              <a:rPr lang="en-US" sz="1600" dirty="0" err="1">
                <a:ea typeface="Open Sans"/>
                <a:cs typeface="Open Sans"/>
              </a:rPr>
              <a:t>Setelah</a:t>
            </a:r>
            <a:r>
              <a:rPr lang="en-US" sz="1600" dirty="0">
                <a:ea typeface="Open Sans"/>
                <a:cs typeface="Open Sans"/>
              </a:rPr>
              <a:t> file </a:t>
            </a:r>
            <a:r>
              <a:rPr lang="en-US" sz="1600" dirty="0" err="1">
                <a:ea typeface="Open Sans"/>
                <a:cs typeface="Open Sans"/>
              </a:rPr>
              <a:t>berhasil</a:t>
            </a:r>
            <a:r>
              <a:rPr lang="en-US" sz="1600" dirty="0">
                <a:ea typeface="Open Sans"/>
                <a:cs typeface="Open Sans"/>
              </a:rPr>
              <a:t> di upload, </a:t>
            </a:r>
            <a:r>
              <a:rPr lang="en-US" sz="1600" dirty="0" err="1">
                <a:ea typeface="Open Sans"/>
                <a:cs typeface="Open Sans"/>
              </a:rPr>
              <a:t>anggota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kelompok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lainnya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dapat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mendownload</a:t>
            </a:r>
            <a:r>
              <a:rPr lang="en-US" sz="1600" b="1" dirty="0">
                <a:ea typeface="Open Sans"/>
                <a:cs typeface="Open Sans"/>
              </a:rPr>
              <a:t> file </a:t>
            </a:r>
            <a:r>
              <a:rPr lang="en-US" sz="1600" b="1" dirty="0" err="1">
                <a:ea typeface="Open Sans"/>
                <a:cs typeface="Open Sans"/>
              </a:rPr>
              <a:t>tersebut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melalui</a:t>
            </a:r>
            <a:r>
              <a:rPr lang="en-US" sz="1600" dirty="0">
                <a:ea typeface="Open Sans"/>
                <a:cs typeface="Open Sans"/>
              </a:rPr>
              <a:t> Group File Sharing.</a:t>
            </a:r>
            <a:endParaRPr lang="en-US" dirty="0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endParaRPr lang="en-US" sz="1600" dirty="0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777655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E413B-A0A3-21DB-1A32-B79BE7F6D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3F11B-64C1-BA75-E681-E5BCCCC5C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selesai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, </a:t>
            </a:r>
            <a:r>
              <a:rPr lang="en-US" sz="1600" err="1"/>
              <a:t>tutup</a:t>
            </a:r>
            <a:r>
              <a:rPr lang="en-US" sz="1600"/>
              <a:t> </a:t>
            </a:r>
            <a:r>
              <a:rPr lang="en-US" sz="1600" err="1"/>
              <a:t>semua</a:t>
            </a:r>
            <a:r>
              <a:rPr lang="en-US" sz="1600"/>
              <a:t> </a:t>
            </a:r>
            <a:r>
              <a:rPr lang="en-US" sz="1600" err="1"/>
              <a:t>aplikasi</a:t>
            </a:r>
            <a:r>
              <a:rPr lang="en-US" sz="1600"/>
              <a:t> dan </a:t>
            </a:r>
            <a:r>
              <a:rPr lang="en-US" sz="1600" i="1"/>
              <a:t>compress file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.zip.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berekstensi</a:t>
            </a:r>
            <a:r>
              <a:rPr lang="en-US" sz="1600" b="1"/>
              <a:t> .zip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proses </a:t>
            </a:r>
            <a:r>
              <a:rPr lang="en-US" sz="1600" i="1"/>
              <a:t>compress</a:t>
            </a:r>
            <a:r>
              <a:rPr lang="en-US" sz="1600"/>
              <a:t>. </a:t>
            </a:r>
            <a:r>
              <a:rPr lang="en-US" sz="1600" err="1"/>
              <a:t>Perhatikan</a:t>
            </a:r>
            <a:r>
              <a:rPr lang="en-US" sz="1600"/>
              <a:t>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i="1"/>
              <a:t>rename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</a:t>
            </a:r>
            <a:r>
              <a:rPr lang="en-US" sz="1600" err="1"/>
              <a:t>berakhiran</a:t>
            </a:r>
            <a:r>
              <a:rPr lang="en-US" sz="1600"/>
              <a:t> .zip </a:t>
            </a:r>
            <a:r>
              <a:rPr lang="en-US" sz="1600" b="1" err="1"/>
              <a:t>bukanlah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compress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Langkah-</a:t>
            </a:r>
            <a:r>
              <a:rPr lang="en-US" sz="1600" err="1"/>
              <a:t>langkah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compress file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dilihat</a:t>
            </a:r>
            <a:r>
              <a:rPr lang="en-US" sz="1600"/>
              <a:t> pada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“Step By Step to Compress Your Answer”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816934-663F-B2DC-3FF2-CF951B99954D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3)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A1BBDF-AD2C-1F66-A078-B92A493CB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841" y="4122198"/>
            <a:ext cx="5305425" cy="2524125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32750610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7039A-C166-6AD5-DFDF-6D4BA943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CDF08-991C-6D94-2DB6-125AD471E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i="1" dirty="0"/>
              <a:t>Upload file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menekan</a:t>
            </a:r>
            <a:r>
              <a:rPr lang="en-US" sz="1600" dirty="0"/>
              <a:t> </a:t>
            </a:r>
            <a:r>
              <a:rPr lang="en-US" sz="1600" dirty="0" err="1"/>
              <a:t>tombol</a:t>
            </a:r>
            <a:r>
              <a:rPr lang="en-US" sz="1600" dirty="0"/>
              <a:t> </a:t>
            </a:r>
            <a:r>
              <a:rPr lang="en-US" sz="1600" b="1" dirty="0"/>
              <a:t>”Browse / Choose File”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r>
              <a:rPr lang="en-US" sz="1600" dirty="0"/>
              <a:t>Setelah </a:t>
            </a:r>
            <a:r>
              <a:rPr lang="en-US" sz="1600" dirty="0" err="1"/>
              <a:t>tombol</a:t>
            </a:r>
            <a:r>
              <a:rPr lang="en-US" sz="1600" dirty="0"/>
              <a:t> </a:t>
            </a:r>
            <a:r>
              <a:rPr lang="en-US" sz="1600" dirty="0" err="1"/>
              <a:t>tersebut</a:t>
            </a:r>
            <a:r>
              <a:rPr lang="en-US" sz="1600" dirty="0"/>
              <a:t> di-</a:t>
            </a:r>
            <a:r>
              <a:rPr lang="en-US" sz="1600" i="1" dirty="0"/>
              <a:t>click </a:t>
            </a:r>
            <a:r>
              <a:rPr lang="en-US" sz="1600" dirty="0"/>
              <a:t>dan </a:t>
            </a:r>
            <a:r>
              <a:rPr lang="en-US" sz="1600" dirty="0" err="1"/>
              <a:t>jawaban</a:t>
            </a:r>
            <a:r>
              <a:rPr lang="en-US" sz="1600" dirty="0"/>
              <a:t> yang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dikumpul</a:t>
            </a:r>
            <a:r>
              <a:rPr lang="en-US" sz="1600" dirty="0"/>
              <a:t>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dipilih</a:t>
            </a:r>
            <a:r>
              <a:rPr lang="en-US" sz="1600" dirty="0"/>
              <a:t>, </a:t>
            </a:r>
            <a:r>
              <a:rPr lang="en-US" sz="1600" i="1" dirty="0"/>
              <a:t>file</a:t>
            </a:r>
            <a:r>
              <a:rPr lang="en-US" sz="1600" dirty="0"/>
              <a:t>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terkirim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</a:t>
            </a:r>
            <a:r>
              <a:rPr lang="en-US" sz="1600" i="1" dirty="0"/>
              <a:t>server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r>
              <a:rPr lang="en-US" sz="1600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dirty="0" err="1">
                <a:ea typeface="Open Sans"/>
                <a:cs typeface="Open Sans"/>
              </a:rPr>
              <a:t>dikumpulkan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melalui</a:t>
            </a:r>
            <a:r>
              <a:rPr lang="en-US" sz="1600" dirty="0">
                <a:ea typeface="Open Sans"/>
                <a:cs typeface="Open Sans"/>
              </a:rPr>
              <a:t> Web Uploader </a:t>
            </a:r>
            <a:r>
              <a:rPr lang="en-US" sz="1600" dirty="0" err="1">
                <a:ea typeface="Open Sans"/>
                <a:cs typeface="Open Sans"/>
              </a:rPr>
              <a:t>akan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berlaku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untuk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seluruh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anggota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kelompok</a:t>
            </a:r>
            <a:r>
              <a:rPr lang="en-US" sz="1600" dirty="0">
                <a:ea typeface="Open Sans"/>
                <a:cs typeface="Open Sans"/>
              </a:rPr>
              <a:t>. </a:t>
            </a:r>
            <a:r>
              <a:rPr lang="en-US" sz="1600" dirty="0" err="1">
                <a:ea typeface="Open Sans"/>
                <a:cs typeface="Open Sans"/>
              </a:rPr>
              <a:t>Sehingga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b="1" dirty="0" err="1">
                <a:ea typeface="Open Sans"/>
                <a:cs typeface="Open Sans"/>
              </a:rPr>
              <a:t>cukup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satu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mahasiswa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dari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setiap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kelompok</a:t>
            </a:r>
            <a:r>
              <a:rPr lang="en-US" sz="1600" b="1" dirty="0">
                <a:ea typeface="Open Sans"/>
                <a:cs typeface="Open Sans"/>
              </a:rPr>
              <a:t> yang </a:t>
            </a:r>
            <a:r>
              <a:rPr lang="en-US" sz="1600" b="1" dirty="0" err="1">
                <a:ea typeface="Open Sans"/>
                <a:cs typeface="Open Sans"/>
              </a:rPr>
              <a:t>melakukan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pengumpulan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6F9CAE-91E0-34EA-5C3C-63ED39D978F9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3C38C5-C078-9D2E-3EA1-A0602E7B7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230" y="4113472"/>
            <a:ext cx="6696075" cy="2352675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12885197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F0035-85DF-42A3-4D33-5FFD22D8F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84ABC-6735-689F-5606-287DA3DFD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>
                <a:ea typeface="Open Sans"/>
                <a:cs typeface="Open Sans"/>
              </a:rPr>
              <a:t>Akan </a:t>
            </a:r>
            <a:r>
              <a:rPr lang="en-US" sz="1600" err="1">
                <a:ea typeface="Open Sans"/>
                <a:cs typeface="Open Sans"/>
              </a:rPr>
              <a:t>muncul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peringatan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size file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melebihi</a:t>
            </a:r>
            <a:r>
              <a:rPr lang="en-US" sz="1600" b="1">
                <a:ea typeface="Open Sans"/>
                <a:cs typeface="Open Sans"/>
              </a:rPr>
              <a:t> batas yang </a:t>
            </a:r>
            <a:r>
              <a:rPr lang="en-US" sz="1600" b="1" err="1">
                <a:ea typeface="Open Sans"/>
                <a:cs typeface="Open Sans"/>
              </a:rPr>
              <a:t>telah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ditentukan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>
                <a:ea typeface="Open Sans"/>
                <a:cs typeface="Open Sans"/>
              </a:rPr>
              <a:t>Pastikan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mengumpulkan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kembali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file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size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sesuai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menghindari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pengurangan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nilai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sebesar</a:t>
            </a:r>
            <a:r>
              <a:rPr lang="en-US" sz="1600" b="1">
                <a:ea typeface="Open Sans"/>
                <a:cs typeface="Open Sans"/>
              </a:rPr>
              <a:t> 20%</a:t>
            </a:r>
            <a:r>
              <a:rPr lang="en-US" sz="160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9BB49C-110C-FA19-3AA4-E47F0B66CC3A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2" name="Picture 1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B9F6F590-140E-F8EC-F356-615D76CA8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410" y="3334592"/>
            <a:ext cx="4102747" cy="31525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975813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032C3-B52F-07FC-DCE1-CB03D256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32D5B-AC1E-68C1-5C40-AE1641516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Status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sampai</a:t>
            </a:r>
            <a:r>
              <a:rPr lang="en-US" sz="1600"/>
              <a:t> </a:t>
            </a:r>
            <a:r>
              <a:rPr lang="en-US" sz="1600" err="1"/>
              <a:t>tahap</a:t>
            </a:r>
            <a:r>
              <a:rPr lang="en-US" sz="1600"/>
              <a:t> </a:t>
            </a:r>
            <a:r>
              <a:rPr lang="en-US" sz="1600" err="1"/>
              <a:t>ini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b="1" i="1"/>
              <a:t>Pending</a:t>
            </a:r>
            <a:r>
              <a:rPr lang="en-US" sz="1600"/>
              <a:t> dan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err="1"/>
              <a:t>opsi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: (1) 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ulang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, (2) </a:t>
            </a:r>
            <a:r>
              <a:rPr lang="en-US" sz="1600" i="1"/>
              <a:t>download file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dikumpul</a:t>
            </a:r>
            <a:r>
              <a:rPr lang="en-US" sz="1600"/>
              <a:t>, </a:t>
            </a:r>
            <a:r>
              <a:rPr lang="en-US" sz="1600" err="1"/>
              <a:t>atau</a:t>
            </a:r>
            <a:r>
              <a:rPr lang="en-US" sz="1600"/>
              <a:t> (3)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i="1"/>
              <a:t>Finalize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meng-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, </a:t>
            </a:r>
            <a:r>
              <a:rPr lang="en-US" sz="1600" i="1"/>
              <a:t>file</a:t>
            </a:r>
            <a:r>
              <a:rPr lang="en-US" sz="1600"/>
              <a:t> yang </a:t>
            </a:r>
            <a:r>
              <a:rPr lang="en-US" sz="1600" err="1"/>
              <a:t>sebelumnya</a:t>
            </a:r>
            <a:r>
              <a:rPr lang="en-US" sz="1600"/>
              <a:t> di-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tertimpa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77846-FA22-0133-C447-2D44106C0C31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FD5A0F-9388-ED89-EA78-40D743635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413" y="3432175"/>
            <a:ext cx="4257675" cy="3105150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30889711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96FC6-727A-2B80-CED5-C0E39A9D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A4625-DD14-1A55-427D-C9FAEEE92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Cek </a:t>
            </a:r>
            <a:r>
              <a:rPr lang="en-US" sz="1600" err="1"/>
              <a:t>kembali</a:t>
            </a:r>
            <a:r>
              <a:rPr lang="en-US" sz="1600"/>
              <a:t> detail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terkumpul</a:t>
            </a:r>
            <a:r>
              <a:rPr lang="en-US" sz="1600"/>
              <a:t> yang </a:t>
            </a:r>
            <a:r>
              <a:rPr lang="en-US" sz="1600" err="1"/>
              <a:t>ditampilkan</a:t>
            </a:r>
            <a:r>
              <a:rPr lang="en-US" sz="1600"/>
              <a:t> </a:t>
            </a:r>
            <a:r>
              <a:rPr lang="en-US" sz="1600" err="1"/>
              <a:t>aplikasi</a:t>
            </a:r>
            <a:r>
              <a:rPr lang="en-US" sz="1600"/>
              <a:t>, </a:t>
            </a:r>
            <a:r>
              <a:rPr lang="en-US" sz="1600" err="1"/>
              <a:t>yaitu</a:t>
            </a:r>
            <a:r>
              <a:rPr lang="en-US" sz="1600"/>
              <a:t> </a:t>
            </a:r>
            <a:r>
              <a:rPr lang="en-US" sz="1600" b="1" err="1"/>
              <a:t>kesesuaian</a:t>
            </a:r>
            <a:r>
              <a:rPr lang="en-US" sz="1600" b="1"/>
              <a:t> nama </a:t>
            </a:r>
            <a:r>
              <a:rPr lang="en-US" sz="1600" b="1" i="1"/>
              <a:t>file</a:t>
            </a:r>
            <a:r>
              <a:rPr lang="en-US" sz="1600" b="1"/>
              <a:t>, </a:t>
            </a:r>
            <a:r>
              <a:rPr lang="en-US" sz="1600" b="1" i="1"/>
              <a:t>upload date</a:t>
            </a:r>
            <a:r>
              <a:rPr lang="en-US" sz="1600" b="1"/>
              <a:t>, dan </a:t>
            </a:r>
            <a:r>
              <a:rPr lang="en-US" sz="1600" b="1" i="1"/>
              <a:t>size</a:t>
            </a:r>
            <a:r>
              <a:rPr lang="en-US" sz="1600"/>
              <a:t>).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men-</a:t>
            </a: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mengecek</a:t>
            </a:r>
            <a:r>
              <a:rPr lang="en-US" sz="1600"/>
              <a:t> </a:t>
            </a:r>
            <a:r>
              <a:rPr lang="en-US" sz="1600" err="1"/>
              <a:t>kebenaran</a:t>
            </a:r>
            <a:r>
              <a:rPr lang="en-US" sz="1600"/>
              <a:t> dan </a:t>
            </a:r>
            <a:r>
              <a:rPr lang="en-US" sz="1600" err="1"/>
              <a:t>kesesuaian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yang di-</a:t>
            </a:r>
            <a:r>
              <a:rPr lang="en-US" sz="1600" i="1"/>
              <a:t>upload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945D41-1C06-EA34-BFBA-4AEE6403F16D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5)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5F75F6-D4D1-2CF1-A464-674DB0ECD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104" y="3428471"/>
            <a:ext cx="6524625" cy="2371725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14011449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0519D-A0BA-6394-8255-9ED34503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EFD1F-C25D-DD0C-4B53-E4838A2B5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selesai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 dan </a:t>
            </a:r>
            <a:r>
              <a:rPr lang="en-US" sz="1600" err="1"/>
              <a:t>mengumpulkan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/>
              <a:t>WAJIB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b="1" i="1"/>
              <a:t>finalize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menekan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“Finalize Exam”</a:t>
            </a:r>
            <a:r>
              <a:rPr lang="en-US" sz="1600"/>
              <a:t>,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muncul</a:t>
            </a:r>
            <a:r>
              <a:rPr lang="en-US" sz="1600"/>
              <a:t> </a:t>
            </a:r>
            <a:r>
              <a:rPr lang="en-US" sz="1600" i="1"/>
              <a:t>pop up </a:t>
            </a:r>
            <a:r>
              <a:rPr lang="en-US" sz="1600" err="1"/>
              <a:t>konfirmasi</a:t>
            </a:r>
            <a:r>
              <a:rPr lang="en-US" sz="1600"/>
              <a:t>: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145AC7-E170-97D1-9B28-71F1EA9E2828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6)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EB5572-858A-6983-5785-F2D8496B18DB}"/>
              </a:ext>
            </a:extLst>
          </p:cNvPr>
          <p:cNvGrpSpPr/>
          <p:nvPr/>
        </p:nvGrpSpPr>
        <p:grpSpPr>
          <a:xfrm>
            <a:off x="1544682" y="2387727"/>
            <a:ext cx="6896964" cy="1148080"/>
            <a:chOff x="2225402" y="4328160"/>
            <a:chExt cx="6896964" cy="1148080"/>
          </a:xfrm>
        </p:grpSpPr>
        <p:pic>
          <p:nvPicPr>
            <p:cNvPr id="5" name="Picture 4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1A4E22CA-00EB-A5BE-FDEF-5E9C19242D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901" r="30444" b="46045"/>
            <a:stretch/>
          </p:blipFill>
          <p:spPr>
            <a:xfrm>
              <a:off x="2225402" y="4328160"/>
              <a:ext cx="6896964" cy="11480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6B8D62-CD23-1886-4EA4-D9656ED35D6C}"/>
                </a:ext>
              </a:extLst>
            </p:cNvPr>
            <p:cNvSpPr/>
            <p:nvPr/>
          </p:nvSpPr>
          <p:spPr>
            <a:xfrm>
              <a:off x="2651760" y="4510006"/>
              <a:ext cx="1053168" cy="5801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C904310-95DB-1DA6-B407-0DCD0011E2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1" t="2854" r="3033" b="3491"/>
          <a:stretch/>
        </p:blipFill>
        <p:spPr>
          <a:xfrm>
            <a:off x="1544682" y="4231093"/>
            <a:ext cx="3505200" cy="23250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B4E205-EFC7-BC27-B0FB-C11E5DFE3617}"/>
              </a:ext>
            </a:extLst>
          </p:cNvPr>
          <p:cNvSpPr txBox="1"/>
          <p:nvPr/>
        </p:nvSpPr>
        <p:spPr>
          <a:xfrm>
            <a:off x="5244209" y="4470273"/>
            <a:ext cx="3197437" cy="74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60000"/>
              </a:lnSpc>
            </a:pPr>
            <a:r>
              <a:rPr lang="en-US" sz="1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Yes</a:t>
            </a:r>
            <a:r>
              <a:rPr lang="en-US"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Konfirmasi melakukan </a:t>
            </a:r>
            <a:r>
              <a:rPr lang="en-US" sz="14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finalize</a:t>
            </a:r>
          </a:p>
          <a:p>
            <a:pPr marL="0" lvl="1" algn="just">
              <a:lnSpc>
                <a:spcPct val="160000"/>
              </a:lnSpc>
            </a:pPr>
            <a:r>
              <a:rPr lang="en-US" sz="1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</a:t>
            </a:r>
            <a:r>
              <a:rPr lang="en-US"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Batal melakukan </a:t>
            </a:r>
            <a:r>
              <a:rPr lang="en-US" sz="14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finalize</a:t>
            </a:r>
          </a:p>
        </p:txBody>
      </p:sp>
    </p:spTree>
    <p:extLst>
      <p:ext uri="{BB962C8B-B14F-4D97-AF65-F5344CB8AC3E}">
        <p14:creationId xmlns:p14="http://schemas.microsoft.com/office/powerpoint/2010/main" val="6697100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42410-CDBA-FCF3-E608-AA655A58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C0B25-7D88-E33E-BD9F-3D5422440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Akan </a:t>
            </a:r>
            <a:r>
              <a:rPr lang="en-US" sz="1600" err="1"/>
              <a:t>muncul</a:t>
            </a:r>
            <a:r>
              <a:rPr lang="en-US" sz="1600"/>
              <a:t> </a:t>
            </a:r>
            <a:r>
              <a:rPr lang="en-US" sz="1600" err="1"/>
              <a:t>peringatan</a:t>
            </a:r>
            <a:r>
              <a:rPr lang="en-US" sz="1600"/>
              <a:t> di </a:t>
            </a:r>
            <a:r>
              <a:rPr lang="en-US" sz="1600" i="1"/>
              <a:t>pop up</a:t>
            </a:r>
            <a:r>
              <a:rPr lang="en-US" sz="1600"/>
              <a:t>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i="1"/>
              <a:t>size 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yang </a:t>
            </a:r>
            <a:r>
              <a:rPr lang="en-US" sz="1600" err="1"/>
              <a:t>dikumpulkan</a:t>
            </a:r>
            <a:r>
              <a:rPr lang="en-US" sz="1600"/>
              <a:t> </a:t>
            </a:r>
            <a:r>
              <a:rPr lang="en-US" sz="1600" b="1" err="1"/>
              <a:t>melebihi</a:t>
            </a:r>
            <a:r>
              <a:rPr lang="en-US" sz="1600" b="1"/>
              <a:t> batas yang </a:t>
            </a:r>
            <a:r>
              <a:rPr lang="en-US" sz="1600" b="1" err="1"/>
              <a:t>telah</a:t>
            </a:r>
            <a:r>
              <a:rPr lang="en-US" sz="1600" b="1"/>
              <a:t> </a:t>
            </a:r>
            <a:r>
              <a:rPr lang="en-US" sz="1600" b="1" err="1"/>
              <a:t>ditentukan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EC49F-0F7C-2C9F-CD0D-76179F16DCFD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6)</a:t>
            </a:r>
          </a:p>
        </p:txBody>
      </p:sp>
      <p:pic>
        <p:nvPicPr>
          <p:cNvPr id="2" name="Picture 1" descr="A screenshot of a quiz&#10;&#10;AI-generated content may be incorrect.">
            <a:extLst>
              <a:ext uri="{FF2B5EF4-FFF2-40B4-BE49-F238E27FC236}">
                <a16:creationId xmlns:a16="http://schemas.microsoft.com/office/drawing/2014/main" id="{2D3CD801-762B-7AE8-6F9F-B1111A464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525" y="2518731"/>
            <a:ext cx="4092631" cy="347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1918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2D10D-C105-71FB-AD6C-7ECF8CE7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F70A7-8A35-5CE2-87F8-552E0469A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di-</a:t>
            </a:r>
            <a:r>
              <a:rPr lang="en-US" sz="1600" i="1"/>
              <a:t>finalize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dapat</a:t>
            </a:r>
            <a:r>
              <a:rPr lang="en-US" sz="1600" b="1"/>
              <a:t> meng-</a:t>
            </a:r>
            <a:r>
              <a:rPr lang="en-US" sz="1600" b="1" i="1"/>
              <a:t>upload file </a:t>
            </a:r>
            <a:r>
              <a:rPr lang="en-US" sz="1600" b="1" err="1"/>
              <a:t>jawaban</a:t>
            </a:r>
            <a:r>
              <a:rPr lang="en-US" sz="1600" b="1"/>
              <a:t> </a:t>
            </a:r>
            <a:r>
              <a:rPr lang="en-US" sz="1600" b="1" err="1"/>
              <a:t>kembali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mengubah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).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r>
              <a:rPr lang="en-US" sz="1600"/>
              <a:t>Kode </a:t>
            </a:r>
            <a:r>
              <a:rPr lang="en-US" sz="1600" err="1"/>
              <a:t>konfirmasi</a:t>
            </a:r>
            <a:r>
              <a:rPr lang="en-US" sz="1600"/>
              <a:t> (</a:t>
            </a:r>
            <a:r>
              <a:rPr lang="en-US" sz="1600" i="1"/>
              <a:t>hash code</a:t>
            </a:r>
            <a:r>
              <a:rPr lang="en-US" sz="1600"/>
              <a:t>) yang </a:t>
            </a:r>
            <a:r>
              <a:rPr lang="en-US" sz="1600" err="1"/>
              <a:t>tampil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dicek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pada </a:t>
            </a:r>
            <a:r>
              <a:rPr lang="en-US" sz="1600" err="1"/>
              <a:t>Binusmaya</a:t>
            </a:r>
            <a:r>
              <a:rPr lang="en-US" sz="1600"/>
              <a:t> Practicum </a:t>
            </a:r>
            <a:r>
              <a:rPr lang="en-US" sz="1600" err="1"/>
              <a:t>sebagai</a:t>
            </a:r>
            <a:r>
              <a:rPr lang="en-US" sz="1600"/>
              <a:t> </a:t>
            </a:r>
            <a:r>
              <a:rPr lang="en-US" sz="1600" b="1" err="1"/>
              <a:t>bukti</a:t>
            </a:r>
            <a:r>
              <a:rPr lang="en-US" sz="1600" b="1"/>
              <a:t> </a:t>
            </a:r>
            <a:r>
              <a:rPr lang="en-US" sz="1600" b="1" err="1"/>
              <a:t>pengumpulan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E79FA3-588C-19F4-B342-020B1B3336B5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 Web Uploader (Step 6)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D85C1E9-90BD-05B9-1807-1A7220832312}"/>
              </a:ext>
            </a:extLst>
          </p:cNvPr>
          <p:cNvGrpSpPr/>
          <p:nvPr/>
        </p:nvGrpSpPr>
        <p:grpSpPr>
          <a:xfrm>
            <a:off x="684929" y="3432012"/>
            <a:ext cx="8081119" cy="2413000"/>
            <a:chOff x="1219200" y="3429000"/>
            <a:chExt cx="6858000" cy="2047780"/>
          </a:xfrm>
        </p:grpSpPr>
        <p:pic>
          <p:nvPicPr>
            <p:cNvPr id="10" name="Picture 9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A5CDC462-A038-90DD-5442-9A08CDE2E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9200" y="3429000"/>
              <a:ext cx="6858000" cy="20477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625712-683A-1CAE-CA66-1F4A93B8BD72}"/>
                </a:ext>
              </a:extLst>
            </p:cNvPr>
            <p:cNvSpPr/>
            <p:nvPr/>
          </p:nvSpPr>
          <p:spPr>
            <a:xfrm>
              <a:off x="1290320" y="3708400"/>
              <a:ext cx="1818640" cy="4673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82471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Kuis</a:t>
            </a:r>
            <a:r>
              <a:rPr lang="en-US"/>
              <a:t> Bawa Pulang</a:t>
            </a:r>
          </a:p>
        </p:txBody>
      </p:sp>
    </p:spTree>
    <p:extLst>
      <p:ext uri="{BB962C8B-B14F-4D97-AF65-F5344CB8AC3E}">
        <p14:creationId xmlns:p14="http://schemas.microsoft.com/office/powerpoint/2010/main" val="27349235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/>
              <a:t>Kuis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dilaksanakan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</a:t>
            </a:r>
            <a:r>
              <a:rPr lang="en-US" sz="1600" b="1" dirty="0" err="1"/>
              <a:t>individu</a:t>
            </a:r>
            <a:r>
              <a:rPr lang="en-US" sz="1600" b="1" dirty="0"/>
              <a:t> </a:t>
            </a:r>
            <a:r>
              <a:rPr lang="en-US" sz="1600" b="1" dirty="0" err="1"/>
              <a:t>atau</a:t>
            </a:r>
            <a:r>
              <a:rPr lang="en-US" sz="1600" b="1" dirty="0"/>
              <a:t> </a:t>
            </a:r>
            <a:r>
              <a:rPr lang="en-US" sz="1600" b="1" dirty="0" err="1"/>
              <a:t>berkelompok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Soal </a:t>
            </a: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diakses</a:t>
            </a:r>
            <a:r>
              <a:rPr lang="en-US" sz="1600" dirty="0"/>
              <a:t> </a:t>
            </a:r>
            <a:r>
              <a:rPr lang="en-US" sz="1600" dirty="0" err="1"/>
              <a:t>sejak</a:t>
            </a:r>
            <a:r>
              <a:rPr lang="en-US" sz="1600" dirty="0"/>
              <a:t> </a:t>
            </a:r>
            <a:r>
              <a:rPr lang="en-US" sz="1600" b="1" dirty="0" err="1"/>
              <a:t>pertemuan</a:t>
            </a:r>
            <a:r>
              <a:rPr lang="en-US" sz="1600" b="1" dirty="0"/>
              <a:t> </a:t>
            </a:r>
            <a:r>
              <a:rPr lang="en-US" sz="1600" b="1" dirty="0">
                <a:highlight>
                  <a:srgbClr val="FFFF00"/>
                </a:highlight>
              </a:rPr>
              <a:t>[</a:t>
            </a:r>
            <a:r>
              <a:rPr lang="en-US" sz="1600" b="1" dirty="0" err="1">
                <a:highlight>
                  <a:srgbClr val="FFFF00"/>
                </a:highlight>
              </a:rPr>
              <a:t>diisi</a:t>
            </a:r>
            <a:r>
              <a:rPr lang="en-US" sz="1600" b="1" dirty="0">
                <a:highlight>
                  <a:srgbClr val="FFFF00"/>
                </a:highlight>
              </a:rPr>
              <a:t> </a:t>
            </a:r>
            <a:r>
              <a:rPr lang="en-US" sz="1600" b="1" dirty="0" err="1">
                <a:highlight>
                  <a:srgbClr val="FFFF00"/>
                </a:highlight>
              </a:rPr>
              <a:t>sesuai</a:t>
            </a:r>
            <a:r>
              <a:rPr lang="en-US" sz="1600" b="1" dirty="0">
                <a:highlight>
                  <a:srgbClr val="FFFF00"/>
                </a:highlight>
              </a:rPr>
              <a:t> </a:t>
            </a:r>
            <a:r>
              <a:rPr lang="en-US" sz="1600" b="1" dirty="0" err="1">
                <a:highlight>
                  <a:srgbClr val="FFFF00"/>
                </a:highlight>
              </a:rPr>
              <a:t>mata</a:t>
            </a:r>
            <a:r>
              <a:rPr lang="en-US" sz="1600" b="1" dirty="0">
                <a:highlight>
                  <a:srgbClr val="FFFF00"/>
                </a:highlight>
              </a:rPr>
              <a:t> </a:t>
            </a:r>
            <a:r>
              <a:rPr lang="en-US" sz="1600" b="1" dirty="0" err="1">
                <a:highlight>
                  <a:srgbClr val="FFFF00"/>
                </a:highlight>
              </a:rPr>
              <a:t>kuliah</a:t>
            </a:r>
            <a:r>
              <a:rPr lang="en-US" sz="1600" b="1" dirty="0">
                <a:highlight>
                  <a:srgbClr val="FFFF00"/>
                </a:highlight>
              </a:rPr>
              <a:t>]</a:t>
            </a:r>
            <a:r>
              <a:rPr lang="en-US" sz="1600" b="1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mata</a:t>
            </a:r>
            <a:r>
              <a:rPr lang="en-US" sz="1600" dirty="0"/>
              <a:t> </a:t>
            </a:r>
            <a:r>
              <a:rPr lang="en-US" sz="1600" dirty="0" err="1"/>
              <a:t>kuliah</a:t>
            </a:r>
            <a:r>
              <a:rPr lang="en-US" sz="1600" dirty="0"/>
              <a:t> </a:t>
            </a:r>
            <a:r>
              <a:rPr lang="en-US" sz="1600" dirty="0" err="1"/>
              <a:t>terkait</a:t>
            </a:r>
            <a:r>
              <a:rPr lang="en-US" sz="1600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b="1" dirty="0"/>
              <a:t>Bluejack Practicum</a:t>
            </a:r>
            <a:r>
              <a:rPr lang="en-US" sz="1600" dirty="0"/>
              <a:t> (</a:t>
            </a:r>
            <a:r>
              <a:rPr lang="en-US" sz="1600" dirty="0">
                <a:hlinkClick r:id="rId2"/>
              </a:rPr>
              <a:t>https://bluejack.binus.ac.id/prk/</a:t>
            </a:r>
            <a:r>
              <a:rPr lang="en-US" sz="1600" dirty="0"/>
              <a:t>)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/>
              <a:t>Kuis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dikerjakan</a:t>
            </a:r>
            <a:r>
              <a:rPr lang="en-US" sz="1600" dirty="0"/>
              <a:t> dan </a:t>
            </a:r>
            <a:r>
              <a:rPr lang="en-US" sz="1600" b="1" dirty="0" err="1"/>
              <a:t>dikumpulkan</a:t>
            </a:r>
            <a:r>
              <a:rPr lang="en-US" sz="1600" b="1" dirty="0"/>
              <a:t> </a:t>
            </a:r>
            <a:r>
              <a:rPr lang="en-US" sz="1600" b="1" dirty="0" err="1"/>
              <a:t>secara</a:t>
            </a:r>
            <a:r>
              <a:rPr lang="en-US" sz="1600" b="1" dirty="0"/>
              <a:t> </a:t>
            </a:r>
            <a:r>
              <a:rPr lang="en-US" sz="1600" b="1" i="1" dirty="0"/>
              <a:t>online</a:t>
            </a:r>
            <a:r>
              <a:rPr lang="en-US" sz="1600" b="1" dirty="0"/>
              <a:t> </a:t>
            </a:r>
            <a:r>
              <a:rPr lang="en-US" sz="1600" dirty="0" err="1"/>
              <a:t>hingga</a:t>
            </a:r>
            <a:r>
              <a:rPr lang="en-US" sz="1600" dirty="0"/>
              <a:t> </a:t>
            </a:r>
            <a:r>
              <a:rPr lang="en-US" sz="1600" dirty="0" err="1"/>
              <a:t>jadwal</a:t>
            </a:r>
            <a:r>
              <a:rPr lang="en-US" sz="1600" dirty="0"/>
              <a:t> </a:t>
            </a:r>
            <a:r>
              <a:rPr lang="en-US" sz="1600" dirty="0" err="1"/>
              <a:t>pertemuan</a:t>
            </a:r>
            <a:r>
              <a:rPr lang="en-US" sz="1600" dirty="0"/>
              <a:t> </a:t>
            </a:r>
            <a:r>
              <a:rPr lang="en-US" sz="1600" dirty="0" err="1"/>
              <a:t>pengumpulan</a:t>
            </a:r>
            <a:r>
              <a:rPr lang="en-US" sz="1600" dirty="0"/>
              <a:t> yang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ditentukan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Pengumpulan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setelah</a:t>
            </a:r>
            <a:r>
              <a:rPr lang="en-US" sz="1600" dirty="0"/>
              <a:t> </a:t>
            </a:r>
            <a:r>
              <a:rPr lang="en-US" sz="1600" dirty="0" err="1"/>
              <a:t>waktu</a:t>
            </a:r>
            <a:r>
              <a:rPr lang="en-US" sz="1600" dirty="0"/>
              <a:t> yang </a:t>
            </a:r>
            <a:r>
              <a:rPr lang="en-US" sz="1600" dirty="0" err="1"/>
              <a:t>ditetapkan</a:t>
            </a:r>
            <a:r>
              <a:rPr lang="en-US" sz="1600" dirty="0"/>
              <a:t> </a:t>
            </a:r>
            <a:r>
              <a:rPr lang="en-US" sz="1600" b="1" dirty="0" err="1"/>
              <a:t>tidak</a:t>
            </a:r>
            <a:r>
              <a:rPr lang="en-US" sz="1600" b="1" dirty="0"/>
              <a:t> </a:t>
            </a:r>
            <a:r>
              <a:rPr lang="en-US" sz="1600" b="1" dirty="0" err="1"/>
              <a:t>akan</a:t>
            </a:r>
            <a:r>
              <a:rPr lang="en-US" sz="1600" b="1" dirty="0"/>
              <a:t> </a:t>
            </a:r>
            <a:r>
              <a:rPr lang="en-US" sz="1600" b="1" dirty="0" err="1"/>
              <a:t>diterima</a:t>
            </a:r>
            <a:r>
              <a:rPr lang="en-US" sz="1600" b="1" dirty="0"/>
              <a:t> </a:t>
            </a:r>
            <a:r>
              <a:rPr lang="en-US" sz="1600" dirty="0"/>
              <a:t>dan </a:t>
            </a:r>
            <a:r>
              <a:rPr lang="en-US" sz="1600" dirty="0" err="1"/>
              <a:t>dianggap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mengumpulkan</a:t>
            </a:r>
            <a:r>
              <a:rPr lang="en-US" sz="1600" dirty="0"/>
              <a:t> </a:t>
            </a:r>
            <a:r>
              <a:rPr lang="en-US" sz="1600" dirty="0" err="1"/>
              <a:t>proyek</a:t>
            </a:r>
            <a:r>
              <a:rPr lang="en-US" sz="1600" dirty="0"/>
              <a:t> (</a:t>
            </a:r>
            <a:r>
              <a:rPr lang="en-US" sz="1600" b="1" dirty="0" err="1"/>
              <a:t>nilai</a:t>
            </a:r>
            <a:r>
              <a:rPr lang="en-US" sz="1600" b="1" dirty="0"/>
              <a:t> 0</a:t>
            </a:r>
            <a:r>
              <a:rPr lang="en-US" sz="1600" dirty="0"/>
              <a:t>).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/>
              <a:t>Masalah pada </a:t>
            </a:r>
            <a:r>
              <a:rPr lang="en-US" sz="1600" b="1" dirty="0" err="1"/>
              <a:t>pengumpulan</a:t>
            </a:r>
            <a:r>
              <a:rPr lang="en-US" sz="1600" b="1" dirty="0"/>
              <a:t> di </a:t>
            </a:r>
            <a:r>
              <a:rPr lang="en-US" sz="1600" b="1" dirty="0" err="1"/>
              <a:t>luar</a:t>
            </a:r>
            <a:r>
              <a:rPr lang="en-US" sz="1600" b="1" dirty="0"/>
              <a:t> jam dan </a:t>
            </a:r>
            <a:r>
              <a:rPr lang="en-US" sz="1600" b="1" dirty="0" err="1"/>
              <a:t>tempat</a:t>
            </a:r>
            <a:r>
              <a:rPr lang="en-US" sz="1600" b="1" dirty="0"/>
              <a:t> yang </a:t>
            </a:r>
            <a:r>
              <a:rPr lang="en-US" sz="1600" b="1" dirty="0" err="1"/>
              <a:t>dijadwalkan</a:t>
            </a:r>
            <a:r>
              <a:rPr lang="en-US" sz="1600" b="1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b="1" dirty="0" err="1"/>
              <a:t>tanggung</a:t>
            </a:r>
            <a:r>
              <a:rPr lang="en-US" sz="1600" b="1" dirty="0"/>
              <a:t> </a:t>
            </a:r>
            <a:r>
              <a:rPr lang="en-US" sz="1600" b="1" dirty="0" err="1"/>
              <a:t>jawab</a:t>
            </a:r>
            <a:r>
              <a:rPr lang="en-US" sz="1600" b="1" dirty="0"/>
              <a:t> </a:t>
            </a:r>
            <a:r>
              <a:rPr lang="en-US" sz="1600" b="1" dirty="0" err="1"/>
              <a:t>mahasiswa</a:t>
            </a:r>
            <a:r>
              <a:rPr lang="en-US" sz="1600" b="1" dirty="0"/>
              <a:t> </a:t>
            </a:r>
            <a:r>
              <a:rPr lang="en-US" sz="1600" dirty="0" err="1"/>
              <a:t>sepenuhnya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Kuis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Bawa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Pulang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5047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798" y="1468398"/>
            <a:ext cx="7696201" cy="46231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err="1">
                <a:latin typeface="Open Sans"/>
              </a:rPr>
              <a:t>Kriteria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kuis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bawa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pulang</a:t>
            </a:r>
            <a:r>
              <a:rPr lang="en-US" sz="1600" b="1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terdapat</a:t>
            </a:r>
            <a:r>
              <a:rPr lang="en-US" sz="1600">
                <a:latin typeface="Open Sans"/>
              </a:rPr>
              <a:t> pada </a:t>
            </a:r>
            <a:r>
              <a:rPr lang="en-US" sz="1600" b="1" err="1">
                <a:latin typeface="Open Sans"/>
              </a:rPr>
              <a:t>soal</a:t>
            </a:r>
            <a:r>
              <a:rPr lang="en-US" sz="1600" b="1">
                <a:latin typeface="Open Sans"/>
              </a:rPr>
              <a:t> </a:t>
            </a:r>
            <a:r>
              <a:rPr lang="en-US" sz="1600">
                <a:latin typeface="Open Sans"/>
              </a:rPr>
              <a:t>dan </a:t>
            </a:r>
            <a:r>
              <a:rPr lang="en-US" sz="1600" err="1">
                <a:latin typeface="Open Sans"/>
              </a:rPr>
              <a:t>dapat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diberikan</a:t>
            </a:r>
            <a:r>
              <a:rPr lang="en-US" sz="1600">
                <a:latin typeface="Open Sans"/>
              </a:rPr>
              <a:t> juga oleh </a:t>
            </a:r>
            <a:r>
              <a:rPr lang="en-US" sz="1600" err="1">
                <a:latin typeface="Open Sans"/>
              </a:rPr>
              <a:t>pengajar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dalam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bentuk</a:t>
            </a:r>
            <a:r>
              <a:rPr lang="en-US" sz="1600">
                <a:latin typeface="Open Sans"/>
              </a:rPr>
              <a:t> </a:t>
            </a:r>
            <a:r>
              <a:rPr lang="en-US" sz="1600" i="1">
                <a:latin typeface="Open Sans"/>
              </a:rPr>
              <a:t>softcopy.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Jika </a:t>
            </a:r>
            <a:r>
              <a:rPr lang="en-US" sz="1600" b="1" err="1">
                <a:latin typeface="Open Sans"/>
              </a:rPr>
              <a:t>ukuran</a:t>
            </a:r>
            <a:r>
              <a:rPr lang="en-US" sz="1600" b="1">
                <a:latin typeface="Open Sans"/>
              </a:rPr>
              <a:t> file </a:t>
            </a:r>
            <a:r>
              <a:rPr lang="en-US" sz="1600" b="1" err="1">
                <a:latin typeface="Open Sans"/>
              </a:rPr>
              <a:t>lebih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dari</a:t>
            </a:r>
            <a:r>
              <a:rPr lang="en-US" sz="1600" b="1">
                <a:latin typeface="Open Sans"/>
              </a:rPr>
              <a:t> yang </a:t>
            </a:r>
            <a:r>
              <a:rPr lang="en-US" sz="1600" b="1" err="1">
                <a:latin typeface="Open Sans"/>
              </a:rPr>
              <a:t>ditentukan</a:t>
            </a:r>
            <a:r>
              <a:rPr lang="en-US" sz="1600" b="1">
                <a:latin typeface="Open Sans"/>
              </a:rPr>
              <a:t> </a:t>
            </a:r>
            <a:r>
              <a:rPr lang="en-US" sz="1600">
                <a:latin typeface="Open Sans"/>
              </a:rPr>
              <a:t>(</a:t>
            </a:r>
            <a:r>
              <a:rPr lang="en-US" sz="1600" err="1">
                <a:latin typeface="Open Sans"/>
              </a:rPr>
              <a:t>ukuran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sebelum</a:t>
            </a:r>
            <a:r>
              <a:rPr lang="en-US" sz="1600">
                <a:latin typeface="Open Sans"/>
              </a:rPr>
              <a:t> </a:t>
            </a:r>
            <a:r>
              <a:rPr lang="en-US" sz="1600" i="1">
                <a:latin typeface="Open Sans"/>
              </a:rPr>
              <a:t>file</a:t>
            </a:r>
            <a:r>
              <a:rPr lang="en-US" sz="1600">
                <a:latin typeface="Open Sans"/>
              </a:rPr>
              <a:t> </a:t>
            </a:r>
            <a:r>
              <a:rPr lang="en-US" sz="1600" err="1"/>
              <a:t>dikompres</a:t>
            </a:r>
            <a:r>
              <a:rPr lang="en-US" sz="1600"/>
              <a:t>),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b="1" err="1"/>
              <a:t>dipotong</a:t>
            </a:r>
            <a:r>
              <a:rPr lang="en-US" sz="1600" b="1"/>
              <a:t> 20% </a:t>
            </a:r>
            <a:r>
              <a:rPr lang="en-US" sz="1600" err="1"/>
              <a:t>dari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didapat</a:t>
            </a:r>
            <a:r>
              <a:rPr lang="en-US" sz="1600"/>
              <a:t>. </a:t>
            </a:r>
            <a:r>
              <a:rPr lang="en-US" sz="1600" b="1" err="1">
                <a:latin typeface="Open Sans"/>
              </a:rPr>
              <a:t>Maksimum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ukuran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i="1">
                <a:latin typeface="Open Sans"/>
              </a:rPr>
              <a:t>file yang </a:t>
            </a:r>
            <a:r>
              <a:rPr lang="en-US" sz="1600" b="1" i="1" err="1">
                <a:latin typeface="Open Sans"/>
              </a:rPr>
              <a:t>dikumpulkan</a:t>
            </a:r>
            <a:r>
              <a:rPr lang="en-US" sz="1600" b="1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dapat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dicek</a:t>
            </a:r>
            <a:r>
              <a:rPr lang="en-US" sz="1600">
                <a:latin typeface="Open Sans"/>
              </a:rPr>
              <a:t> pada </a:t>
            </a:r>
            <a:r>
              <a:rPr lang="en-US" sz="1600" err="1">
                <a:latin typeface="Open Sans"/>
              </a:rPr>
              <a:t>Buku</a:t>
            </a:r>
            <a:r>
              <a:rPr lang="en-US" sz="1600">
                <a:latin typeface="Open Sans"/>
              </a:rPr>
              <a:t> Panduan Akademik Software Laboratory Center dan Laboratory Center </a:t>
            </a:r>
            <a:r>
              <a:rPr lang="en-US" sz="1600" err="1">
                <a:latin typeface="Open Sans"/>
              </a:rPr>
              <a:t>bagian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Sistem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Praktikum</a:t>
            </a:r>
            <a:r>
              <a:rPr lang="en-US" sz="1600">
                <a:latin typeface="Open Sans"/>
              </a:rPr>
              <a:t> (Academic Book).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i="1"/>
              <a:t>software</a:t>
            </a:r>
            <a:r>
              <a:rPr lang="en-US" sz="1600"/>
              <a:t>/</a:t>
            </a:r>
            <a:r>
              <a:rPr lang="en-US" sz="1600" err="1"/>
              <a:t>versi</a:t>
            </a:r>
            <a:r>
              <a:rPr lang="en-US" sz="1600"/>
              <a:t> </a:t>
            </a:r>
            <a:r>
              <a:rPr lang="en-US" sz="1600" i="1"/>
              <a:t>software</a:t>
            </a:r>
            <a:r>
              <a:rPr lang="en-US" sz="1600"/>
              <a:t> </a:t>
            </a:r>
            <a:r>
              <a:rPr lang="en-US" sz="1600" b="1" err="1"/>
              <a:t>berbeda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yang </a:t>
            </a:r>
            <a:r>
              <a:rPr lang="en-US" sz="1600" err="1"/>
              <a:t>ditetapkan</a:t>
            </a:r>
            <a:r>
              <a:rPr lang="en-US" sz="1600"/>
              <a:t>,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bawa</a:t>
            </a:r>
            <a:r>
              <a:rPr lang="en-US" sz="1600"/>
              <a:t> </a:t>
            </a:r>
            <a:r>
              <a:rPr lang="en-US" sz="1600" err="1"/>
              <a:t>pulang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tetap</a:t>
            </a:r>
            <a:r>
              <a:rPr lang="en-US" sz="1600"/>
              <a:t> </a:t>
            </a:r>
            <a:r>
              <a:rPr lang="en-US" sz="1600" err="1"/>
              <a:t>dikoreksi</a:t>
            </a:r>
            <a:r>
              <a:rPr lang="en-US" sz="1600"/>
              <a:t>. Segala yang </a:t>
            </a:r>
            <a:r>
              <a:rPr lang="en-US" sz="1600" err="1"/>
              <a:t>timbul</a:t>
            </a:r>
            <a:r>
              <a:rPr lang="en-US" sz="1600"/>
              <a:t> (</a:t>
            </a:r>
            <a:r>
              <a:rPr lang="en-US" sz="1600" err="1"/>
              <a:t>seperti</a:t>
            </a:r>
            <a:r>
              <a:rPr lang="en-US" sz="1600"/>
              <a:t> </a:t>
            </a:r>
            <a:r>
              <a:rPr lang="en-US" sz="1600" err="1"/>
              <a:t>fitur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berfungsi</a:t>
            </a:r>
            <a:r>
              <a:rPr lang="en-US" sz="1600"/>
              <a:t>) yang </a:t>
            </a:r>
            <a:r>
              <a:rPr lang="en-US" sz="1600" err="1"/>
              <a:t>menyebabkan</a:t>
            </a:r>
            <a:r>
              <a:rPr lang="en-US" sz="1600"/>
              <a:t> </a:t>
            </a:r>
            <a:r>
              <a:rPr lang="en-US" sz="1600" b="1" err="1"/>
              <a:t>kehilangan</a:t>
            </a:r>
            <a:r>
              <a:rPr lang="en-US" sz="1600" b="1"/>
              <a:t> </a:t>
            </a:r>
            <a:r>
              <a:rPr lang="en-US" sz="1600" b="1" err="1"/>
              <a:t>sebagian</a:t>
            </a:r>
            <a:r>
              <a:rPr lang="en-US" sz="1600" b="1"/>
              <a:t>/</a:t>
            </a:r>
            <a:r>
              <a:rPr lang="en-US" sz="1600" b="1" err="1"/>
              <a:t>seluruh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err="1"/>
              <a:t>menjadi</a:t>
            </a:r>
            <a:r>
              <a:rPr lang="en-US" sz="1600"/>
              <a:t> </a:t>
            </a:r>
            <a:r>
              <a:rPr lang="en-US" sz="1600" b="1" err="1"/>
              <a:t>tanggung</a:t>
            </a:r>
            <a:r>
              <a:rPr lang="en-US" sz="1600" b="1"/>
              <a:t> </a:t>
            </a:r>
            <a:r>
              <a:rPr lang="en-US" sz="1600" b="1" err="1"/>
              <a:t>jawab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/>
              <a:t>.</a:t>
            </a:r>
            <a:endParaRPr lang="en-US" sz="1600">
              <a:latin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Kuis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Bawa Pulang</a:t>
            </a:r>
          </a:p>
        </p:txBody>
      </p:sp>
    </p:spTree>
    <p:extLst>
      <p:ext uri="{BB962C8B-B14F-4D97-AF65-F5344CB8AC3E}">
        <p14:creationId xmlns:p14="http://schemas.microsoft.com/office/powerpoint/2010/main" val="31533416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C7A4A1-6D00-8CEC-36E9-EA2BF52E184C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Kuis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Bawa Pulang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941802"/>
            <a:ext cx="7696201" cy="316359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yang </a:t>
            </a:r>
            <a:r>
              <a:rPr lang="en-US" sz="1600" err="1"/>
              <a:t>berhasil</a:t>
            </a:r>
            <a:r>
              <a:rPr lang="en-US" sz="1600"/>
              <a:t> 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bawa</a:t>
            </a:r>
            <a:r>
              <a:rPr lang="en-US" sz="1600"/>
              <a:t> </a:t>
            </a:r>
            <a:r>
              <a:rPr lang="en-US" sz="1600" err="1"/>
              <a:t>pulang</a:t>
            </a:r>
            <a:r>
              <a:rPr lang="en-US" sz="1600"/>
              <a:t> </a:t>
            </a:r>
            <a:r>
              <a:rPr lang="en-US" sz="1600" err="1"/>
              <a:t>harus</a:t>
            </a:r>
            <a:r>
              <a:rPr lang="en-US" sz="1600"/>
              <a:t> </a:t>
            </a:r>
            <a:r>
              <a:rPr lang="en-US" sz="1600" err="1"/>
              <a:t>memastikan</a:t>
            </a:r>
            <a:r>
              <a:rPr lang="en-US" sz="1600"/>
              <a:t> </a:t>
            </a:r>
            <a:r>
              <a:rPr lang="en-US" sz="1600" err="1"/>
              <a:t>telah</a:t>
            </a:r>
            <a:r>
              <a:rPr lang="en-US" sz="1600"/>
              <a:t> </a:t>
            </a:r>
            <a:r>
              <a:rPr lang="en-US" sz="1600" err="1"/>
              <a:t>menerima</a:t>
            </a:r>
            <a:r>
              <a:rPr lang="en-US" sz="1600"/>
              <a:t> </a:t>
            </a:r>
            <a:r>
              <a:rPr lang="en-US" sz="1600" err="1"/>
              <a:t>bukti</a:t>
            </a:r>
            <a:r>
              <a:rPr lang="en-US" sz="1600"/>
              <a:t> </a:t>
            </a:r>
            <a:r>
              <a:rPr lang="en-US" sz="1600" b="1" err="1"/>
              <a:t>pengumpulan</a:t>
            </a:r>
            <a:r>
              <a:rPr lang="en-US" sz="1600" b="1"/>
              <a:t> </a:t>
            </a:r>
            <a:r>
              <a:rPr lang="en-US" sz="1600" b="1" err="1"/>
              <a:t>berupa</a:t>
            </a:r>
            <a:r>
              <a:rPr lang="en-US" sz="1600" b="1"/>
              <a:t> </a:t>
            </a:r>
            <a:r>
              <a:rPr lang="en-US" sz="1600" b="1" err="1"/>
              <a:t>kode</a:t>
            </a:r>
            <a:r>
              <a:rPr lang="en-US" sz="1600" b="1"/>
              <a:t> pada </a:t>
            </a:r>
            <a:r>
              <a:rPr lang="en-US" sz="1600" b="1" err="1"/>
              <a:t>Binusmaya</a:t>
            </a:r>
            <a:r>
              <a:rPr lang="en-US" sz="1600" b="1"/>
              <a:t> Practicum</a:t>
            </a:r>
            <a:r>
              <a:rPr lang="en-US" sz="1600"/>
              <a:t>. Jika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menerima</a:t>
            </a:r>
            <a:r>
              <a:rPr lang="en-US" sz="1600"/>
              <a:t> </a:t>
            </a:r>
            <a:r>
              <a:rPr lang="en-US" sz="1600" err="1"/>
              <a:t>kode</a:t>
            </a:r>
            <a:r>
              <a:rPr lang="en-US" sz="1600"/>
              <a:t>,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diperbolehkan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terjadi</a:t>
            </a:r>
            <a:r>
              <a:rPr lang="en-US" sz="1600"/>
              <a:t> </a:t>
            </a:r>
            <a:r>
              <a:rPr lang="en-US" sz="1600" err="1"/>
              <a:t>perbedaan</a:t>
            </a:r>
            <a:r>
              <a:rPr lang="en-US" sz="1600"/>
              <a:t> file yang </a:t>
            </a:r>
            <a:r>
              <a:rPr lang="en-US" sz="1600" err="1"/>
              <a:t>dikumpul</a:t>
            </a:r>
            <a:r>
              <a:rPr lang="en-US" sz="1600"/>
              <a:t> (nama file, size, date, time).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1591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Sanksi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Pelanggaran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331FBEEE-32CB-4930-F132-4E24BF16AAAD}"/>
              </a:ext>
            </a:extLst>
          </p:cNvPr>
          <p:cNvGraphicFramePr>
            <a:graphicFrameLocks noGrp="1"/>
          </p:cNvGraphicFramePr>
          <p:nvPr/>
        </p:nvGraphicFramePr>
        <p:xfrm>
          <a:off x="1066798" y="1600200"/>
          <a:ext cx="7696202" cy="324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8101">
                  <a:extLst>
                    <a:ext uri="{9D8B030D-6E8A-4147-A177-3AD203B41FA5}">
                      <a16:colId xmlns:a16="http://schemas.microsoft.com/office/drawing/2014/main" val="1507140336"/>
                    </a:ext>
                  </a:extLst>
                </a:gridCol>
                <a:gridCol w="3848101">
                  <a:extLst>
                    <a:ext uri="{9D8B030D-6E8A-4147-A177-3AD203B41FA5}">
                      <a16:colId xmlns:a16="http://schemas.microsoft.com/office/drawing/2014/main" val="2302630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Jenis</a:t>
                      </a: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Pelanggaran</a:t>
                      </a:r>
                      <a:endParaRPr lang="en-US" sz="1600" b="1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Sanksi</a:t>
                      </a:r>
                      <a:endParaRPr lang="en-US" sz="1600" b="1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131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Pengumpulan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diwakilkan</a:t>
                      </a:r>
                      <a:r>
                        <a:rPr lang="en-US" sz="1400"/>
                        <a:t> oleh </a:t>
                      </a:r>
                      <a:r>
                        <a:rPr lang="en-US" sz="1400" err="1"/>
                        <a:t>mahasiswa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kelompok</a:t>
                      </a:r>
                      <a:r>
                        <a:rPr lang="en-US" sz="1400"/>
                        <a:t> lain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/>
                        <a:t>Nilai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dinyatakan</a:t>
                      </a:r>
                      <a:r>
                        <a:rPr lang="en-US" sz="1400"/>
                        <a:t> 0 (</a:t>
                      </a:r>
                      <a:r>
                        <a:rPr lang="en-US" sz="1400" err="1"/>
                        <a:t>nol</a:t>
                      </a:r>
                      <a:r>
                        <a:rPr lang="en-US" sz="1400"/>
                        <a:t>)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68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Pengerjaan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tidak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sesuai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dengan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tema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soal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yang </a:t>
                      </a:r>
                      <a:r>
                        <a:rPr lang="en-US" sz="1400" err="1"/>
                        <a:t>ditentukan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279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Menyontek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disontek</a:t>
                      </a:r>
                      <a:r>
                        <a:rPr lang="en-US" sz="1400"/>
                        <a:t>* (</a:t>
                      </a:r>
                      <a:r>
                        <a:rPr lang="en-US" sz="1400" err="1"/>
                        <a:t>secara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sadar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sengaja</a:t>
                      </a:r>
                      <a:r>
                        <a:rPr lang="en-US" sz="1400"/>
                        <a:t>)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/>
                        <a:t>Nilai </a:t>
                      </a:r>
                      <a:r>
                        <a:rPr lang="en-US" sz="1400" err="1"/>
                        <a:t>praktikum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mata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kuliah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tersebut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dinyatakan</a:t>
                      </a:r>
                      <a:r>
                        <a:rPr lang="en-US" sz="1400"/>
                        <a:t> 0 (</a:t>
                      </a:r>
                      <a:r>
                        <a:rPr lang="en-US" sz="1400" err="1"/>
                        <a:t>nol</a:t>
                      </a:r>
                      <a:r>
                        <a:rPr lang="en-US" sz="1400"/>
                        <a:t>)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200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Mengunduh</a:t>
                      </a:r>
                      <a:r>
                        <a:rPr lang="en-US" sz="1400"/>
                        <a:t> dan </a:t>
                      </a:r>
                      <a:r>
                        <a:rPr lang="en-US" sz="1400" err="1"/>
                        <a:t>merupakan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bagian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dari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penilaian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materi</a:t>
                      </a:r>
                      <a:r>
                        <a:rPr lang="en-US" sz="1400"/>
                        <a:t> dan </a:t>
                      </a:r>
                      <a:r>
                        <a:rPr lang="en-US" sz="1400" err="1"/>
                        <a:t>kriteria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**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107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Membeli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menyuruh</a:t>
                      </a:r>
                      <a:r>
                        <a:rPr lang="en-US" sz="1400"/>
                        <a:t> orang lain </a:t>
                      </a:r>
                      <a:r>
                        <a:rPr lang="en-US" sz="1400" err="1"/>
                        <a:t>membuatkan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Yang </a:t>
                      </a:r>
                      <a:r>
                        <a:rPr lang="en-US" sz="1400" err="1"/>
                        <a:t>dibuatkan</a:t>
                      </a:r>
                      <a:r>
                        <a:rPr lang="en-US" sz="1400"/>
                        <a:t>: Mata </a:t>
                      </a:r>
                      <a:r>
                        <a:rPr lang="en-US" sz="1400" err="1"/>
                        <a:t>kuliah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tersebut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digugurkan</a:t>
                      </a:r>
                      <a:r>
                        <a:rPr lang="en-US" sz="1400"/>
                        <a:t> dan </a:t>
                      </a:r>
                      <a:r>
                        <a:rPr lang="en-US" sz="1400" err="1"/>
                        <a:t>Skorsing</a:t>
                      </a:r>
                      <a:r>
                        <a:rPr lang="en-US" sz="1400"/>
                        <a:t> 1 (</a:t>
                      </a:r>
                      <a:r>
                        <a:rPr lang="en-US" sz="1400" err="1"/>
                        <a:t>satu</a:t>
                      </a:r>
                      <a:r>
                        <a:rPr lang="en-US" sz="1400"/>
                        <a:t>) semester</a:t>
                      </a:r>
                    </a:p>
                    <a:p>
                      <a:r>
                        <a:rPr lang="en-US" sz="1400"/>
                        <a:t>Yang </a:t>
                      </a:r>
                      <a:r>
                        <a:rPr lang="en-US" sz="1400" err="1"/>
                        <a:t>membuatkan</a:t>
                      </a:r>
                      <a:r>
                        <a:rPr lang="en-US" sz="1400"/>
                        <a:t>: </a:t>
                      </a:r>
                      <a:r>
                        <a:rPr lang="en-US" sz="1400" err="1"/>
                        <a:t>Skorsing</a:t>
                      </a:r>
                      <a:r>
                        <a:rPr lang="en-US" sz="1400"/>
                        <a:t> 1 (</a:t>
                      </a:r>
                      <a:r>
                        <a:rPr lang="en-US" sz="1400" err="1"/>
                        <a:t>satu</a:t>
                      </a:r>
                      <a:r>
                        <a:rPr lang="en-US" sz="1400"/>
                        <a:t>) semester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999240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733C00-F2D7-D3C0-B7C4-19A7A43DA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599" y="4973042"/>
            <a:ext cx="7759701" cy="117856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/>
              <a:t>*) </a:t>
            </a:r>
            <a:r>
              <a:rPr lang="en-US" sz="1400" err="1"/>
              <a:t>Mencakup</a:t>
            </a:r>
            <a:r>
              <a:rPr lang="en-US" sz="1400"/>
              <a:t> </a:t>
            </a:r>
            <a:r>
              <a:rPr lang="en-US" sz="1400" err="1"/>
              <a:t>sebagian</a:t>
            </a:r>
            <a:r>
              <a:rPr lang="en-US" sz="1400"/>
              <a:t>/</a:t>
            </a:r>
            <a:r>
              <a:rPr lang="en-US" sz="1400" err="1"/>
              <a:t>seluruhnya</a:t>
            </a:r>
            <a:r>
              <a:rPr lang="en-US" sz="1400"/>
              <a:t> </a:t>
            </a:r>
            <a:r>
              <a:rPr lang="en-US" sz="1400" err="1"/>
              <a:t>dari</a:t>
            </a:r>
            <a:r>
              <a:rPr lang="en-US" sz="1400"/>
              <a:t> </a:t>
            </a:r>
            <a:r>
              <a:rPr lang="en-US" sz="1400" err="1"/>
              <a:t>jawaban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/</a:t>
            </a:r>
            <a:r>
              <a:rPr lang="en-US" sz="1400" err="1"/>
              <a:t>kelompok</a:t>
            </a:r>
            <a:r>
              <a:rPr lang="en-US" sz="1400"/>
              <a:t> lain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>
                <a:latin typeface="Open Sans"/>
              </a:rPr>
              <a:t>**) </a:t>
            </a:r>
            <a:r>
              <a:rPr lang="en-US" sz="1400" err="1">
                <a:latin typeface="Open Sans"/>
              </a:rPr>
              <a:t>Sumber</a:t>
            </a:r>
            <a:r>
              <a:rPr lang="en-US" sz="1400">
                <a:latin typeface="Open Sans"/>
              </a:rPr>
              <a:t>/link </a:t>
            </a:r>
            <a:r>
              <a:rPr lang="en-US" sz="1400" err="1">
                <a:latin typeface="Open Sans"/>
              </a:rPr>
              <a:t>mencakup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sebagian</a:t>
            </a:r>
            <a:r>
              <a:rPr lang="en-US" sz="1400">
                <a:latin typeface="Open Sans"/>
              </a:rPr>
              <a:t>/</a:t>
            </a:r>
            <a:r>
              <a:rPr lang="en-US" sz="1400" err="1">
                <a:latin typeface="Open Sans"/>
              </a:rPr>
              <a:t>seluruhnya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dari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karya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mahasiswa</a:t>
            </a:r>
            <a:r>
              <a:rPr lang="en-US" sz="1400">
                <a:latin typeface="Open Sans"/>
              </a:rPr>
              <a:t>/</a:t>
            </a:r>
            <a:r>
              <a:rPr lang="en-US" sz="1400" err="1">
                <a:latin typeface="Open Sans"/>
              </a:rPr>
              <a:t>kelompok</a:t>
            </a:r>
            <a:r>
              <a:rPr lang="en-US" sz="1400">
                <a:latin typeface="Open Sans"/>
              </a:rPr>
              <a:t> lain </a:t>
            </a:r>
            <a:r>
              <a:rPr lang="en-US" sz="1400" err="1">
                <a:latin typeface="Open Sans"/>
              </a:rPr>
              <a:t>atau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bahan</a:t>
            </a:r>
            <a:r>
              <a:rPr lang="en-US" sz="1400">
                <a:latin typeface="Open Sans"/>
              </a:rPr>
              <a:t> ajar </a:t>
            </a:r>
            <a:r>
              <a:rPr lang="en-US" sz="1400" err="1">
                <a:latin typeface="Open Sans"/>
              </a:rPr>
              <a:t>praktikum</a:t>
            </a:r>
            <a:r>
              <a:rPr lang="en-US" sz="1400">
                <a:latin typeface="Open Sans"/>
              </a:rPr>
              <a:t>, </a:t>
            </a:r>
            <a:r>
              <a:rPr lang="en-US" sz="1400" err="1">
                <a:latin typeface="Open Sans"/>
              </a:rPr>
              <a:t>atau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bahan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dari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sumber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umum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seperti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buku</a:t>
            </a:r>
            <a:r>
              <a:rPr lang="en-US" sz="1400">
                <a:latin typeface="Open Sans"/>
              </a:rPr>
              <a:t> dan internet.</a:t>
            </a:r>
          </a:p>
        </p:txBody>
      </p:sp>
    </p:spTree>
    <p:extLst>
      <p:ext uri="{BB962C8B-B14F-4D97-AF65-F5344CB8AC3E}">
        <p14:creationId xmlns:p14="http://schemas.microsoft.com/office/powerpoint/2010/main" val="37228471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Open Sans"/>
                <a:cs typeface="Open Sans"/>
              </a:rPr>
              <a:t>Pengumpulan</a:t>
            </a:r>
            <a:r>
              <a:rPr lang="en-US">
                <a:ea typeface="Open Sans"/>
                <a:cs typeface="Open Sans"/>
              </a:rPr>
              <a:t> Backup </a:t>
            </a:r>
            <a:r>
              <a:rPr lang="en-US" err="1">
                <a:ea typeface="Open Sans"/>
                <a:cs typeface="Open Sans"/>
              </a:rPr>
              <a:t>Jawaban</a:t>
            </a:r>
            <a:r>
              <a:rPr lang="en-US">
                <a:ea typeface="Open Sans"/>
                <a:cs typeface="Open Sans"/>
              </a:rPr>
              <a:t> (Online)</a:t>
            </a:r>
          </a:p>
        </p:txBody>
      </p:sp>
    </p:spTree>
    <p:extLst>
      <p:ext uri="{BB962C8B-B14F-4D97-AF65-F5344CB8AC3E}">
        <p14:creationId xmlns:p14="http://schemas.microsoft.com/office/powerpoint/2010/main" val="1548413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BCB572-E79C-F885-9474-74E7FBF33D96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Upload file jawaban di </a:t>
            </a:r>
            <a:r>
              <a:rPr lang="en-US" sz="1600" b="1"/>
              <a:t>OneDrive binus.ac.id </a:t>
            </a:r>
            <a:r>
              <a:rPr lang="en-US" sz="1600"/>
              <a:t>masing-masing.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Jawaban harus di-upload </a:t>
            </a:r>
            <a:r>
              <a:rPr lang="en-US" sz="1600" b="1"/>
              <a:t>sebelum batas waktu pengumpulan berakhir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Mengisi </a:t>
            </a:r>
            <a:r>
              <a:rPr lang="en-US" sz="1600" b="1"/>
              <a:t>form pengumpulan jawaban backup </a:t>
            </a:r>
            <a:r>
              <a:rPr lang="en-US" sz="1600"/>
              <a:t>yang akan diumumkan pada waktu TM berlangsung.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Berikan akses shared link untuk “</a:t>
            </a:r>
            <a:r>
              <a:rPr lang="en-US" sz="1600" b="1"/>
              <a:t>People in Bina Nusantara University with the link”</a:t>
            </a:r>
          </a:p>
          <a:p>
            <a:pPr algn="just">
              <a:lnSpc>
                <a:spcPct val="150000"/>
              </a:lnSpc>
            </a:pPr>
            <a:endParaRPr lang="en-US" sz="1600" b="1"/>
          </a:p>
          <a:p>
            <a:pPr algn="just">
              <a:lnSpc>
                <a:spcPct val="150000"/>
              </a:lnSpc>
            </a:pPr>
            <a:r>
              <a:rPr lang="en-US" sz="1600"/>
              <a:t>Jawaban harus </a:t>
            </a:r>
            <a:r>
              <a:rPr lang="en-US" sz="1600" b="1"/>
              <a:t>tetap dapat diakses hingga akhir semester</a:t>
            </a:r>
            <a:r>
              <a:rPr lang="en-US" sz="1600"/>
              <a:t> yaitu hingga masa protes nilai berakhir.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Jawaban backup yang valid adalah file dengan </a:t>
            </a:r>
            <a:r>
              <a:rPr lang="en-US" sz="1600" b="1"/>
              <a:t>last modified sebelum waktu pengumpulan berakhir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9111726-A5D4-30EC-0D01-1F6E00F91FD9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Pengumpulan Jawaban Backup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203AB6-B697-9D51-8E1A-C4BF6FB6A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612" y="4140241"/>
            <a:ext cx="2390775" cy="4381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48747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Upload Backup ke One Drive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Buka OneDrive.com lalu klik </a:t>
            </a:r>
            <a:r>
              <a:rPr lang="en-US" sz="1600" b="1"/>
              <a:t>sign in</a:t>
            </a:r>
            <a:r>
              <a:rPr lang="en-US" sz="1600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F7CED5-9829-A958-7978-DE79F282AA6D}"/>
              </a:ext>
            </a:extLst>
          </p:cNvPr>
          <p:cNvGrpSpPr/>
          <p:nvPr/>
        </p:nvGrpSpPr>
        <p:grpSpPr>
          <a:xfrm>
            <a:off x="1742391" y="2527337"/>
            <a:ext cx="6162089" cy="3778640"/>
            <a:chOff x="1417271" y="2306063"/>
            <a:chExt cx="6937152" cy="42539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CFD5A0-1737-4B50-957E-7423093EB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7271" y="2306063"/>
              <a:ext cx="6937152" cy="425391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B14BFB-1CFD-40AE-B6D5-E031F4CF63CF}"/>
                </a:ext>
              </a:extLst>
            </p:cNvPr>
            <p:cNvSpPr/>
            <p:nvPr/>
          </p:nvSpPr>
          <p:spPr>
            <a:xfrm>
              <a:off x="1867034" y="5416884"/>
              <a:ext cx="1949115" cy="4572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2613341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Upload Backup ke One Drive (Cont.)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Login menggunakan email </a:t>
            </a:r>
            <a:r>
              <a:rPr lang="en-US" sz="1600" b="1"/>
              <a:t>binus.ac.id</a:t>
            </a:r>
            <a:r>
              <a:rPr lang="en-US" sz="160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591121-CAC8-4888-D244-367B814C7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35" y="2580639"/>
            <a:ext cx="6303688" cy="37926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55719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Upload Backup ke One Drive (Cont.)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Drag file </a:t>
            </a:r>
            <a:r>
              <a:rPr lang="en-US" sz="1600" b="1"/>
              <a:t>zip</a:t>
            </a:r>
            <a:r>
              <a:rPr lang="en-US" sz="1600"/>
              <a:t> jawaban ke window OneDrive.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A23EEC-A37C-E436-89DF-815EE0AF0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60" y="2696669"/>
            <a:ext cx="7847319" cy="26576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492557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Mendapatkan Share Link dari File (Cont.)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/>
              <a:t>Klik </a:t>
            </a:r>
            <a:r>
              <a:rPr lang="en-US" sz="1600" b="1"/>
              <a:t>option</a:t>
            </a:r>
            <a:r>
              <a:rPr lang="en-US" sz="1600"/>
              <a:t> pada file zip nya, lalu pilih </a:t>
            </a:r>
            <a:r>
              <a:rPr lang="en-US" sz="1600" b="1"/>
              <a:t>share.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DA4B59-80A6-1344-6C47-E05BCF545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59" y="2458720"/>
            <a:ext cx="5756505" cy="40607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C8E7A3-14E8-7DE2-E04F-0FF62D3C8EDB}"/>
              </a:ext>
            </a:extLst>
          </p:cNvPr>
          <p:cNvSpPr/>
          <p:nvPr/>
        </p:nvSpPr>
        <p:spPr>
          <a:xfrm>
            <a:off x="4245395" y="3847164"/>
            <a:ext cx="1155032" cy="2045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01453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Mendapatkan Share Link dari File (Cont.)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Ubah pengakses link menjadi “</a:t>
            </a:r>
            <a:r>
              <a:rPr lang="en-US" sz="1600" b="1"/>
              <a:t>People in Bina Nusantara University with the link” </a:t>
            </a:r>
            <a:r>
              <a:rPr lang="en-US" sz="1600"/>
              <a:t>sebelum mendapatkan </a:t>
            </a:r>
            <a:r>
              <a:rPr lang="en-US" sz="1600" i="1"/>
              <a:t>share link </a:t>
            </a:r>
            <a:r>
              <a:rPr lang="en-US" sz="1600"/>
              <a:t>untuk diisi ke dalam form </a:t>
            </a:r>
            <a:r>
              <a:rPr lang="en-US" sz="1600" i="1"/>
              <a:t>backup</a:t>
            </a:r>
            <a:r>
              <a:rPr lang="en-US" sz="1600"/>
              <a:t> jawaban.</a:t>
            </a:r>
            <a:endParaRPr lang="en-US" sz="1600" b="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1B74BFA-9E61-E5C4-6282-39980D7EE59C}"/>
              </a:ext>
            </a:extLst>
          </p:cNvPr>
          <p:cNvGrpSpPr/>
          <p:nvPr/>
        </p:nvGrpSpPr>
        <p:grpSpPr>
          <a:xfrm>
            <a:off x="1408783" y="3192994"/>
            <a:ext cx="7015281" cy="3347642"/>
            <a:chOff x="109254" y="2442681"/>
            <a:chExt cx="9034746" cy="431131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0DCAA0-D7F7-A106-7B72-3FF38C611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671" y="2442681"/>
              <a:ext cx="6126190" cy="43113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DB82708-71ED-D830-9543-E3FFCF012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7146" y="2592189"/>
              <a:ext cx="2476500" cy="30003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F10637F-F32A-AF0D-E534-C41B2730376E}"/>
                </a:ext>
              </a:extLst>
            </p:cNvPr>
            <p:cNvCxnSpPr>
              <a:cxnSpLocks/>
            </p:cNvCxnSpPr>
            <p:nvPr/>
          </p:nvCxnSpPr>
          <p:spPr>
            <a:xfrm>
              <a:off x="1961147" y="3410952"/>
              <a:ext cx="604025" cy="41983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04CCBE9-3C7F-FFC0-F7C4-2A3E5AB4D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4444" y="5508086"/>
              <a:ext cx="579496" cy="33314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629E3EB-40AA-FA2D-41CC-32851589A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3646" y="2565408"/>
              <a:ext cx="2476500" cy="31432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C733C76-1B76-F577-A73F-2826DE0347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5396" y="5402260"/>
              <a:ext cx="537595" cy="45590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DAB3987-3878-AD2C-DA49-239E70026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86550" y="3236920"/>
              <a:ext cx="2457450" cy="18002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E930832-9671-E892-986A-E6B4BEABAA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7798" y="4370386"/>
              <a:ext cx="537595" cy="45590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9B86DC4-BC8A-212D-C022-26C5E780922B}"/>
                </a:ext>
              </a:extLst>
            </p:cNvPr>
            <p:cNvSpPr/>
            <p:nvPr/>
          </p:nvSpPr>
          <p:spPr>
            <a:xfrm>
              <a:off x="109254" y="3058918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  <a:endParaRPr lang="en-ID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0CCF6D8-B2BA-824B-2DA0-12F8E1A01EAF}"/>
                </a:ext>
              </a:extLst>
            </p:cNvPr>
            <p:cNvSpPr/>
            <p:nvPr/>
          </p:nvSpPr>
          <p:spPr>
            <a:xfrm>
              <a:off x="2125224" y="3822708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  <a:endParaRPr lang="en-ID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6CC3EAC-BED1-07FA-F8DD-11E16D07BB13}"/>
                </a:ext>
              </a:extLst>
            </p:cNvPr>
            <p:cNvSpPr/>
            <p:nvPr/>
          </p:nvSpPr>
          <p:spPr>
            <a:xfrm>
              <a:off x="3566856" y="5447507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  <a:endParaRPr lang="en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DAE1260-CE43-6DDF-F8B4-98DF32C51668}"/>
                </a:ext>
              </a:extLst>
            </p:cNvPr>
            <p:cNvSpPr/>
            <p:nvPr/>
          </p:nvSpPr>
          <p:spPr>
            <a:xfrm>
              <a:off x="5202991" y="5592564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  <a:endParaRPr lang="en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7E64C2C-7B93-6877-1A71-0FB4D1897624}"/>
                </a:ext>
              </a:extLst>
            </p:cNvPr>
            <p:cNvSpPr/>
            <p:nvPr/>
          </p:nvSpPr>
          <p:spPr>
            <a:xfrm>
              <a:off x="8580830" y="3638074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7947371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Isi Form Backup Jawaban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b="1"/>
              <a:t>Link</a:t>
            </a:r>
            <a:r>
              <a:rPr lang="en-US" sz="1600"/>
              <a:t> form backup jawaban akan diberikan </a:t>
            </a:r>
            <a:r>
              <a:rPr lang="en-US" sz="1600" b="1"/>
              <a:t>pada pertemuan TM </a:t>
            </a:r>
            <a:r>
              <a:rPr lang="en-US" sz="1600"/>
              <a:t>melalui Zoom / Group Line / forum (Sesuai kesepakatan dengan pengajar)</a:t>
            </a:r>
            <a:endParaRPr lang="en-US" sz="16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AC3059-AF95-37D7-AE7A-90F0F232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792" y="2865120"/>
            <a:ext cx="4966823" cy="36701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799366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Open Sans"/>
                <a:cs typeface="Open Sans"/>
              </a:rPr>
              <a:t>Pengumpulan</a:t>
            </a:r>
            <a:r>
              <a:rPr lang="en-US">
                <a:ea typeface="Open Sans"/>
                <a:cs typeface="Open Sans"/>
              </a:rPr>
              <a:t> Recording (Online)</a:t>
            </a:r>
          </a:p>
        </p:txBody>
      </p:sp>
    </p:spTree>
    <p:extLst>
      <p:ext uri="{BB962C8B-B14F-4D97-AF65-F5344CB8AC3E}">
        <p14:creationId xmlns:p14="http://schemas.microsoft.com/office/powerpoint/2010/main" val="24069630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DA314AC-0F9F-7DC4-8FE0-B611175902D5}"/>
              </a:ext>
            </a:extLst>
          </p:cNvPr>
          <p:cNvSpPr txBox="1">
            <a:spLocks/>
          </p:cNvSpPr>
          <p:nvPr/>
        </p:nvSpPr>
        <p:spPr>
          <a:xfrm>
            <a:off x="1066800" y="1931752"/>
            <a:ext cx="7699248" cy="505832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Recording </a:t>
            </a:r>
            <a:r>
              <a:rPr lang="en-US" sz="1600" err="1">
                <a:ea typeface="Open Sans"/>
                <a:cs typeface="Open Sans"/>
              </a:rPr>
              <a:t>pengerjaan</a:t>
            </a:r>
            <a:r>
              <a:rPr lang="en-US" sz="1600">
                <a:ea typeface="Open Sans"/>
                <a:cs typeface="Open Sans"/>
              </a:rPr>
              <a:t> TM </a:t>
            </a:r>
            <a:r>
              <a:rPr lang="en-US" sz="1600" err="1">
                <a:ea typeface="Open Sans"/>
                <a:cs typeface="Open Sans"/>
              </a:rPr>
              <a:t>wajib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melalui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aplikasi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pengumpulan</a:t>
            </a:r>
            <a:r>
              <a:rPr lang="en-US" sz="1600">
                <a:ea typeface="Open Sans"/>
                <a:cs typeface="Open Sans"/>
              </a:rPr>
              <a:t> recording </a:t>
            </a:r>
            <a:r>
              <a:rPr lang="en-US" sz="1600" b="1">
                <a:ea typeface="Open Sans"/>
                <a:cs typeface="Open Sans"/>
              </a:rPr>
              <a:t>pada </a:t>
            </a:r>
            <a:r>
              <a:rPr lang="en-US" sz="1600" b="1" err="1">
                <a:ea typeface="Open Sans"/>
                <a:cs typeface="Open Sans"/>
              </a:rPr>
              <a:t>hari</a:t>
            </a:r>
            <a:r>
              <a:rPr lang="en-US" sz="1600" b="1">
                <a:ea typeface="Open Sans"/>
                <a:cs typeface="Open Sans"/>
              </a:rPr>
              <a:t> yang </a:t>
            </a:r>
            <a:r>
              <a:rPr lang="en-US" sz="1600" b="1" err="1">
                <a:ea typeface="Open Sans"/>
                <a:cs typeface="Open Sans"/>
              </a:rPr>
              <a:t>sama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sebelum</a:t>
            </a:r>
            <a:r>
              <a:rPr lang="en-US" sz="1600" b="1">
                <a:ea typeface="Open Sans"/>
                <a:cs typeface="Open Sans"/>
              </a:rPr>
              <a:t> 23.59</a:t>
            </a:r>
            <a:r>
              <a:rPr lang="en-US" sz="1600">
                <a:ea typeface="Open Sans"/>
                <a:cs typeface="Open Sans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ea typeface="Open Sans"/>
                <a:cs typeface="Open Sans"/>
                <a:hlinkClick r:id="rId2"/>
              </a:rPr>
              <a:t>https://op-slc.apps.binus.ac.id/recording-slc/</a:t>
            </a:r>
            <a:endParaRPr lang="en-US" sz="1400">
              <a:ea typeface="Open Sans"/>
              <a:cs typeface="Open San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Pengumpulan Recording Pengerjaan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A2716-E6FA-3EEA-FE50-3DA352DEBF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5354" y="3239072"/>
            <a:ext cx="3200400" cy="3203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66FDD0A-8B71-A538-8544-C0C2169C5774}"/>
              </a:ext>
            </a:extLst>
          </p:cNvPr>
          <p:cNvSpPr txBox="1">
            <a:spLocks/>
          </p:cNvSpPr>
          <p:nvPr/>
        </p:nvSpPr>
        <p:spPr>
          <a:xfrm>
            <a:off x="5159462" y="3239072"/>
            <a:ext cx="3200400" cy="34171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Credential:</a:t>
            </a:r>
          </a:p>
          <a:p>
            <a:pPr marL="0" indent="0">
              <a:buNone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Username: [NIM]</a:t>
            </a:r>
          </a:p>
          <a:p>
            <a:pPr marL="0" indent="0">
              <a:buNone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Password: [Password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Binusmaya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255648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Pengumpulan Recording Pengerjaan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094D7F-9386-2D44-04D8-745B2B8D6E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7914" y="2151033"/>
            <a:ext cx="6148172" cy="3101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2A79EA68-05C7-E24A-68B4-717DC5452AE9}"/>
              </a:ext>
            </a:extLst>
          </p:cNvPr>
          <p:cNvSpPr txBox="1">
            <a:spLocks/>
          </p:cNvSpPr>
          <p:nvPr/>
        </p:nvSpPr>
        <p:spPr>
          <a:xfrm>
            <a:off x="1066800" y="5625115"/>
            <a:ext cx="7600951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Pada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halaman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melihat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 </a:t>
            </a:r>
            <a:r>
              <a:rPr lang="en-US" sz="1600" b="1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recording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yang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sudah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pernah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di-upload</a:t>
            </a:r>
          </a:p>
        </p:txBody>
      </p:sp>
    </p:spTree>
    <p:extLst>
      <p:ext uri="{BB962C8B-B14F-4D97-AF65-F5344CB8AC3E}">
        <p14:creationId xmlns:p14="http://schemas.microsoft.com/office/powerpoint/2010/main" val="36654991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Pengumpulan Recording Pengerjaan (Cont.)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435C76-079B-AAB0-DB9C-F394BE06A6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708" y="2062480"/>
            <a:ext cx="6850584" cy="34556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E09493DD-77CE-2094-F7B6-C50AEB6388E4}"/>
              </a:ext>
            </a:extLst>
          </p:cNvPr>
          <p:cNvSpPr txBox="1">
            <a:spLocks/>
          </p:cNvSpPr>
          <p:nvPr/>
        </p:nvSpPr>
        <p:spPr>
          <a:xfrm>
            <a:off x="1066800" y="5858795"/>
            <a:ext cx="7600951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Pada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halaman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dapat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melihat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list </a:t>
            </a:r>
            <a:r>
              <a:rPr lang="en-US" sz="1600" b="1" i="1">
                <a:latin typeface="Segoe UI" panose="020B0502040204020203" pitchFamily="34" charset="0"/>
                <a:cs typeface="Segoe UI" panose="020B0502040204020203" pitchFamily="34" charset="0"/>
              </a:rPr>
              <a:t>recording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yang </a:t>
            </a:r>
            <a:r>
              <a:rPr lang="en-US" sz="1600" b="1" err="1">
                <a:latin typeface="Segoe UI" panose="020B0502040204020203" pitchFamily="34" charset="0"/>
                <a:cs typeface="Segoe UI" panose="020B0502040204020203" pitchFamily="34" charset="0"/>
              </a:rPr>
              <a:t>sudah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err="1">
                <a:latin typeface="Segoe UI" panose="020B0502040204020203" pitchFamily="34" charset="0"/>
                <a:cs typeface="Segoe UI" panose="020B0502040204020203" pitchFamily="34" charset="0"/>
              </a:rPr>
              <a:t>pernah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 di-upload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5A1F47-CD66-1A4D-8EA0-AA9797DB634C}"/>
              </a:ext>
            </a:extLst>
          </p:cNvPr>
          <p:cNvSpPr/>
          <p:nvPr/>
        </p:nvSpPr>
        <p:spPr>
          <a:xfrm>
            <a:off x="1828800" y="2672080"/>
            <a:ext cx="7620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7FB8EF-374A-052C-2BCE-5CA0494B1C97}"/>
              </a:ext>
            </a:extLst>
          </p:cNvPr>
          <p:cNvSpPr/>
          <p:nvPr/>
        </p:nvSpPr>
        <p:spPr>
          <a:xfrm>
            <a:off x="2952749" y="2133199"/>
            <a:ext cx="3048000" cy="70052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Tekan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tombol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Upload Recording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menambahkan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recording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baru</a:t>
            </a:r>
            <a:endParaRPr lang="en-US" sz="13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B5F928-EEAB-354A-01EB-7159FC172FD6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209800" y="2483462"/>
            <a:ext cx="742949" cy="1686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9769A8E-1F00-1E02-AD68-6FB4AFE1BEA8}"/>
              </a:ext>
            </a:extLst>
          </p:cNvPr>
          <p:cNvSpPr/>
          <p:nvPr/>
        </p:nvSpPr>
        <p:spPr>
          <a:xfrm>
            <a:off x="2590800" y="4871394"/>
            <a:ext cx="865464" cy="1686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15FD85-1A86-FF72-D86C-E468BCCEB0BC}"/>
              </a:ext>
            </a:extLst>
          </p:cNvPr>
          <p:cNvSpPr/>
          <p:nvPr/>
        </p:nvSpPr>
        <p:spPr>
          <a:xfrm>
            <a:off x="3800474" y="5000152"/>
            <a:ext cx="2695576" cy="63420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 </a:t>
            </a:r>
            <a:r>
              <a:rPr lang="en-US" sz="1100" b="1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Pengajuan</a:t>
            </a:r>
            <a:r>
              <a:rPr lang="en-US" sz="11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b="1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Kebijakan</a:t>
            </a:r>
            <a:r>
              <a:rPr lang="en-US" sz="11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jika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terdapat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kendala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menyebabkan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bisa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recording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06501F-4E2F-8B82-E857-1FCC64C6B2CD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3023532" y="5040021"/>
            <a:ext cx="776942" cy="2543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8517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Pengumpulan Recording Pengerjaan (Cont.)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370ADF-94E4-CDA8-F6CC-49C336E6FA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7988" y="2282704"/>
            <a:ext cx="6850584" cy="34520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D57C472-5AC6-9B92-AB32-2397AD204A2C}"/>
              </a:ext>
            </a:extLst>
          </p:cNvPr>
          <p:cNvSpPr/>
          <p:nvPr/>
        </p:nvSpPr>
        <p:spPr>
          <a:xfrm>
            <a:off x="3738879" y="3561239"/>
            <a:ext cx="2362199" cy="500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2BFB11-A4EC-1E08-8B9A-33E76B04AB57}"/>
              </a:ext>
            </a:extLst>
          </p:cNvPr>
          <p:cNvSpPr/>
          <p:nvPr/>
        </p:nvSpPr>
        <p:spPr>
          <a:xfrm>
            <a:off x="4681855" y="2435622"/>
            <a:ext cx="3657600" cy="6566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Assignment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recording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pengerjaan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ditempat</a:t>
            </a:r>
            <a:endParaRPr lang="en-US" sz="13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DF6967-55ED-EEC4-8883-CC30ECEAFDC5}"/>
              </a:ext>
            </a:extLst>
          </p:cNvPr>
          <p:cNvCxnSpPr>
            <a:cxnSpLocks/>
          </p:cNvCxnSpPr>
          <p:nvPr/>
        </p:nvCxnSpPr>
        <p:spPr>
          <a:xfrm flipH="1">
            <a:off x="6101078" y="3148292"/>
            <a:ext cx="381002" cy="6566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072A7AF-80D4-3541-A07F-AE372DFA03C1}"/>
              </a:ext>
            </a:extLst>
          </p:cNvPr>
          <p:cNvSpPr/>
          <p:nvPr/>
        </p:nvSpPr>
        <p:spPr>
          <a:xfrm>
            <a:off x="3967480" y="4773993"/>
            <a:ext cx="3657600" cy="6566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Masukkan </a:t>
            </a:r>
            <a:r>
              <a:rPr lang="en-US" sz="13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Video Link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dari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 yang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sudah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diupload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</a:t>
            </a:r>
            <a:r>
              <a:rPr lang="en-US" sz="13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drive</a:t>
            </a:r>
          </a:p>
        </p:txBody>
      </p:sp>
    </p:spTree>
    <p:extLst>
      <p:ext uri="{BB962C8B-B14F-4D97-AF65-F5344CB8AC3E}">
        <p14:creationId xmlns:p14="http://schemas.microsoft.com/office/powerpoint/2010/main" val="27656746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Penilaian</a:t>
            </a:r>
            <a:r>
              <a:rPr lang="en-US"/>
              <a:t> dan </a:t>
            </a:r>
            <a:r>
              <a:rPr lang="en-US" err="1"/>
              <a:t>Protes</a:t>
            </a:r>
            <a:r>
              <a:rPr lang="en-US"/>
              <a:t> Nilai</a:t>
            </a:r>
          </a:p>
        </p:txBody>
      </p:sp>
    </p:spTree>
    <p:extLst>
      <p:ext uri="{BB962C8B-B14F-4D97-AF65-F5344CB8AC3E}">
        <p14:creationId xmlns:p14="http://schemas.microsoft.com/office/powerpoint/2010/main" val="33658336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12307"/>
            <a:ext cx="6921500" cy="4937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Kapan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</a:t>
            </a:r>
            <a:r>
              <a:rPr lang="en-US" sz="1600" err="1"/>
              <a:t>dari</a:t>
            </a:r>
            <a:r>
              <a:rPr lang="en-US" sz="1600"/>
              <a:t> </a:t>
            </a:r>
            <a:r>
              <a:rPr lang="en-US" sz="1600" err="1"/>
              <a:t>proyek</a:t>
            </a:r>
            <a:r>
              <a:rPr lang="en-US" sz="1600"/>
              <a:t>/quiz/UAP </a:t>
            </a:r>
            <a:r>
              <a:rPr lang="en-US" sz="1600" err="1"/>
              <a:t>keluar</a:t>
            </a:r>
            <a:r>
              <a:rPr lang="en-US" sz="1600"/>
              <a:t>?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EBD4A7-143A-D617-17F5-B47C070EA6FD}"/>
              </a:ext>
            </a:extLst>
          </p:cNvPr>
          <p:cNvGrpSpPr/>
          <p:nvPr/>
        </p:nvGrpSpPr>
        <p:grpSpPr>
          <a:xfrm>
            <a:off x="1143000" y="1517832"/>
            <a:ext cx="612649" cy="646151"/>
            <a:chOff x="1447800" y="3621049"/>
            <a:chExt cx="612649" cy="6461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A1104BE-F3CA-E69D-1D07-0261874BF87D}"/>
                </a:ext>
              </a:extLst>
            </p:cNvPr>
            <p:cNvSpPr/>
            <p:nvPr/>
          </p:nvSpPr>
          <p:spPr>
            <a:xfrm>
              <a:off x="1447800" y="3657600"/>
              <a:ext cx="609600" cy="6096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Content Placeholder 2">
              <a:extLst>
                <a:ext uri="{FF2B5EF4-FFF2-40B4-BE49-F238E27FC236}">
                  <a16:creationId xmlns:a16="http://schemas.microsoft.com/office/drawing/2014/main" id="{6421BD65-0CA2-B971-9804-424A45131B46}"/>
                </a:ext>
              </a:extLst>
            </p:cNvPr>
            <p:cNvSpPr txBox="1">
              <a:spLocks/>
            </p:cNvSpPr>
            <p:nvPr/>
          </p:nvSpPr>
          <p:spPr>
            <a:xfrm>
              <a:off x="1447800" y="3621049"/>
              <a:ext cx="612649" cy="64615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400" b="1">
                  <a:solidFill>
                    <a:schemeClr val="accent6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86D696F-1C47-DFB0-F8C8-C2F8516C4BAE}"/>
              </a:ext>
            </a:extLst>
          </p:cNvPr>
          <p:cNvSpPr txBox="1">
            <a:spLocks/>
          </p:cNvSpPr>
          <p:nvPr/>
        </p:nvSpPr>
        <p:spPr>
          <a:xfrm>
            <a:off x="1054099" y="2237886"/>
            <a:ext cx="7696201" cy="4402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dirty="0">
                <a:ea typeface="Open Sans"/>
                <a:cs typeface="Open Sans"/>
              </a:rPr>
              <a:t>Nilai 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keluar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sesuai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waktu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keluar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nilai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 yang </a:t>
            </a:r>
            <a:r>
              <a:rPr lang="en-US" sz="1600" dirty="0" err="1">
                <a:ea typeface="Open Sans"/>
                <a:cs typeface="Open Sans"/>
              </a:rPr>
              <a:t>telah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ditetapkan</a:t>
            </a:r>
            <a:r>
              <a:rPr lang="en-US" sz="1600" dirty="0">
                <a:ea typeface="Open Sans"/>
                <a:cs typeface="Open Sans"/>
              </a:rPr>
              <a:t> pada </a:t>
            </a:r>
            <a:r>
              <a:rPr lang="en-US" sz="1600" b="1" dirty="0" err="1">
                <a:ea typeface="Open Sans"/>
                <a:cs typeface="Open Sans"/>
              </a:rPr>
              <a:t>kalender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praktikum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dirty="0">
                <a:ea typeface="Open Sans"/>
                <a:cs typeface="Open Sans"/>
              </a:rPr>
              <a:t>dan </a:t>
            </a:r>
            <a:r>
              <a:rPr lang="en-US" sz="1600" dirty="0" err="1">
                <a:ea typeface="Open Sans"/>
                <a:cs typeface="Open Sans"/>
              </a:rPr>
              <a:t>dibagi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menjadi</a:t>
            </a:r>
            <a:r>
              <a:rPr lang="en-US" sz="1600" dirty="0">
                <a:ea typeface="Open Sans"/>
                <a:cs typeface="Open Sans"/>
              </a:rPr>
              <a:t> 2 batch.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Nilai praktikum yang keluar pada batch 1 adalah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>
                <a:ea typeface="Open Sans"/>
                <a:cs typeface="Open Sans"/>
              </a:rPr>
              <a:t>komponen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>
                <a:ea typeface="Open Sans"/>
                <a:cs typeface="Open Sans"/>
              </a:rPr>
              <a:t>penilaian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>
                <a:ea typeface="Open Sans"/>
                <a:cs typeface="Open Sans"/>
              </a:rPr>
              <a:t>kuis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>
                <a:ea typeface="Open Sans"/>
                <a:cs typeface="Open Sans"/>
              </a:rPr>
              <a:t>praktikum yang </a:t>
            </a:r>
            <a:r>
              <a:rPr lang="en-US" sz="1600" b="1">
                <a:ea typeface="Open Sans"/>
                <a:cs typeface="Open Sans"/>
              </a:rPr>
              <a:t>hanya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>
                <a:ea typeface="Open Sans"/>
                <a:cs typeface="Open Sans"/>
              </a:rPr>
              <a:t>terlaksana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>
                <a:ea typeface="Open Sans"/>
                <a:cs typeface="Open Sans"/>
              </a:rPr>
              <a:t>satu kali dalam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>
                <a:ea typeface="Open Sans"/>
                <a:cs typeface="Open Sans"/>
              </a:rPr>
              <a:t>satu semester dan sudah dilaksanakan sebelum tanggal keluar nilai praktikum batch 1 </a:t>
            </a:r>
            <a:r>
              <a:rPr lang="en-US" sz="1600">
                <a:ea typeface="Open Sans"/>
                <a:cs typeface="Open Sans"/>
              </a:rPr>
              <a:t>sesuai kalender praktikum yang berlaku. Selain itu, nilai akan keluar pada batch 2.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Mahasiswa</a:t>
            </a:r>
            <a:r>
              <a:rPr lang="en-US" sz="1600" dirty="0"/>
              <a:t> </a:t>
            </a:r>
            <a:r>
              <a:rPr lang="en-US" sz="1600" dirty="0" err="1"/>
              <a:t>dapat</a:t>
            </a:r>
            <a:r>
              <a:rPr lang="en-US" sz="1600" dirty="0"/>
              <a:t> </a:t>
            </a:r>
            <a:r>
              <a:rPr lang="en-US" sz="1600" b="1" dirty="0" err="1"/>
              <a:t>melihat</a:t>
            </a:r>
            <a:r>
              <a:rPr lang="en-US" sz="1600" b="1" dirty="0"/>
              <a:t> </a:t>
            </a:r>
            <a:r>
              <a:rPr lang="en-US" sz="1600" b="1" dirty="0" err="1"/>
              <a:t>nilai</a:t>
            </a:r>
            <a:r>
              <a:rPr lang="en-US" sz="1600" b="1" dirty="0"/>
              <a:t> </a:t>
            </a:r>
            <a:r>
              <a:rPr lang="en-US" sz="1600" b="1" dirty="0" err="1"/>
              <a:t>praktikum</a:t>
            </a:r>
            <a:r>
              <a:rPr lang="en-US" sz="1600" b="1" dirty="0"/>
              <a:t> </a:t>
            </a:r>
            <a:r>
              <a:rPr lang="en-US" sz="1600" dirty="0" err="1"/>
              <a:t>melalui</a:t>
            </a:r>
            <a:r>
              <a:rPr lang="en-US" sz="1600" dirty="0"/>
              <a:t> </a:t>
            </a:r>
            <a:r>
              <a:rPr lang="en-US" sz="1600" dirty="0" err="1"/>
              <a:t>Binusmaya</a:t>
            </a:r>
            <a:r>
              <a:rPr lang="en-US" sz="1600" dirty="0"/>
              <a:t> LMS pada menu Courses </a:t>
            </a:r>
            <a:r>
              <a:rPr lang="en-US" sz="1600" dirty="0">
                <a:sym typeface="Wingdings" pitchFamily="2" charset="2"/>
              </a:rPr>
              <a:t> Gradebook</a:t>
            </a:r>
            <a:endParaRPr lang="en-US" sz="1600" dirty="0">
              <a:ea typeface="Open Sans"/>
              <a:cs typeface="Open San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532265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err="1">
                <a:latin typeface="Open Sans"/>
              </a:rPr>
              <a:t>Contoh</a:t>
            </a:r>
            <a:r>
              <a:rPr lang="en-US" sz="1600">
                <a:latin typeface="Open Sans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Mata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A </a:t>
            </a:r>
            <a:r>
              <a:rPr lang="en-US" sz="1600" err="1">
                <a:latin typeface="Open Sans"/>
              </a:rPr>
              <a:t>memiliki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komponen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/>
              <a:t>kuis</a:t>
            </a:r>
            <a:r>
              <a:rPr lang="en-US" sz="1600" b="1"/>
              <a:t> (1 kali) dan UAP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1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B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(1 kali)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2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Mata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C </a:t>
            </a:r>
            <a:r>
              <a:rPr lang="en-US" sz="1600" err="1">
                <a:latin typeface="Open Sans"/>
              </a:rPr>
              <a:t>memiliki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komponen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/>
              <a:t>kuis</a:t>
            </a:r>
            <a:r>
              <a:rPr lang="en-US" sz="1600" b="1"/>
              <a:t> (2 kali)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 dan</a:t>
            </a:r>
            <a:r>
              <a:rPr lang="en-US" sz="1600" b="1"/>
              <a:t>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semua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2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</p:spTree>
    <p:extLst>
      <p:ext uri="{BB962C8B-B14F-4D97-AF65-F5344CB8AC3E}">
        <p14:creationId xmlns:p14="http://schemas.microsoft.com/office/powerpoint/2010/main" val="10420007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8C5370-2A62-DAF4-4F58-FD84EDB3676E}"/>
              </a:ext>
            </a:extLst>
          </p:cNvPr>
          <p:cNvSpPr/>
          <p:nvPr/>
        </p:nvSpPr>
        <p:spPr>
          <a:xfrm>
            <a:off x="1305127" y="2228099"/>
            <a:ext cx="7496784" cy="120090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2227303"/>
            <a:ext cx="7696201" cy="4402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b="1"/>
              <a:t>paling </a:t>
            </a:r>
            <a:r>
              <a:rPr lang="en-US" sz="1600" b="1" err="1"/>
              <a:t>lambat</a:t>
            </a:r>
            <a:r>
              <a:rPr lang="en-US" sz="1600" b="1"/>
              <a:t> 3 (</a:t>
            </a:r>
            <a:r>
              <a:rPr lang="en-US" sz="1600" b="1" err="1"/>
              <a:t>tiga</a:t>
            </a:r>
            <a:r>
              <a:rPr lang="en-US" sz="1600" b="1"/>
              <a:t>) </a:t>
            </a:r>
            <a:r>
              <a:rPr lang="en-US" sz="1600" b="1" err="1"/>
              <a:t>hari</a:t>
            </a:r>
            <a:r>
              <a:rPr lang="en-US" sz="1600" b="1"/>
              <a:t>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dikeluarkan</a:t>
            </a:r>
            <a:r>
              <a:rPr lang="en-US" sz="1600" b="1"/>
              <a:t>*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</a:t>
            </a:r>
            <a:r>
              <a:rPr lang="en-US" sz="1600" b="1" err="1"/>
              <a:t>Acadservices</a:t>
            </a:r>
            <a:r>
              <a:rPr lang="en-US" sz="1600"/>
              <a:t> pada menu Learning </a:t>
            </a:r>
            <a:r>
              <a:rPr lang="en-US" sz="1600">
                <a:sym typeface="Wingdings" pitchFamily="2" charset="2"/>
              </a:rPr>
              <a:t> </a:t>
            </a:r>
            <a:r>
              <a:rPr lang="en-US" sz="1600"/>
              <a:t>Grades </a:t>
            </a:r>
            <a:r>
              <a:rPr lang="en-US" sz="1600">
                <a:sym typeface="Wingdings" pitchFamily="2" charset="2"/>
              </a:rPr>
              <a:t> </a:t>
            </a:r>
            <a:r>
              <a:rPr lang="en-US" sz="1600"/>
              <a:t>Score Protest.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dikenakan</a:t>
            </a:r>
            <a:r>
              <a:rPr lang="en-US" sz="1600"/>
              <a:t> </a:t>
            </a:r>
            <a:r>
              <a:rPr lang="en-US" sz="1600" b="1" err="1">
                <a:solidFill>
                  <a:srgbClr val="C00000"/>
                </a:solidFill>
              </a:rPr>
              <a:t>penalti</a:t>
            </a:r>
            <a:r>
              <a:rPr lang="en-US" sz="1600">
                <a:solidFill>
                  <a:srgbClr val="C00000"/>
                </a:solidFill>
              </a:rPr>
              <a:t> (</a:t>
            </a:r>
            <a:r>
              <a:rPr lang="en-US" sz="1600" err="1">
                <a:solidFill>
                  <a:srgbClr val="C00000"/>
                </a:solidFill>
              </a:rPr>
              <a:t>pengurangan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nilai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sebesar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b="1">
                <a:solidFill>
                  <a:srgbClr val="C00000"/>
                </a:solidFill>
              </a:rPr>
              <a:t>20 </a:t>
            </a:r>
            <a:r>
              <a:rPr lang="en-US" sz="1600" b="1" err="1">
                <a:solidFill>
                  <a:srgbClr val="C00000"/>
                </a:solidFill>
              </a:rPr>
              <a:t>poin</a:t>
            </a:r>
            <a:r>
              <a:rPr lang="en-US" sz="1600">
                <a:solidFill>
                  <a:srgbClr val="C00000"/>
                </a:solidFill>
              </a:rPr>
              <a:t>)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nilainya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(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ada</a:t>
            </a:r>
            <a:r>
              <a:rPr lang="en-US" sz="1600"/>
              <a:t> </a:t>
            </a:r>
            <a:r>
              <a:rPr lang="en-US" sz="1600" err="1"/>
              <a:t>perubahan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 yang </a:t>
            </a:r>
            <a:r>
              <a:rPr lang="en-US" sz="1600" err="1"/>
              <a:t>sebelumnya</a:t>
            </a:r>
            <a:r>
              <a:rPr lang="en-US" sz="1600"/>
              <a:t> </a:t>
            </a:r>
            <a:r>
              <a:rPr lang="en-US" sz="1600" err="1"/>
              <a:t>dikeluarkan</a:t>
            </a:r>
            <a:r>
              <a:rPr lang="en-US" sz="1600"/>
              <a:t>).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, </a:t>
            </a:r>
            <a:r>
              <a:rPr lang="en-US" sz="1600" b="1" err="1"/>
              <a:t>hasil</a:t>
            </a:r>
            <a:r>
              <a:rPr lang="en-US" sz="1600" b="1"/>
              <a:t> </a:t>
            </a:r>
            <a:r>
              <a:rPr lang="en-US" sz="1600" b="1" err="1"/>
              <a:t>protes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diumumkan</a:t>
            </a:r>
            <a:r>
              <a:rPr lang="en-US" sz="1600" b="1"/>
              <a:t> </a:t>
            </a:r>
            <a:r>
              <a:rPr lang="en-US" sz="1600" b="1" err="1"/>
              <a:t>melalui</a:t>
            </a:r>
            <a:r>
              <a:rPr lang="en-US" sz="1600" b="1"/>
              <a:t> </a:t>
            </a:r>
            <a:r>
              <a:rPr lang="en-US" sz="1600" b="1" err="1"/>
              <a:t>Binusmaya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tanggal</a:t>
            </a:r>
            <a:r>
              <a:rPr lang="en-US" sz="1600"/>
              <a:t> yang </a:t>
            </a:r>
            <a:r>
              <a:rPr lang="en-US" sz="1600" err="1"/>
              <a:t>ditetapkan</a:t>
            </a:r>
            <a:r>
              <a:rPr lang="en-US" sz="1600"/>
              <a:t> pada </a:t>
            </a:r>
            <a:r>
              <a:rPr lang="en-US" sz="1600" err="1"/>
              <a:t>kalender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setuju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hasil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diberikan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melanjutkan</a:t>
            </a:r>
            <a:r>
              <a:rPr lang="en-US" sz="1600"/>
              <a:t> </a:t>
            </a:r>
            <a:r>
              <a:rPr lang="en-US" sz="1600" b="1"/>
              <a:t>proses </a:t>
            </a:r>
            <a:r>
              <a:rPr lang="en-US" sz="1600" b="1" err="1"/>
              <a:t>konfirmasi</a:t>
            </a:r>
            <a:r>
              <a:rPr lang="en-US" sz="1600" b="1"/>
              <a:t> </a:t>
            </a:r>
            <a:r>
              <a:rPr lang="en-US" sz="1600" b="1" err="1"/>
              <a:t>berkas</a:t>
            </a:r>
            <a:r>
              <a:rPr lang="en-US" sz="1600" b="1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12307"/>
            <a:ext cx="6921500" cy="4937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Kapan dan </a:t>
            </a:r>
            <a:r>
              <a:rPr lang="en-US" sz="1600" err="1"/>
              <a:t>bagaimana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?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EBD4A7-143A-D617-17F5-B47C070EA6FD}"/>
              </a:ext>
            </a:extLst>
          </p:cNvPr>
          <p:cNvGrpSpPr/>
          <p:nvPr/>
        </p:nvGrpSpPr>
        <p:grpSpPr>
          <a:xfrm>
            <a:off x="1143000" y="1517832"/>
            <a:ext cx="612649" cy="646151"/>
            <a:chOff x="1447800" y="3621049"/>
            <a:chExt cx="612649" cy="6461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A1104BE-F3CA-E69D-1D07-0261874BF87D}"/>
                </a:ext>
              </a:extLst>
            </p:cNvPr>
            <p:cNvSpPr/>
            <p:nvPr/>
          </p:nvSpPr>
          <p:spPr>
            <a:xfrm>
              <a:off x="1447800" y="3657600"/>
              <a:ext cx="609600" cy="6096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Content Placeholder 2">
              <a:extLst>
                <a:ext uri="{FF2B5EF4-FFF2-40B4-BE49-F238E27FC236}">
                  <a16:creationId xmlns:a16="http://schemas.microsoft.com/office/drawing/2014/main" id="{6421BD65-0CA2-B971-9804-424A45131B46}"/>
                </a:ext>
              </a:extLst>
            </p:cNvPr>
            <p:cNvSpPr txBox="1">
              <a:spLocks/>
            </p:cNvSpPr>
            <p:nvPr/>
          </p:nvSpPr>
          <p:spPr>
            <a:xfrm>
              <a:off x="1447800" y="3621049"/>
              <a:ext cx="612649" cy="64615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400" b="1">
                  <a:solidFill>
                    <a:schemeClr val="accent6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3919304-10C9-F1A7-C9A7-5D4D7AFFE012}"/>
              </a:ext>
            </a:extLst>
          </p:cNvPr>
          <p:cNvSpPr txBox="1">
            <a:spLocks/>
          </p:cNvSpPr>
          <p:nvPr/>
        </p:nvSpPr>
        <p:spPr>
          <a:xfrm>
            <a:off x="1041399" y="6353560"/>
            <a:ext cx="6450446" cy="399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400" i="1"/>
              <a:t>*) Nilai yang </a:t>
            </a:r>
            <a:r>
              <a:rPr lang="en-US" sz="1400" i="1" err="1"/>
              <a:t>keluar</a:t>
            </a:r>
            <a:r>
              <a:rPr lang="en-US" sz="1400" i="1"/>
              <a:t> di batch 1 </a:t>
            </a:r>
            <a:r>
              <a:rPr lang="en-US" sz="1400" i="1" err="1"/>
              <a:t>tidak</a:t>
            </a:r>
            <a:r>
              <a:rPr lang="en-US" sz="1400" i="1"/>
              <a:t> </a:t>
            </a:r>
            <a:r>
              <a:rPr lang="en-US" sz="1400" i="1" err="1"/>
              <a:t>dapat</a:t>
            </a:r>
            <a:r>
              <a:rPr lang="en-US" sz="1400" i="1"/>
              <a:t> </a:t>
            </a:r>
            <a:r>
              <a:rPr lang="en-US" sz="1400" i="1" err="1"/>
              <a:t>diprotes</a:t>
            </a:r>
            <a:r>
              <a:rPr lang="en-US" sz="1400" i="1"/>
              <a:t> pada masa </a:t>
            </a:r>
            <a:r>
              <a:rPr lang="en-US" sz="1400" i="1" err="1"/>
              <a:t>protes</a:t>
            </a:r>
            <a:r>
              <a:rPr lang="en-US" sz="1400" i="1"/>
              <a:t> batch 2</a:t>
            </a:r>
          </a:p>
        </p:txBody>
      </p:sp>
    </p:spTree>
    <p:extLst>
      <p:ext uri="{BB962C8B-B14F-4D97-AF65-F5344CB8AC3E}">
        <p14:creationId xmlns:p14="http://schemas.microsoft.com/office/powerpoint/2010/main" val="23912117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Daftar </a:t>
            </a:r>
            <a:r>
              <a:rPr lang="en-US" sz="1600" err="1"/>
              <a:t>mahasiswa</a:t>
            </a:r>
            <a:r>
              <a:rPr lang="en-US" sz="1600"/>
              <a:t> yang </a:t>
            </a:r>
            <a:r>
              <a:rPr lang="en-US" sz="1600" err="1"/>
              <a:t>nilainya</a:t>
            </a:r>
            <a:r>
              <a:rPr lang="en-US" sz="1600"/>
              <a:t> </a:t>
            </a:r>
            <a:r>
              <a:rPr lang="en-US" sz="1600" err="1"/>
              <a:t>dinolkan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dicek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</a:t>
            </a:r>
            <a:r>
              <a:rPr lang="en-US" sz="1600" b="1">
                <a:sym typeface="Wingdings" pitchFamily="2" charset="2"/>
              </a:rPr>
              <a:t> </a:t>
            </a:r>
            <a:r>
              <a:rPr lang="en-US" sz="1600" b="1" err="1">
                <a:sym typeface="Wingdings" pitchFamily="2" charset="2"/>
              </a:rPr>
              <a:t>Newstream</a:t>
            </a:r>
            <a:r>
              <a:rPr lang="en-US" sz="1600" b="1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bersamaan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dengan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tanggal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keluar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nilai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praktikum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/>
              <a:t>Protes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dianggap</a:t>
            </a:r>
            <a:r>
              <a:rPr lang="en-US" sz="1600"/>
              <a:t> </a:t>
            </a:r>
            <a:r>
              <a:rPr lang="en-US" sz="1600" b="1"/>
              <a:t>valid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 </a:t>
            </a:r>
            <a:r>
              <a:rPr lang="en-US" sz="1600" err="1"/>
              <a:t>Acadservices</a:t>
            </a:r>
            <a:r>
              <a:rPr lang="en-US" sz="1600"/>
              <a:t>. Protes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sarana</a:t>
            </a:r>
            <a:r>
              <a:rPr lang="en-US" sz="1600" b="1"/>
              <a:t> lain </a:t>
            </a:r>
            <a:r>
              <a:rPr lang="en-US" sz="1600"/>
              <a:t>(</a:t>
            </a:r>
            <a:r>
              <a:rPr lang="en-US" sz="1600" err="1"/>
              <a:t>contoh</a:t>
            </a:r>
            <a:r>
              <a:rPr lang="en-US" sz="1600"/>
              <a:t>: </a:t>
            </a:r>
            <a:r>
              <a:rPr lang="en-US" sz="1600" err="1"/>
              <a:t>mengontak</a:t>
            </a:r>
            <a:r>
              <a:rPr lang="en-US" sz="1600"/>
              <a:t> LINE OA,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asisten</a:t>
            </a:r>
            <a:r>
              <a:rPr lang="en-US" sz="1600"/>
              <a:t> </a:t>
            </a:r>
            <a:r>
              <a:rPr lang="en-US" sz="1600" err="1"/>
              <a:t>pengajar</a:t>
            </a:r>
            <a:r>
              <a:rPr lang="en-US" sz="1600"/>
              <a:t>, dan lain </a:t>
            </a:r>
            <a:r>
              <a:rPr lang="en-US" sz="1600" err="1"/>
              <a:t>sebagainya</a:t>
            </a:r>
            <a:r>
              <a:rPr lang="en-US" sz="1600"/>
              <a:t>)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dapat</a:t>
            </a:r>
            <a:r>
              <a:rPr lang="en-US" sz="1600" b="1"/>
              <a:t> </a:t>
            </a:r>
            <a:r>
              <a:rPr lang="en-US" sz="1600" b="1" err="1"/>
              <a:t>diproses</a:t>
            </a:r>
            <a:r>
              <a:rPr lang="en-US" sz="1600" b="1"/>
              <a:t> </a:t>
            </a:r>
            <a:r>
              <a:rPr lang="en-US" sz="1600" b="1" err="1"/>
              <a:t>lebih</a:t>
            </a:r>
            <a:r>
              <a:rPr lang="en-US" sz="1600" b="1"/>
              <a:t> </a:t>
            </a:r>
            <a:r>
              <a:rPr lang="en-US" sz="1600" b="1" err="1"/>
              <a:t>lanjut</a:t>
            </a:r>
            <a:r>
              <a:rPr lang="en-US" sz="1600" b="1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b="1"/>
              <a:t>Tidak </a:t>
            </a:r>
            <a:r>
              <a:rPr lang="en-US" sz="1600" b="1" err="1"/>
              <a:t>ada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bentuk</a:t>
            </a:r>
            <a:r>
              <a:rPr lang="en-US" sz="1600"/>
              <a:t> </a:t>
            </a:r>
            <a:r>
              <a:rPr lang="en-US" sz="1600" err="1"/>
              <a:t>apapun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(</a:t>
            </a:r>
            <a:r>
              <a:rPr lang="en-US" sz="1600" err="1"/>
              <a:t>tugas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bonus, dan </a:t>
            </a:r>
            <a:r>
              <a:rPr lang="en-US" sz="1600" err="1"/>
              <a:t>sebagainya</a:t>
            </a:r>
            <a:r>
              <a:rPr lang="en-US" sz="1600"/>
              <a:t>) 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komponen</a:t>
            </a:r>
            <a:r>
              <a:rPr lang="en-US" sz="1600"/>
              <a:t> </a:t>
            </a:r>
            <a:r>
              <a:rPr lang="en-US" sz="1600" err="1"/>
              <a:t>penilaian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ditetapkan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9992890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Kelas</a:t>
            </a:r>
            <a:r>
              <a:rPr lang="en-US"/>
              <a:t> </a:t>
            </a:r>
            <a:r>
              <a:rPr lang="en-US" err="1"/>
              <a:t>Tambahan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4901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Kelas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Tambahan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err="1"/>
              <a:t>Pengajar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mengadakan</a:t>
            </a:r>
            <a:r>
              <a:rPr lang="en-US" sz="1600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terjadwal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menambah</a:t>
            </a:r>
            <a:r>
              <a:rPr lang="en-US" sz="1600"/>
              <a:t> </a:t>
            </a:r>
            <a:r>
              <a:rPr lang="en-US" sz="1600" err="1"/>
              <a:t>pemahaman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materi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me-</a:t>
            </a:r>
            <a:r>
              <a:rPr lang="en-US" sz="1600" i="1"/>
              <a:t>request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pada </a:t>
            </a:r>
            <a:r>
              <a:rPr lang="en-US" sz="1600" err="1"/>
              <a:t>pengajar</a:t>
            </a:r>
            <a:r>
              <a:rPr lang="en-US" sz="1600"/>
              <a:t>, </a:t>
            </a:r>
            <a:r>
              <a:rPr lang="en-US" sz="1600" err="1"/>
              <a:t>pengajar</a:t>
            </a:r>
            <a:r>
              <a:rPr lang="en-US" sz="1600"/>
              <a:t> </a:t>
            </a:r>
            <a:r>
              <a:rPr lang="en-US" sz="1600" b="1" err="1"/>
              <a:t>berhak</a:t>
            </a:r>
            <a:r>
              <a:rPr lang="en-US" sz="1600" b="1"/>
              <a:t> </a:t>
            </a:r>
            <a:r>
              <a:rPr lang="en-US" sz="1600" b="1" err="1"/>
              <a:t>menolak</a:t>
            </a:r>
            <a:r>
              <a:rPr lang="en-US" sz="1600" b="1"/>
              <a:t> </a:t>
            </a:r>
            <a:r>
              <a:rPr lang="en-US" sz="1600" err="1"/>
              <a:t>pengadaan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mempertimbangkan</a:t>
            </a:r>
            <a:r>
              <a:rPr lang="en-US" sz="1600"/>
              <a:t> </a:t>
            </a:r>
            <a:r>
              <a:rPr lang="en-US" sz="1600" b="1" err="1"/>
              <a:t>ketersediaan</a:t>
            </a:r>
            <a:r>
              <a:rPr lang="en-US" sz="1600" b="1"/>
              <a:t> </a:t>
            </a:r>
            <a:r>
              <a:rPr lang="en-US" sz="1600" b="1" err="1"/>
              <a:t>waktu</a:t>
            </a:r>
            <a:r>
              <a:rPr lang="en-US" sz="1600" b="1"/>
              <a:t>, </a:t>
            </a:r>
            <a:r>
              <a:rPr lang="en-US" sz="1600" b="1" err="1"/>
              <a:t>ruangan</a:t>
            </a:r>
            <a:r>
              <a:rPr lang="en-US" sz="1600" b="1"/>
              <a:t>, dan </a:t>
            </a:r>
            <a:r>
              <a:rPr lang="en-US" sz="1600" b="1" err="1"/>
              <a:t>jumlah</a:t>
            </a:r>
            <a:r>
              <a:rPr lang="en-US" sz="1600" b="1"/>
              <a:t> </a:t>
            </a:r>
            <a:r>
              <a:rPr lang="en-US" sz="1600" b="1" err="1"/>
              <a:t>peserta</a:t>
            </a:r>
            <a:r>
              <a:rPr lang="en-US" sz="1600" b="1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</a:t>
            </a:r>
            <a:r>
              <a:rPr lang="en-US" sz="1600" err="1"/>
              <a:t>dilaksanakan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i="1"/>
              <a:t>onsite</a:t>
            </a:r>
            <a:r>
              <a:rPr lang="en-US" sz="1600"/>
              <a:t> dan </a:t>
            </a:r>
            <a:r>
              <a:rPr lang="en-US" sz="1600" err="1"/>
              <a:t>pendataan</a:t>
            </a:r>
            <a:r>
              <a:rPr lang="en-US" sz="1600"/>
              <a:t> </a:t>
            </a:r>
            <a:r>
              <a:rPr lang="en-US" sz="1600" err="1"/>
              <a:t>absensi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b="1">
                <a:sym typeface="Wingdings" pitchFamily="2" charset="2"/>
              </a:rPr>
              <a:t> Extra Class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9653928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Lain-lain</a:t>
            </a:r>
          </a:p>
        </p:txBody>
      </p:sp>
    </p:spTree>
    <p:extLst>
      <p:ext uri="{BB962C8B-B14F-4D97-AF65-F5344CB8AC3E}">
        <p14:creationId xmlns:p14="http://schemas.microsoft.com/office/powerpoint/2010/main" val="383643136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Contact Center Lab Software: </a:t>
            </a:r>
            <a:r>
              <a:rPr lang="en-US" sz="1600">
                <a:hlinkClick r:id="rId2"/>
              </a:rPr>
              <a:t>https://linktr.ee/OfficialAccountSLC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/>
              <a:t>Contact Center LSC: </a:t>
            </a:r>
            <a:r>
              <a:rPr lang="en-US" sz="1600">
                <a:hlinkClick r:id="rId3"/>
              </a:rPr>
              <a:t>https://linktr.ee/contactlsc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Binusmaya</a:t>
            </a:r>
            <a:r>
              <a:rPr lang="en-US" sz="1600"/>
              <a:t> Practicum: </a:t>
            </a:r>
            <a:r>
              <a:rPr lang="en-US" sz="1600">
                <a:hlinkClick r:id="rId4"/>
              </a:rPr>
              <a:t>https://bluejack.binus.ac.id/prk/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Labfacility</a:t>
            </a:r>
            <a:r>
              <a:rPr lang="en-US" sz="1600"/>
              <a:t> </a:t>
            </a:r>
            <a:r>
              <a:rPr lang="en-US" sz="1600">
                <a:hlinkClick r:id="rId5"/>
              </a:rPr>
              <a:t>http://labfacility.apps.binus.ac.id/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/>
              <a:t>SLC (</a:t>
            </a:r>
            <a:r>
              <a:rPr lang="en-US" sz="1600" err="1"/>
              <a:t>SocMed</a:t>
            </a:r>
            <a:r>
              <a:rPr lang="en-US" sz="1600"/>
              <a:t>, Web, </a:t>
            </a:r>
            <a:r>
              <a:rPr lang="en-US" sz="1600" err="1"/>
              <a:t>dsb</a:t>
            </a:r>
            <a:r>
              <a:rPr lang="en-US" sz="1600"/>
              <a:t>.) 	: </a:t>
            </a:r>
            <a:r>
              <a:rPr lang="en-US" sz="1600">
                <a:hlinkClick r:id="rId6"/>
              </a:rPr>
              <a:t>https://linktr.ee/slcbinusuniv</a:t>
            </a: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0A3548-72D9-69CE-7CE8-9A3C60F6778F}"/>
              </a:ext>
            </a:extLst>
          </p:cNvPr>
          <p:cNvGrpSpPr/>
          <p:nvPr/>
        </p:nvGrpSpPr>
        <p:grpSpPr>
          <a:xfrm>
            <a:off x="1219200" y="3886200"/>
            <a:ext cx="6977681" cy="2400092"/>
            <a:chOff x="1371600" y="3429000"/>
            <a:chExt cx="7543800" cy="25948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5412B12-1B0B-AE60-2A02-29FEEF4F3A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18310"/>
            <a:stretch/>
          </p:blipFill>
          <p:spPr>
            <a:xfrm>
              <a:off x="1371600" y="3429000"/>
              <a:ext cx="5216084" cy="25295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A9F82496-ABE7-8FF5-2F9B-15826AA13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870838">
              <a:off x="5734273" y="4348094"/>
              <a:ext cx="1282029" cy="1058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99023CB9-95B5-7097-94CB-CA06FD8286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870838">
              <a:off x="5734273" y="4965737"/>
              <a:ext cx="1282029" cy="1058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9B403FBE-7453-678B-6584-3809B870D71B}"/>
                </a:ext>
              </a:extLst>
            </p:cNvPr>
            <p:cNvSpPr txBox="1">
              <a:spLocks/>
            </p:cNvSpPr>
            <p:nvPr/>
          </p:nvSpPr>
          <p:spPr>
            <a:xfrm>
              <a:off x="6948992" y="4350351"/>
              <a:ext cx="1680016" cy="556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200" err="1"/>
                <a:t>Terkait</a:t>
              </a:r>
              <a:r>
                <a:rPr lang="en-US" sz="1200"/>
                <a:t> </a:t>
              </a:r>
              <a:r>
                <a:rPr lang="en-US" sz="1200" err="1"/>
                <a:t>praktikum</a:t>
              </a:r>
              <a:r>
                <a:rPr lang="en-US" sz="1200"/>
                <a:t>, </a:t>
              </a:r>
              <a:r>
                <a:rPr lang="en-US" sz="1200" err="1"/>
                <a:t>protes</a:t>
              </a:r>
              <a:r>
                <a:rPr lang="en-US" sz="1200"/>
                <a:t> </a:t>
              </a:r>
              <a:r>
                <a:rPr lang="en-US" sz="1200" err="1"/>
                <a:t>nilai</a:t>
              </a:r>
              <a:r>
                <a:rPr lang="en-US" sz="1200"/>
                <a:t>, </a:t>
              </a:r>
              <a:r>
                <a:rPr lang="en-US" sz="1200" err="1"/>
                <a:t>dsb</a:t>
              </a:r>
              <a:r>
                <a:rPr lang="en-US" sz="1200"/>
                <a:t>.</a:t>
              </a: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C4299511-3E07-439A-9EE9-5E805CB4A991}"/>
                </a:ext>
              </a:extLst>
            </p:cNvPr>
            <p:cNvSpPr txBox="1">
              <a:spLocks/>
            </p:cNvSpPr>
            <p:nvPr/>
          </p:nvSpPr>
          <p:spPr>
            <a:xfrm>
              <a:off x="6948992" y="5084417"/>
              <a:ext cx="1966408" cy="556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200"/>
                <a:t>Terkait NAR (New Assistant Recruitment)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54197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Dokumen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Terkait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mengakses</a:t>
            </a:r>
            <a:r>
              <a:rPr lang="en-US" sz="1400"/>
              <a:t> </a:t>
            </a:r>
            <a:r>
              <a:rPr lang="en-US" sz="1400" b="1" err="1"/>
              <a:t>peraturan</a:t>
            </a:r>
            <a:r>
              <a:rPr lang="en-US" sz="1400" b="1"/>
              <a:t> </a:t>
            </a:r>
            <a:r>
              <a:rPr lang="en-US" sz="1400" b="1" err="1"/>
              <a:t>praktikum</a:t>
            </a:r>
            <a:r>
              <a:rPr lang="en-US" sz="1400" b="1"/>
              <a:t>, Academic Book</a:t>
            </a:r>
            <a:r>
              <a:rPr lang="en-US" sz="1400"/>
              <a:t>, </a:t>
            </a:r>
            <a:r>
              <a:rPr lang="en-US" sz="1400" err="1"/>
              <a:t>dsb</a:t>
            </a:r>
            <a:r>
              <a:rPr lang="en-US" sz="1400"/>
              <a:t>.: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Download Center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Practicum, </a:t>
            </a:r>
            <a:r>
              <a:rPr lang="en-US" sz="1400" err="1"/>
              <a:t>atau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Practicum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Home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Rules &amp; Procedures</a:t>
            </a:r>
            <a:endParaRPr lang="en-US" sz="14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mengakses</a:t>
            </a:r>
            <a:r>
              <a:rPr lang="en-US" sz="1400"/>
              <a:t> </a:t>
            </a:r>
            <a:r>
              <a:rPr lang="en-US" sz="1400" b="1" err="1"/>
              <a:t>kalender</a:t>
            </a:r>
            <a:r>
              <a:rPr lang="en-US" sz="1400" b="1"/>
              <a:t> </a:t>
            </a:r>
            <a:r>
              <a:rPr lang="en-US" sz="1400" b="1" err="1"/>
              <a:t>perkuliahan</a:t>
            </a:r>
            <a:r>
              <a:rPr lang="en-US" sz="1400"/>
              <a:t>: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Download Center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Academic Calendar</a:t>
            </a:r>
            <a:endParaRPr lang="en-US" sz="14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mengakses</a:t>
            </a:r>
            <a:r>
              <a:rPr lang="en-US" sz="1400"/>
              <a:t> </a:t>
            </a:r>
            <a:r>
              <a:rPr lang="en-US" sz="1400" b="1" err="1"/>
              <a:t>kalender</a:t>
            </a:r>
            <a:r>
              <a:rPr lang="en-US" sz="1400" b="1"/>
              <a:t> </a:t>
            </a:r>
            <a:r>
              <a:rPr lang="en-US" sz="1400" b="1" err="1"/>
              <a:t>praktikum</a:t>
            </a:r>
            <a:r>
              <a:rPr lang="en-US" sz="1400"/>
              <a:t>: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Download Center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Practicum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algn="just">
              <a:lnSpc>
                <a:spcPct val="150000"/>
              </a:lnSpc>
            </a:pPr>
            <a:endParaRPr lang="en-US" sz="14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9C776F-F0F9-6B15-C980-11A311B81ABC}"/>
              </a:ext>
            </a:extLst>
          </p:cNvPr>
          <p:cNvGrpSpPr/>
          <p:nvPr/>
        </p:nvGrpSpPr>
        <p:grpSpPr>
          <a:xfrm>
            <a:off x="1828800" y="4155948"/>
            <a:ext cx="5486400" cy="2514600"/>
            <a:chOff x="1219200" y="3372695"/>
            <a:chExt cx="7010400" cy="332071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01EFED9-7116-565B-F4E9-AF49172C1D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62" t="21107" r="9590" b="8333"/>
            <a:stretch/>
          </p:blipFill>
          <p:spPr>
            <a:xfrm>
              <a:off x="1219200" y="3372695"/>
              <a:ext cx="7010400" cy="33207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Rounded Rectangle 6">
              <a:extLst>
                <a:ext uri="{FF2B5EF4-FFF2-40B4-BE49-F238E27FC236}">
                  <a16:creationId xmlns:a16="http://schemas.microsoft.com/office/drawing/2014/main" id="{733FC68C-C9A5-6782-5243-8E27EBA39D9A}"/>
                </a:ext>
              </a:extLst>
            </p:cNvPr>
            <p:cNvSpPr/>
            <p:nvPr/>
          </p:nvSpPr>
          <p:spPr>
            <a:xfrm>
              <a:off x="1981200" y="6283016"/>
              <a:ext cx="5638800" cy="1607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82D362A-E349-DB8B-C80B-758F0A57B914}"/>
                </a:ext>
              </a:extLst>
            </p:cNvPr>
            <p:cNvSpPr/>
            <p:nvPr/>
          </p:nvSpPr>
          <p:spPr>
            <a:xfrm>
              <a:off x="1973643" y="4975321"/>
              <a:ext cx="5638800" cy="1607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68701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Penutup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Hal-</a:t>
            </a:r>
            <a:r>
              <a:rPr lang="en-US" sz="1600" err="1"/>
              <a:t>hal</a:t>
            </a:r>
            <a:r>
              <a:rPr lang="en-US" sz="1600"/>
              <a:t> yang </a:t>
            </a:r>
            <a:r>
              <a:rPr lang="en-US" sz="1600" err="1"/>
              <a:t>telah</a:t>
            </a:r>
            <a:r>
              <a:rPr lang="en-US" sz="1600"/>
              <a:t> </a:t>
            </a:r>
            <a:r>
              <a:rPr lang="en-US" sz="1600" err="1"/>
              <a:t>dijelaskan</a:t>
            </a:r>
            <a:r>
              <a:rPr lang="en-US" sz="1600"/>
              <a:t> </a:t>
            </a:r>
            <a:r>
              <a:rPr lang="en-US" sz="1600" err="1"/>
              <a:t>merupakan</a:t>
            </a:r>
            <a:r>
              <a:rPr lang="en-US" sz="1600"/>
              <a:t> </a:t>
            </a:r>
            <a:r>
              <a:rPr lang="en-US" sz="1600" b="1" err="1"/>
              <a:t>sebagian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 di SLC dan LC.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/>
              <a:t>WAJIB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mengetahui</a:t>
            </a:r>
            <a:r>
              <a:rPr lang="en-US" sz="1600"/>
              <a:t> dan </a:t>
            </a:r>
            <a:r>
              <a:rPr lang="en-US" sz="1600" err="1"/>
              <a:t>mematuhi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 di SLC dan LC.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ini</a:t>
            </a:r>
            <a:r>
              <a:rPr lang="en-US" sz="1600"/>
              <a:t> </a:t>
            </a:r>
            <a:r>
              <a:rPr lang="en-US" sz="1600" err="1"/>
              <a:t>berlaku</a:t>
            </a:r>
            <a:r>
              <a:rPr lang="en-US" sz="1600"/>
              <a:t> </a:t>
            </a:r>
            <a:r>
              <a:rPr lang="en-US" sz="1600" b="1" err="1"/>
              <a:t>mengikat</a:t>
            </a:r>
            <a:r>
              <a:rPr lang="en-US" sz="1600" b="1"/>
              <a:t>,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dipahami</a:t>
            </a:r>
            <a:r>
              <a:rPr lang="en-US" sz="1600" b="1"/>
              <a:t>, dan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dipatuhi</a:t>
            </a:r>
            <a:r>
              <a:rPr lang="en-US" sz="1600" b="1"/>
              <a:t> oleh </a:t>
            </a:r>
            <a:r>
              <a:rPr lang="en-US" sz="1600" b="1" err="1"/>
              <a:t>seluruh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 b="1"/>
              <a:t> </a:t>
            </a:r>
            <a:r>
              <a:rPr lang="en-US" sz="1600" b="1" err="1"/>
              <a:t>tanpa</a:t>
            </a:r>
            <a:r>
              <a:rPr lang="en-US" sz="1600" b="1"/>
              <a:t> </a:t>
            </a:r>
            <a:r>
              <a:rPr lang="en-US" sz="1600" b="1" err="1"/>
              <a:t>terkecuali</a:t>
            </a:r>
            <a:r>
              <a:rPr lang="en-US" sz="1600" b="1"/>
              <a:t> </a:t>
            </a:r>
            <a:r>
              <a:rPr lang="en-US" sz="1600" err="1"/>
              <a:t>mahasiswa</a:t>
            </a:r>
            <a:r>
              <a:rPr lang="en-US" sz="1600"/>
              <a:t> yang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membaca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Informasi</a:t>
            </a:r>
            <a:r>
              <a:rPr lang="en-US" sz="1600"/>
              <a:t> </a:t>
            </a:r>
            <a:r>
              <a:rPr lang="en-US" sz="1600" err="1"/>
              <a:t>selengkapnya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diunduh</a:t>
            </a:r>
            <a:r>
              <a:rPr lang="en-US" sz="1600"/>
              <a:t> di </a:t>
            </a:r>
            <a:r>
              <a:rPr lang="en-US" sz="1600" err="1"/>
              <a:t>Binusmaya</a:t>
            </a:r>
            <a:r>
              <a:rPr lang="en-US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946500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 txBox="1">
            <a:spLocks noChangeArrowheads="1"/>
          </p:cNvSpPr>
          <p:nvPr/>
        </p:nvSpPr>
        <p:spPr bwMode="auto">
          <a:xfrm>
            <a:off x="1371600" y="3048000"/>
            <a:ext cx="6400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sz="3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92676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f003750-f5da-409e-99e6-8ff9bea2e38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B14972BA45BD47B3B120E9D54CA4F5" ma:contentTypeVersion="14" ma:contentTypeDescription="Create a new document." ma:contentTypeScope="" ma:versionID="657e6c44314c0a0a8eb4161617243879">
  <xsd:schema xmlns:xsd="http://www.w3.org/2001/XMLSchema" xmlns:xs="http://www.w3.org/2001/XMLSchema" xmlns:p="http://schemas.microsoft.com/office/2006/metadata/properties" xmlns:ns2="06dd7198-9f69-4b52-9ad8-623c9ba944b5" xmlns:ns3="1f003750-f5da-409e-99e6-8ff9bea2e38b" targetNamespace="http://schemas.microsoft.com/office/2006/metadata/properties" ma:root="true" ma:fieldsID="e29c561de29e116c1589bf9763c5d313" ns2:_="" ns3:_="">
    <xsd:import namespace="06dd7198-9f69-4b52-9ad8-623c9ba944b5"/>
    <xsd:import namespace="1f003750-f5da-409e-99e6-8ff9bea2e38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dd7198-9f69-4b52-9ad8-623c9ba944b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03750-f5da-409e-99e6-8ff9bea2e3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2DC179-6BD8-4733-8653-DB37A6BF4E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3F809C-0B96-42CA-B01F-A614FE7643DC}">
  <ds:schemaRefs>
    <ds:schemaRef ds:uri="06dd7198-9f69-4b52-9ad8-623c9ba944b5"/>
    <ds:schemaRef ds:uri="1f003750-f5da-409e-99e6-8ff9bea2e3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2FC29E4-7B69-4E14-AFAD-9F51DD60E42A}">
  <ds:schemaRefs>
    <ds:schemaRef ds:uri="06dd7198-9f69-4b52-9ad8-623c9ba944b5"/>
    <ds:schemaRef ds:uri="1f003750-f5da-409e-99e6-8ff9bea2e3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5284</Words>
  <Application>Microsoft Office PowerPoint</Application>
  <PresentationFormat>On-screen Show (4:3)</PresentationFormat>
  <Paragraphs>450</Paragraphs>
  <Slides>91</Slides>
  <Notes>8</Notes>
  <HiddenSlides>13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102" baseType="lpstr">
      <vt:lpstr>Arial</vt:lpstr>
      <vt:lpstr>Calibri</vt:lpstr>
      <vt:lpstr>Calibri,Sans-Serif</vt:lpstr>
      <vt:lpstr>Courier New</vt:lpstr>
      <vt:lpstr>Courier New,monospace</vt:lpstr>
      <vt:lpstr>Open Sans</vt:lpstr>
      <vt:lpstr>Segoe UI</vt:lpstr>
      <vt:lpstr>SymbolMT</vt:lpstr>
      <vt:lpstr>TimesNewRomanPSMT</vt:lpstr>
      <vt:lpstr>Wingdings</vt:lpstr>
      <vt:lpstr>Office Theme</vt:lpstr>
      <vt:lpstr>   Briefing Pelaksanaan TM       Software Laboratory Center Ganjil 2627</vt:lpstr>
      <vt:lpstr>PowerPoint Presentation</vt:lpstr>
      <vt:lpstr>PowerPoint Presentation</vt:lpstr>
      <vt:lpstr>PowerPoint Presentation</vt:lpstr>
      <vt:lpstr>PowerPoint Presentation</vt:lpstr>
      <vt:lpstr>Prosedur Pelaksanaan TM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Prosedur Pelaksanaan TM (Cont.)</vt:lpstr>
      <vt:lpstr>Prosedur Pelaksanaan TM (Cont.)</vt:lpstr>
      <vt:lpstr>Prosedur Pelaksanaan TM (Cont.)</vt:lpstr>
      <vt:lpstr>PowerPoint Presentation</vt:lpstr>
      <vt:lpstr>PowerPoint Presentation</vt:lpstr>
      <vt:lpstr>Sistem Pelaksanaan TM</vt:lpstr>
      <vt:lpstr>PowerPoint Presentation</vt:lpstr>
      <vt:lpstr>PowerPoint Presentation</vt:lpstr>
      <vt:lpstr>PowerPoint Presentation</vt:lpstr>
      <vt:lpstr>PowerPoint Presentation</vt:lpstr>
      <vt:lpstr>Peraturan Pelaksanaan TM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Prosedur Penggunaan Web Uploader untuk Pelaksanaan TM/UAP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Prosedur Penggunaan Web Uploader untuk Pelaksanaan Kuis Berkelompok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Kuis Bawa Pulang</vt:lpstr>
      <vt:lpstr>PowerPoint Presentation</vt:lpstr>
      <vt:lpstr>PowerPoint Presentation</vt:lpstr>
      <vt:lpstr>PowerPoint Presentation</vt:lpstr>
      <vt:lpstr>PowerPoint Presentation</vt:lpstr>
      <vt:lpstr>Pengumpulan Backup Jawaban (Online)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Pengumpulan Recording (Online)</vt:lpstr>
      <vt:lpstr>PowerPoint Presentation</vt:lpstr>
      <vt:lpstr>PowerPoint Presentation</vt:lpstr>
      <vt:lpstr>PowerPoint Presentation</vt:lpstr>
      <vt:lpstr>PowerPoint Presentation</vt:lpstr>
      <vt:lpstr>Penilaian dan Protes Nilai</vt:lpstr>
      <vt:lpstr>PowerPoint Presentation</vt:lpstr>
      <vt:lpstr>PowerPoint Presentation</vt:lpstr>
      <vt:lpstr>PowerPoint Presentation</vt:lpstr>
      <vt:lpstr>PowerPoint Presentation</vt:lpstr>
      <vt:lpstr>Kelas Tambahan</vt:lpstr>
      <vt:lpstr>PowerPoint Presentation</vt:lpstr>
      <vt:lpstr>Lain-lain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[KdMtk] – [Nama Mtk] xxxx     [pengajar1] (XX99-9)  [pengajar2] (XX99-9)    Software Laboratory Center 2020</dc:title>
  <dc:creator>Douglas Rakasiwi Nugroho</dc:creator>
  <cp:lastModifiedBy>STANLEY NATHANAEL WIJAYA</cp:lastModifiedBy>
  <cp:revision>16</cp:revision>
  <dcterms:created xsi:type="dcterms:W3CDTF">2021-02-10T00:08:20Z</dcterms:created>
  <dcterms:modified xsi:type="dcterms:W3CDTF">2026-10-05T00:57:53Z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0x01010076B14972BA45BD47B3B120E9D54CA4F5</vt:lpwstr>
  </property>
  <property fmtid="{D5CDD505-2E9C-101B-9397-08002B2CF9AE}" pid="3" name="MediaServiceImageTags">
    <vt:lpwstr/>
  </property>
</Properties>
</file>